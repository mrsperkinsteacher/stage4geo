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7 is the core case study week required by the syllabus: an investigation of ONE good across a supply chain (outcomes GE4-PRI-01 and GE4-COM-01). The good is a cotton t-shirt. Today students learn the eight stages; L20 looks at the people who make clothes; L21 weighs up the impacts and includes the inquiry checkpoint. You need: the TED-Ed video queued (link on slide 3) and the L19 worksheet printed.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look at the tag inside their collar (or picture the tag on a shirt at home). Take a quick show of hands on the guesses. Most students guess 1-3 countries; the real answer is usually 5 or more, because 'Made in...' only names the country where the shirt was SEWN — the cotton, thread, fabric, dye and buttons often come from elsewhere. Don't reveal the answer yet; the video does it better. Keep this to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TED-Ed video 'The life cycle of a t-shirt' by Angel Chang (about 6 minutes): https://www.youtube.com/watch?v=BiSYoeqb_VY — if the link fails, search 'TED-Ed life cycle of a t-shirt'. Put the four watch-for questions up BEFORE pressing play and tell students they must catch at least three answers. Answers: cotton is grown in places like the USA, China and India; spinning and weaving often happen in China or India; sewing happens in garment factories in countries such as Bangladesh; shirts are sold in shops worldwide, including Australia. The video also mentions that about 2 billion t-shirts are sold globally each year — we use that fact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key term. A supply chain is every step, place and person involved in making a product and getting it to the consumer. Walk through the simple four-step chain on the slide, then say: for a t-shirt the real chain has EIGHT stages — that's the next two slides and the heart of today's worksheet. Scale point: this happens for about 2 billion t-shirts every year (TED-Ed figure) — multiply one shirt's journey by 2 billion and you see why geographers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first four stages. Stage 1: cotton is grown on farms in countries such as the USA, China and India — stress that cotton is a thirsty crop; a commonly cited WWF estimate puts roughly 2,700 litres of water into one t-shirt (that's years of drinking water for one person). Stage 2: spinning mills twist the fibre into thread and weave or knit it into fabric, often in China or India. Stage 3: dyeing gives the fabric its colour — this uses chemicals and lots of water (we return to river pollution in L21). Stage 4: garment factories in countries such as Bangladesh and Vietnam cut the fabric and sew it into shirts — this is where the 'Made in...' tag comes from. Students copy nothing yet; they will sequence and annotate these on the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last four stages. Stage 5: shirts travel in containers on ships to ports all over the world — link back to Week 5/6 shipping knowledge. Stage 6: retail — sold in Australian shops and online. Stage 7: the longest stage is in the student's own wardrobe — washing uses water and energy for years. Stage 8: disposal — many shirts end up in landfill; many others are donated, and a large share of donated clothing is exported and re-sold overseas as used clothing. Ask: 'Which stage happens in YOUR house?' (7 — and part of 8). Then hand out the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annotation skill before students start the worksheet. An annotation is a short label that adds information — here, each stage box needs a PLACE and WHAT HAPPENS THERE. Show the strong example and the weak one, and ask students what makes the strong one better (it names a real place and describes the action, not just the stage name). This is exactly what they do eight times in Task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this slide 5 minutes. The link is the word 'knit' — the psalm describes God making a person the way a maker creates a garment: deliberately, closely, with full knowledge. Draw the line carefully: the point is not guilt about owning clothes, but attention — clothes stop being anonymous once you know real, known-to-God people made them. Let a few students respond to the discussion question; answers like 'I'd look after them longer' or 'I'd think before throwing them out' are exactly the right register. This seeds L20, where the people behind the label take centre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Worksheet time (about 20 minutes). Task 1: the eight stages are printed JUMBLED — students number them 1-8 in the correct order, then annotate each with a place and what happens there (use the worked example standard). Task 2: on the world map frame, students write the stage numbers roughly where each stage happens and draw arrows to show the journey — approximate positions are fine; the point is that the journey crosses the world. Task 3: short answer — which stage surprised you most and why. SUPPORT box on the worksheet gives the first and last stages plus sentence starters; EXTENSION asks students to add a ninth stage for exported used clothing. Circulate and check the sequencing before students annotate.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 any three of USA/China/India (cotton), China/India (spinning and weaving), Bangladesh/Vietnam (sewing), Australia (retail), plus wherever used clothing is exported. 2 — the cotton-growing stage; cotton is a thirsty crop (a commonly cited WWF estimate is roughly 2,700 litres for one shirt); dyeing also uses large volumes. 3 — landfill, or donation with much used clothing exported and re-sold overseas. Collect the tickets as you go — they tell you who can already sequence the chain before L21's inquiry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7315200" y="-1280160"/>
            <a:ext cx="3291840" cy="3291840"/>
          </a:xfrm>
          <a:prstGeom prst="ellipse">
            <a:avLst/>
          </a:prstGeom>
          <a:solidFill>
            <a:srgbClr val="1C7293">
              <a:alpha val="35000"/>
            </a:srgbClr>
          </a:solidFill>
          <a:ln/>
        </p:spPr>
      </p:sp>
      <p:sp>
        <p:nvSpPr>
          <p:cNvPr id="3" name="Shape 1"/>
          <p:cNvSpPr/>
          <p:nvPr/>
        </p:nvSpPr>
        <p:spPr>
          <a:xfrm>
            <a:off x="8321040" y="3566160"/>
            <a:ext cx="2011680" cy="2011680"/>
          </a:xfrm>
          <a:prstGeom prst="ellipse">
            <a:avLst/>
          </a:prstGeom>
          <a:solidFill>
            <a:srgbClr val="065A82">
              <a:alpha val="55000"/>
            </a:srgbClr>
          </a:solidFill>
          <a:ln/>
        </p:spPr>
      </p:sp>
      <p:sp>
        <p:nvSpPr>
          <p:cNvPr id="4" name="Shape 2"/>
          <p:cNvSpPr/>
          <p:nvPr/>
        </p:nvSpPr>
        <p:spPr>
          <a:xfrm>
            <a:off x="-822960" y="3931920"/>
            <a:ext cx="1828800" cy="1828800"/>
          </a:xfrm>
          <a:prstGeom prst="ellipse">
            <a:avLst/>
          </a:prstGeom>
          <a:solidFill>
            <a:srgbClr val="02C39A">
              <a:alpha val="25000"/>
            </a:srgbClr>
          </a:solidFill>
          <a:ln/>
        </p:spPr>
      </p:sp>
      <p:sp>
        <p:nvSpPr>
          <p:cNvPr id="5" name="Text 3"/>
          <p:cNvSpPr/>
          <p:nvPr/>
        </p:nvSpPr>
        <p:spPr>
          <a:xfrm>
            <a:off x="548640" y="685800"/>
            <a:ext cx="8046720" cy="365760"/>
          </a:xfrm>
          <a:prstGeom prst="rect">
            <a:avLst/>
          </a:prstGeom>
          <a:noFill/>
          <a:ln/>
        </p:spPr>
        <p:txBody>
          <a:bodyPr wrap="square" lIns="0" tIns="0" rIns="0" bIns="0" rtlCol="0" anchor="ctr"/>
          <a:lstStyle/>
          <a:p>
            <a:pPr indent="0" marL="0">
              <a:buNone/>
            </a:pPr>
            <a:r>
              <a:rPr lang="en-US" sz="1300" b="1" spc="200" kern="0" dirty="0">
                <a:solidFill>
                  <a:srgbClr val="02C39A"/>
                </a:solidFill>
                <a:latin typeface="Arial" pitchFamily="34" charset="0"/>
                <a:ea typeface="Arial" pitchFamily="34" charset="-122"/>
                <a:cs typeface="Arial" pitchFamily="34" charset="-120"/>
              </a:rPr>
              <a:t>STAGE 4 GEOGRAPHY  |  INTERCONNECTIONS AND TRADE  |  WEEK 7</a:t>
            </a:r>
            <a:endParaRPr lang="en-US" sz="1300" dirty="0"/>
          </a:p>
        </p:txBody>
      </p:sp>
      <p:sp>
        <p:nvSpPr>
          <p:cNvPr id="6" name="Text 4"/>
          <p:cNvSpPr/>
          <p:nvPr/>
        </p:nvSpPr>
        <p:spPr>
          <a:xfrm>
            <a:off x="548640" y="1234440"/>
            <a:ext cx="8046720" cy="411480"/>
          </a:xfrm>
          <a:prstGeom prst="rect">
            <a:avLst/>
          </a:prstGeom>
          <a:noFill/>
          <a:ln/>
        </p:spPr>
        <p:txBody>
          <a:bodyPr wrap="square" lIns="0" tIns="0" rIns="0" bIns="0" rtlCol="0" anchor="ctr"/>
          <a:lstStyle/>
          <a:p>
            <a:pPr indent="0" marL="0">
              <a:buNone/>
            </a:pPr>
            <a:r>
              <a:rPr lang="en-US" sz="1800" b="1" dirty="0">
                <a:solidFill>
                  <a:srgbClr val="9FB3D9"/>
                </a:solidFill>
                <a:latin typeface="Arial" pitchFamily="34" charset="0"/>
                <a:ea typeface="Arial" pitchFamily="34" charset="-122"/>
                <a:cs typeface="Arial" pitchFamily="34" charset="-120"/>
              </a:rPr>
              <a:t>Lesson 19</a:t>
            </a:r>
            <a:endParaRPr lang="en-US" sz="1800" dirty="0"/>
          </a:p>
        </p:txBody>
      </p:sp>
      <p:sp>
        <p:nvSpPr>
          <p:cNvPr id="7" name="Text 5"/>
          <p:cNvSpPr/>
          <p:nvPr/>
        </p:nvSpPr>
        <p:spPr>
          <a:xfrm>
            <a:off x="548640" y="1645920"/>
            <a:ext cx="8046720" cy="91440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The life cycle of a t-shirt</a:t>
            </a:r>
            <a:endParaRPr lang="en-US" sz="3400" dirty="0"/>
          </a:p>
        </p:txBody>
      </p:sp>
      <p:sp>
        <p:nvSpPr>
          <p:cNvPr id="8" name="Text 6"/>
          <p:cNvSpPr/>
          <p:nvPr/>
        </p:nvSpPr>
        <p:spPr>
          <a:xfrm>
            <a:off x="548640" y="2606040"/>
            <a:ext cx="7680960" cy="457200"/>
          </a:xfrm>
          <a:prstGeom prst="rect">
            <a:avLst/>
          </a:prstGeom>
          <a:noFill/>
          <a:ln/>
        </p:spPr>
        <p:txBody>
          <a:bodyPr wrap="square" lIns="0" tIns="0" rIns="0" bIns="0" rtlCol="0" anchor="ctr"/>
          <a:lstStyle/>
          <a:p>
            <a:pPr indent="0" marL="0">
              <a:buNone/>
            </a:pPr>
            <a:r>
              <a:rPr lang="en-US" sz="1500" dirty="0">
                <a:solidFill>
                  <a:srgbClr val="D9E2F0"/>
                </a:solidFill>
                <a:latin typeface="Arial" pitchFamily="34" charset="0"/>
                <a:ea typeface="Arial" pitchFamily="34" charset="-122"/>
                <a:cs typeface="Arial" pitchFamily="34" charset="-120"/>
              </a:rPr>
              <a:t>One ordinary shirt. Eight stages. A journey around the world.</a:t>
            </a:r>
            <a:endParaRPr lang="en-US" sz="1500" dirty="0"/>
          </a:p>
        </p:txBody>
      </p:sp>
      <p:sp>
        <p:nvSpPr>
          <p:cNvPr id="9" name="Shape 7"/>
          <p:cNvSpPr/>
          <p:nvPr/>
        </p:nvSpPr>
        <p:spPr>
          <a:xfrm>
            <a:off x="548640" y="3291840"/>
            <a:ext cx="8046720" cy="1188720"/>
          </a:xfrm>
          <a:prstGeom prst="roundRect">
            <a:avLst>
              <a:gd name="adj" fmla="val 9231"/>
            </a:avLst>
          </a:prstGeom>
          <a:solidFill>
            <a:srgbClr val="2B3566"/>
          </a:solidFill>
          <a:ln/>
        </p:spPr>
      </p:sp>
      <p:sp>
        <p:nvSpPr>
          <p:cNvPr id="10" name="Text 8"/>
          <p:cNvSpPr/>
          <p:nvPr/>
        </p:nvSpPr>
        <p:spPr>
          <a:xfrm>
            <a:off x="777240" y="3291840"/>
            <a:ext cx="7589520" cy="1188720"/>
          </a:xfrm>
          <a:prstGeom prst="rect">
            <a:avLst/>
          </a:prstGeom>
          <a:noFill/>
          <a:ln/>
        </p:spPr>
        <p:txBody>
          <a:bodyPr wrap="square" lIns="0" tIns="0" rIns="0" bIns="0" rtlCol="0" anchor="ctr"/>
          <a:lstStyle/>
          <a:p>
            <a:pPr indent="0" marL="0">
              <a:buNone/>
            </a:pPr>
            <a:r>
              <a:rPr lang="en-US" sz="1500" b="1" dirty="0">
                <a:solidFill>
                  <a:srgbClr val="02C39A"/>
                </a:solidFill>
                <a:latin typeface="Arial" pitchFamily="34" charset="0"/>
                <a:ea typeface="Arial" pitchFamily="34" charset="-122"/>
                <a:cs typeface="Arial" pitchFamily="34" charset="-120"/>
              </a:rPr>
              <a:t>Learning intention: </a:t>
            </a:r>
            <a:pPr indent="0" marL="0">
              <a:buNone/>
            </a:pPr>
            <a:r>
              <a:rPr lang="en-US" sz="1500" dirty="0">
                <a:solidFill>
                  <a:srgbClr val="FFFFFF"/>
                </a:solidFill>
                <a:latin typeface="Arial" pitchFamily="34" charset="0"/>
                <a:ea typeface="Arial" pitchFamily="34" charset="-122"/>
                <a:cs typeface="Arial" pitchFamily="34" charset="-120"/>
              </a:rPr>
              <a:t>We are learning to trace one good — a cotton t-shirt — through every stage of its supply chain, from cotton farm to disposal.</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01168"/>
            <a:ext cx="566928" cy="566928"/>
          </a:xfrm>
          <a:prstGeom prst="ellipse">
            <a:avLst/>
          </a:prstGeom>
          <a:solidFill>
            <a:srgbClr val="065A82"/>
          </a:solidFill>
          <a:ln/>
        </p:spPr>
      </p:sp>
      <p:sp>
        <p:nvSpPr>
          <p:cNvPr id="3" name="Text 1"/>
          <p:cNvSpPr/>
          <p:nvPr/>
        </p:nvSpPr>
        <p:spPr>
          <a:xfrm>
            <a:off x="8275320" y="201168"/>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L19</a:t>
            </a:r>
            <a:endParaRPr lang="en-US" sz="1200" dirty="0"/>
          </a:p>
        </p:txBody>
      </p:sp>
      <p:sp>
        <p:nvSpPr>
          <p:cNvPr id="4" name="Text 2"/>
          <p:cNvSpPr/>
          <p:nvPr/>
        </p:nvSpPr>
        <p:spPr>
          <a:xfrm>
            <a:off x="457200" y="219456"/>
            <a:ext cx="7680960" cy="548640"/>
          </a:xfrm>
          <a:prstGeom prst="rect">
            <a:avLst/>
          </a:prstGeom>
          <a:noFill/>
          <a:ln/>
        </p:spPr>
        <p:txBody>
          <a:bodyPr wrap="square" lIns="0" tIns="0" rIns="0" bIns="0" rtlCol="0" anchor="ctr"/>
          <a:lstStyle/>
          <a:p>
            <a:pPr indent="0" marL="0">
              <a:buNone/>
            </a:pPr>
            <a:r>
              <a:rPr lang="en-US" sz="2200" b="1" dirty="0">
                <a:solidFill>
                  <a:srgbClr val="065A82"/>
                </a:solidFill>
                <a:latin typeface="Arial" pitchFamily="34" charset="0"/>
                <a:ea typeface="Arial" pitchFamily="34" charset="-122"/>
                <a:cs typeface="Arial" pitchFamily="34" charset="-120"/>
              </a:rPr>
              <a:t>Starter — check the tag</a:t>
            </a:r>
            <a:endParaRPr lang="en-US" sz="2200" dirty="0"/>
          </a:p>
        </p:txBody>
      </p:sp>
      <p:sp>
        <p:nvSpPr>
          <p:cNvPr id="5" name="Text 3"/>
          <p:cNvSpPr/>
          <p:nvPr/>
        </p:nvSpPr>
        <p:spPr>
          <a:xfrm>
            <a:off x="457200" y="4873752"/>
            <a:ext cx="5486400" cy="228600"/>
          </a:xfrm>
          <a:prstGeom prst="rect">
            <a:avLst/>
          </a:prstGeom>
          <a:noFill/>
          <a:ln/>
        </p:spPr>
        <p:txBody>
          <a:bodyPr wrap="square" lIns="0" tIns="0" rIns="0" bIns="0" rtlCol="0" anchor="ctr"/>
          <a:lstStyle/>
          <a:p>
            <a:pPr indent="0" marL="0">
              <a:buNone/>
            </a:pPr>
            <a:r>
              <a:rPr lang="en-US" sz="900" dirty="0">
                <a:solidFill>
                  <a:srgbClr val="9AA5B1"/>
                </a:solidFill>
                <a:latin typeface="Arial" pitchFamily="34" charset="0"/>
                <a:ea typeface="Arial" pitchFamily="34" charset="-122"/>
                <a:cs typeface="Arial" pitchFamily="34" charset="-120"/>
              </a:rPr>
              <a:t>Stage 4 Geography — Interconnections and Trade</a:t>
            </a:r>
            <a:endParaRPr lang="en-US" sz="900" dirty="0"/>
          </a:p>
        </p:txBody>
      </p:sp>
      <p:sp>
        <p:nvSpPr>
          <p:cNvPr id="7" name="Shape 4"/>
          <p:cNvSpPr/>
          <p:nvPr/>
        </p:nvSpPr>
        <p:spPr>
          <a:xfrm>
            <a:off x="457200" y="914400"/>
            <a:ext cx="5120640" cy="1828800"/>
          </a:xfrm>
          <a:prstGeom prst="roundRect">
            <a:avLst>
              <a:gd name="adj" fmla="val 4500"/>
            </a:avLst>
          </a:prstGeom>
          <a:solidFill>
            <a:srgbClr val="EAF3F8"/>
          </a:solidFill>
          <a:ln/>
          <a:effectLst>
            <a:outerShdw sx="100000" sy="100000" kx="0" ky="0" algn="bl" rotWithShape="0" blurRad="76200" dist="25400" dir="2700000">
              <a:srgbClr val="000000">
                <a:alpha val="12000"/>
              </a:srgbClr>
            </a:outerShdw>
          </a:effectLst>
        </p:spPr>
      </p:sp>
      <p:sp>
        <p:nvSpPr>
          <p:cNvPr id="8" name="Text 5"/>
          <p:cNvSpPr/>
          <p:nvPr/>
        </p:nvSpPr>
        <p:spPr>
          <a:xfrm>
            <a:off x="621792" y="1005840"/>
            <a:ext cx="4791456" cy="1645920"/>
          </a:xfrm>
          <a:prstGeom prst="rect">
            <a:avLst/>
          </a:prstGeom>
          <a:noFill/>
          <a:ln/>
        </p:spPr>
        <p:txBody>
          <a:bodyPr wrap="square" lIns="0" tIns="0" rIns="0" bIns="0" rtlCol="0" anchor="ctr"/>
          <a:lstStyle/>
          <a:p>
            <a:pPr algn="l" indent="0" marL="0">
              <a:buNone/>
            </a:pPr>
            <a:r>
              <a:rPr lang="en-US" sz="1300" b="1" dirty="0">
                <a:solidFill>
                  <a:srgbClr val="065A82"/>
                </a:solidFill>
                <a:latin typeface="Arial" pitchFamily="34" charset="0"/>
                <a:ea typeface="Arial" pitchFamily="34" charset="-122"/>
                <a:cs typeface="Arial" pitchFamily="34" charset="-120"/>
              </a:rPr>
              <a:t>Look at the tag on your shirt (or imagine one).
</a:t>
            </a:r>
            <a:endParaRPr lang="en-US" sz="1300" dirty="0"/>
          </a:p>
          <a:p>
            <a:pPr algn="l" indent="0" marL="0">
              <a:buNone/>
            </a:pPr>
            <a:r>
              <a:rPr lang="en-US" sz="1300" dirty="0">
                <a:solidFill>
                  <a:srgbClr val="3A4149"/>
                </a:solidFill>
                <a:latin typeface="Arial" pitchFamily="34" charset="0"/>
                <a:ea typeface="Arial" pitchFamily="34" charset="-122"/>
                <a:cs typeface="Arial" pitchFamily="34" charset="-120"/>
              </a:rPr>
              <a:t>1.  Where does it say your shirt was made?</a:t>
            </a:r>
            <a:endParaRPr lang="en-US" sz="1300" dirty="0"/>
          </a:p>
          <a:p>
            <a:pPr algn="l" indent="0" marL="0">
              <a:buNone/>
            </a:pPr>
            <a:r>
              <a:rPr lang="en-US" sz="1300" dirty="0">
                <a:solidFill>
                  <a:srgbClr val="3A4149"/>
                </a:solidFill>
                <a:latin typeface="Arial" pitchFamily="34" charset="0"/>
                <a:ea typeface="Arial" pitchFamily="34" charset="-122"/>
                <a:cs typeface="Arial" pitchFamily="34" charset="-120"/>
              </a:rPr>
              <a:t>2.  Guess: how many countries touched your shirt</a:t>
            </a:r>
            <a:endParaRPr lang="en-US" sz="1300" dirty="0"/>
          </a:p>
          <a:p>
            <a:pPr algn="l" indent="0" marL="0">
              <a:buNone/>
            </a:pPr>
            <a:r>
              <a:rPr lang="en-US" sz="1300" dirty="0">
                <a:solidFill>
                  <a:srgbClr val="3A4149"/>
                </a:solidFill>
                <a:latin typeface="Arial" pitchFamily="34" charset="0"/>
                <a:ea typeface="Arial" pitchFamily="34" charset="-122"/>
                <a:cs typeface="Arial" pitchFamily="34" charset="-120"/>
              </a:rPr>
              <a:t>     before it reached you?</a:t>
            </a:r>
            <a:endParaRPr lang="en-US" sz="1300" dirty="0"/>
          </a:p>
        </p:txBody>
      </p:sp>
      <p:sp>
        <p:nvSpPr>
          <p:cNvPr id="9" name="Shape 6"/>
          <p:cNvSpPr/>
          <p:nvPr/>
        </p:nvSpPr>
        <p:spPr>
          <a:xfrm>
            <a:off x="457200" y="2971800"/>
            <a:ext cx="5120640" cy="1463040"/>
          </a:xfrm>
          <a:prstGeom prst="roundRect">
            <a:avLst>
              <a:gd name="adj" fmla="val 5625"/>
            </a:avLst>
          </a:prstGeom>
          <a:solidFill>
            <a:srgbClr val="E6F7F2"/>
          </a:solidFill>
          <a:ln/>
          <a:effectLst>
            <a:outerShdw sx="100000" sy="100000" kx="0" ky="0" algn="bl" rotWithShape="0" blurRad="76200" dist="25400" dir="2700000">
              <a:srgbClr val="000000">
                <a:alpha val="12000"/>
              </a:srgbClr>
            </a:outerShdw>
          </a:effectLst>
        </p:spPr>
      </p:sp>
      <p:sp>
        <p:nvSpPr>
          <p:cNvPr id="10" name="Text 7"/>
          <p:cNvSpPr/>
          <p:nvPr/>
        </p:nvSpPr>
        <p:spPr>
          <a:xfrm>
            <a:off x="621792" y="3063240"/>
            <a:ext cx="4791456" cy="1280160"/>
          </a:xfrm>
          <a:prstGeom prst="rect">
            <a:avLst/>
          </a:prstGeom>
          <a:noFill/>
          <a:ln/>
        </p:spPr>
        <p:txBody>
          <a:bodyPr wrap="square" lIns="0" tIns="0" rIns="0" bIns="0" rtlCol="0" anchor="ctr"/>
          <a:lstStyle/>
          <a:p>
            <a:pPr algn="l" indent="0" marL="0">
              <a:buNone/>
            </a:pPr>
            <a:r>
              <a:rPr lang="en-US" sz="1300" b="1" dirty="0">
                <a:solidFill>
                  <a:srgbClr val="065A82"/>
                </a:solidFill>
                <a:latin typeface="Arial" pitchFamily="34" charset="0"/>
                <a:ea typeface="Arial" pitchFamily="34" charset="-122"/>
                <a:cs typeface="Arial" pitchFamily="34" charset="-120"/>
              </a:rPr>
              <a:t>Hint
</a:t>
            </a:r>
            <a:endParaRPr lang="en-US" sz="1300" dirty="0"/>
          </a:p>
          <a:p>
            <a:pPr algn="l" indent="0" marL="0">
              <a:buNone/>
            </a:pPr>
            <a:r>
              <a:rPr lang="en-US" sz="1200" dirty="0">
                <a:solidFill>
                  <a:srgbClr val="3A4149"/>
                </a:solidFill>
                <a:latin typeface="Arial" pitchFamily="34" charset="0"/>
                <a:ea typeface="Arial" pitchFamily="34" charset="-122"/>
                <a:cs typeface="Arial" pitchFamily="34" charset="-120"/>
              </a:rPr>
              <a:t>“Made in…” only tells you the LAST stop before the shop. The cotton, the thread, the fabric and the dye may each come from somewhere else.</a:t>
            </a:r>
            <a:endParaRPr lang="en-US" sz="1300" dirty="0"/>
          </a:p>
        </p:txBody>
      </p:sp>
      <p:sp>
        <p:nvSpPr>
          <p:cNvPr id="11" name="Shape 8"/>
          <p:cNvSpPr/>
          <p:nvPr/>
        </p:nvSpPr>
        <p:spPr>
          <a:xfrm>
            <a:off x="5943600" y="1097280"/>
            <a:ext cx="1188720" cy="1188720"/>
          </a:xfrm>
          <a:prstGeom prst="ellipse">
            <a:avLst/>
          </a:prstGeom>
          <a:solidFill>
            <a:srgbClr val="1C7293"/>
          </a:solidFill>
          <a:ln/>
          <a:effectLst>
            <a:outerShdw sx="100000" sy="100000" kx="0" ky="0" algn="bl" rotWithShape="0" blurRad="76200" dist="25400" dir="2700000">
              <a:srgbClr val="000000">
                <a:alpha val="12000"/>
              </a:srgbClr>
            </a:outerShdw>
          </a:effectLst>
        </p:spPr>
      </p:sp>
      <p:sp>
        <p:nvSpPr>
          <p:cNvPr id="12" name="Text 9"/>
          <p:cNvSpPr/>
          <p:nvPr/>
        </p:nvSpPr>
        <p:spPr>
          <a:xfrm>
            <a:off x="5943600" y="1097280"/>
            <a:ext cx="1188720" cy="11887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13" name="Shape 10"/>
          <p:cNvSpPr/>
          <p:nvPr/>
        </p:nvSpPr>
        <p:spPr>
          <a:xfrm>
            <a:off x="7406640" y="1097280"/>
            <a:ext cx="1188720" cy="1188720"/>
          </a:xfrm>
          <a:prstGeom prst="ellipse">
            <a:avLst/>
          </a:prstGeom>
          <a:solidFill>
            <a:srgbClr val="065A82"/>
          </a:solidFill>
          <a:ln/>
          <a:effectLst>
            <a:outerShdw sx="100000" sy="100000" kx="0" ky="0" algn="bl" rotWithShape="0" blurRad="76200" dist="25400" dir="2700000">
              <a:srgbClr val="000000">
                <a:alpha val="12000"/>
              </a:srgbClr>
            </a:outerShdw>
          </a:effectLst>
        </p:spPr>
      </p:sp>
      <p:sp>
        <p:nvSpPr>
          <p:cNvPr id="14" name="Text 11"/>
          <p:cNvSpPr/>
          <p:nvPr/>
        </p:nvSpPr>
        <p:spPr>
          <a:xfrm>
            <a:off x="7406640" y="1097280"/>
            <a:ext cx="1188720" cy="11887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5" name="Shape 12"/>
          <p:cNvSpPr/>
          <p:nvPr/>
        </p:nvSpPr>
        <p:spPr>
          <a:xfrm>
            <a:off x="5943600" y="2651760"/>
            <a:ext cx="1188720" cy="1188720"/>
          </a:xfrm>
          <a:prstGeom prst="ellipse">
            <a:avLst/>
          </a:prstGeom>
          <a:solidFill>
            <a:srgbClr val="21295C"/>
          </a:solidFill>
          <a:ln/>
          <a:effectLst>
            <a:outerShdw sx="100000" sy="100000" kx="0" ky="0" algn="bl" rotWithShape="0" blurRad="76200" dist="25400" dir="2700000">
              <a:srgbClr val="000000">
                <a:alpha val="12000"/>
              </a:srgbClr>
            </a:outerShdw>
          </a:effectLst>
        </p:spPr>
      </p:sp>
      <p:sp>
        <p:nvSpPr>
          <p:cNvPr id="16" name="Text 13"/>
          <p:cNvSpPr/>
          <p:nvPr/>
        </p:nvSpPr>
        <p:spPr>
          <a:xfrm>
            <a:off x="5943600" y="2651760"/>
            <a:ext cx="1188720" cy="11887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17" name="Shape 14"/>
          <p:cNvSpPr/>
          <p:nvPr/>
        </p:nvSpPr>
        <p:spPr>
          <a:xfrm>
            <a:off x="7406640" y="2651760"/>
            <a:ext cx="1188720" cy="1188720"/>
          </a:xfrm>
          <a:prstGeom prst="ellipse">
            <a:avLst/>
          </a:prstGeom>
          <a:solidFill>
            <a:srgbClr val="02C39A"/>
          </a:solidFill>
          <a:ln/>
          <a:effectLst>
            <a:outerShdw sx="100000" sy="100000" kx="0" ky="0" algn="bl" rotWithShape="0" blurRad="76200" dist="25400" dir="2700000">
              <a:srgbClr val="000000">
                <a:alpha val="12000"/>
              </a:srgbClr>
            </a:outerShdw>
          </a:effectLst>
        </p:spPr>
      </p:sp>
      <p:sp>
        <p:nvSpPr>
          <p:cNvPr id="18" name="Text 15"/>
          <p:cNvSpPr/>
          <p:nvPr/>
        </p:nvSpPr>
        <p:spPr>
          <a:xfrm>
            <a:off x="7406640" y="2651760"/>
            <a:ext cx="1188720" cy="11887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8?</a:t>
            </a:r>
            <a:endParaRPr lang="en-US" sz="2200" dirty="0"/>
          </a:p>
        </p:txBody>
      </p:sp>
      <p:sp>
        <p:nvSpPr>
          <p:cNvPr id="19" name="Text 16"/>
          <p:cNvSpPr/>
          <p:nvPr/>
        </p:nvSpPr>
        <p:spPr>
          <a:xfrm>
            <a:off x="5760720" y="4160520"/>
            <a:ext cx="2926080" cy="502920"/>
          </a:xfrm>
          <a:prstGeom prst="rect">
            <a:avLst/>
          </a:prstGeom>
          <a:noFill/>
          <a:ln/>
        </p:spPr>
        <p:txBody>
          <a:bodyPr wrap="square" lIns="0" tIns="0" rIns="0" bIns="0" rtlCol="0" anchor="ctr"/>
          <a:lstStyle/>
          <a:p>
            <a:pPr indent="0" marL="0">
              <a:buNone/>
            </a:pPr>
            <a:r>
              <a:rPr lang="en-US" sz="1100" i="1" dirty="0">
                <a:solidFill>
                  <a:srgbClr val="5B6770"/>
                </a:solidFill>
                <a:latin typeface="Arial" pitchFamily="34" charset="0"/>
                <a:ea typeface="Arial" pitchFamily="34" charset="-122"/>
                <a:cs typeface="Arial" pitchFamily="34" charset="-120"/>
              </a:rPr>
              <a:t>Write your guess down — we check it after the video.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01168"/>
            <a:ext cx="566928" cy="566928"/>
          </a:xfrm>
          <a:prstGeom prst="ellipse">
            <a:avLst/>
          </a:prstGeom>
          <a:solidFill>
            <a:srgbClr val="065A82"/>
          </a:solidFill>
          <a:ln/>
        </p:spPr>
      </p:sp>
      <p:sp>
        <p:nvSpPr>
          <p:cNvPr id="3" name="Text 1"/>
          <p:cNvSpPr/>
          <p:nvPr/>
        </p:nvSpPr>
        <p:spPr>
          <a:xfrm>
            <a:off x="8275320" y="201168"/>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L19</a:t>
            </a:r>
            <a:endParaRPr lang="en-US" sz="1200" dirty="0"/>
          </a:p>
        </p:txBody>
      </p:sp>
      <p:sp>
        <p:nvSpPr>
          <p:cNvPr id="4" name="Text 2"/>
          <p:cNvSpPr/>
          <p:nvPr/>
        </p:nvSpPr>
        <p:spPr>
          <a:xfrm>
            <a:off x="457200" y="219456"/>
            <a:ext cx="7680960" cy="548640"/>
          </a:xfrm>
          <a:prstGeom prst="rect">
            <a:avLst/>
          </a:prstGeom>
          <a:noFill/>
          <a:ln/>
        </p:spPr>
        <p:txBody>
          <a:bodyPr wrap="square" lIns="0" tIns="0" rIns="0" bIns="0" rtlCol="0" anchor="ctr"/>
          <a:lstStyle/>
          <a:p>
            <a:pPr indent="0" marL="0">
              <a:buNone/>
            </a:pPr>
            <a:r>
              <a:rPr lang="en-US" sz="2200" b="1" dirty="0">
                <a:solidFill>
                  <a:srgbClr val="065A82"/>
                </a:solidFill>
                <a:latin typeface="Arial" pitchFamily="34" charset="0"/>
                <a:ea typeface="Arial" pitchFamily="34" charset="-122"/>
                <a:cs typeface="Arial" pitchFamily="34" charset="-120"/>
              </a:rPr>
              <a:t>Watch — The life cycle of a t-shirt (TED-Ed)</a:t>
            </a:r>
            <a:endParaRPr lang="en-US" sz="2200" dirty="0"/>
          </a:p>
        </p:txBody>
      </p:sp>
      <p:sp>
        <p:nvSpPr>
          <p:cNvPr id="5" name="Text 3"/>
          <p:cNvSpPr/>
          <p:nvPr/>
        </p:nvSpPr>
        <p:spPr>
          <a:xfrm>
            <a:off x="457200" y="4873752"/>
            <a:ext cx="5486400" cy="228600"/>
          </a:xfrm>
          <a:prstGeom prst="rect">
            <a:avLst/>
          </a:prstGeom>
          <a:noFill/>
          <a:ln/>
        </p:spPr>
        <p:txBody>
          <a:bodyPr wrap="square" lIns="0" tIns="0" rIns="0" bIns="0" rtlCol="0" anchor="ctr"/>
          <a:lstStyle/>
          <a:p>
            <a:pPr indent="0" marL="0">
              <a:buNone/>
            </a:pPr>
            <a:r>
              <a:rPr lang="en-US" sz="900" dirty="0">
                <a:solidFill>
                  <a:srgbClr val="9AA5B1"/>
                </a:solidFill>
                <a:latin typeface="Arial" pitchFamily="34" charset="0"/>
                <a:ea typeface="Arial" pitchFamily="34" charset="-122"/>
                <a:cs typeface="Arial" pitchFamily="34" charset="-120"/>
              </a:rPr>
              <a:t>Stage 4 Geography — Interconnections and Trade</a:t>
            </a:r>
            <a:endParaRPr lang="en-US" sz="900" dirty="0"/>
          </a:p>
        </p:txBody>
      </p:sp>
      <p:sp>
        <p:nvSpPr>
          <p:cNvPr id="7" name="Shape 4"/>
          <p:cNvSpPr/>
          <p:nvPr/>
        </p:nvSpPr>
        <p:spPr>
          <a:xfrm>
            <a:off x="457200" y="914400"/>
            <a:ext cx="8229600" cy="914400"/>
          </a:xfrm>
          <a:prstGeom prst="roundRect">
            <a:avLst>
              <a:gd name="adj" fmla="val 9000"/>
            </a:avLst>
          </a:prstGeom>
          <a:solidFill>
            <a:srgbClr val="21295C"/>
          </a:solidFill>
          <a:ln/>
          <a:effectLst>
            <a:outerShdw sx="100000" sy="100000" kx="0" ky="0" algn="bl" rotWithShape="0" blurRad="76200" dist="25400" dir="2700000">
              <a:srgbClr val="000000">
                <a:alpha val="12000"/>
              </a:srgbClr>
            </a:outerShdw>
          </a:effectLst>
        </p:spPr>
      </p:sp>
      <p:sp>
        <p:nvSpPr>
          <p:cNvPr id="8" name="Text 5"/>
          <p:cNvSpPr/>
          <p:nvPr/>
        </p:nvSpPr>
        <p:spPr>
          <a:xfrm>
            <a:off x="621792" y="1005840"/>
            <a:ext cx="7900416" cy="731520"/>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TED-Ed: “The life cycle of a t-shirt” (about 6 minutes)
</a:t>
            </a:r>
            <a:endParaRPr lang="en-US" sz="1300" dirty="0"/>
          </a:p>
          <a:p>
            <a:pPr algn="l" indent="0" marL="0">
              <a:buNone/>
            </a:pPr>
            <a:r>
              <a:rPr lang="en-US" sz="1200" dirty="0">
                <a:solidFill>
                  <a:srgbClr val="02C39A"/>
                </a:solidFill>
                <a:latin typeface="Arial" pitchFamily="34" charset="0"/>
                <a:ea typeface="Arial" pitchFamily="34" charset="-122"/>
                <a:cs typeface="Arial" pitchFamily="34" charset="-120"/>
              </a:rPr>
              <a:t>youtube.com/watch?v=BiSYoeqb_VY</a:t>
            </a:r>
            <a:endParaRPr lang="en-US" sz="1300" dirty="0"/>
          </a:p>
        </p:txBody>
      </p:sp>
      <p:sp>
        <p:nvSpPr>
          <p:cNvPr id="9" name="Text 6"/>
          <p:cNvSpPr/>
          <p:nvPr/>
        </p:nvSpPr>
        <p:spPr>
          <a:xfrm>
            <a:off x="457200" y="2011680"/>
            <a:ext cx="8229600" cy="320040"/>
          </a:xfrm>
          <a:prstGeom prst="rect">
            <a:avLst/>
          </a:prstGeom>
          <a:noFill/>
          <a:ln/>
        </p:spPr>
        <p:txBody>
          <a:bodyPr wrap="square" lIns="0" tIns="0" rIns="0" bIns="0" rtlCol="0" anchor="ctr"/>
          <a:lstStyle/>
          <a:p>
            <a:pPr indent="0" marL="0">
              <a:buNone/>
            </a:pPr>
            <a:r>
              <a:rPr lang="en-US" sz="1300" b="1" dirty="0">
                <a:solidFill>
                  <a:srgbClr val="1C7293"/>
                </a:solidFill>
                <a:latin typeface="Arial" pitchFamily="34" charset="0"/>
                <a:ea typeface="Arial" pitchFamily="34" charset="-122"/>
                <a:cs typeface="Arial" pitchFamily="34" charset="-120"/>
              </a:rPr>
              <a:t>Watch for these four things — be ready to answer:</a:t>
            </a:r>
            <a:endParaRPr lang="en-US" sz="1300" dirty="0"/>
          </a:p>
        </p:txBody>
      </p:sp>
      <p:sp>
        <p:nvSpPr>
          <p:cNvPr id="10" name="Shape 7"/>
          <p:cNvSpPr/>
          <p:nvPr/>
        </p:nvSpPr>
        <p:spPr>
          <a:xfrm>
            <a:off x="457200" y="2423160"/>
            <a:ext cx="4023360" cy="868680"/>
          </a:xfrm>
          <a:prstGeom prst="roundRect">
            <a:avLst>
              <a:gd name="adj" fmla="val 9474"/>
            </a:avLst>
          </a:prstGeom>
          <a:solidFill>
            <a:srgbClr val="EAF3F8"/>
          </a:solidFill>
          <a:ln/>
          <a:effectLst>
            <a:outerShdw sx="100000" sy="100000" kx="0" ky="0" algn="bl" rotWithShape="0" blurRad="76200" dist="25400" dir="2700000">
              <a:srgbClr val="000000">
                <a:alpha val="12000"/>
              </a:srgbClr>
            </a:outerShdw>
          </a:effectLst>
        </p:spPr>
      </p:sp>
      <p:sp>
        <p:nvSpPr>
          <p:cNvPr id="11" name="Text 8"/>
          <p:cNvSpPr/>
          <p:nvPr/>
        </p:nvSpPr>
        <p:spPr>
          <a:xfrm>
            <a:off x="621792" y="2514600"/>
            <a:ext cx="3694176" cy="685800"/>
          </a:xfrm>
          <a:prstGeom prst="rect">
            <a:avLst/>
          </a:prstGeom>
          <a:noFill/>
          <a:ln/>
        </p:spPr>
        <p:txBody>
          <a:bodyPr wrap="square" lIns="0" tIns="0" rIns="0" bIns="0" rtlCol="0" anchor="ctr"/>
          <a:lstStyle/>
          <a:p>
            <a:pPr algn="l" indent="0" marL="0">
              <a:buNone/>
            </a:pPr>
            <a:r>
              <a:rPr lang="en-US" sz="1300" dirty="0">
                <a:solidFill>
                  <a:srgbClr val="3A4149"/>
                </a:solidFill>
                <a:latin typeface="Arial" pitchFamily="34" charset="0"/>
                <a:ea typeface="Arial" pitchFamily="34" charset="-122"/>
                <a:cs typeface="Arial" pitchFamily="34" charset="-120"/>
              </a:rPr>
              <a:t>Where is the cotton GROWN?</a:t>
            </a:r>
            <a:endParaRPr lang="en-US" sz="1300" dirty="0"/>
          </a:p>
        </p:txBody>
      </p:sp>
      <p:sp>
        <p:nvSpPr>
          <p:cNvPr id="12" name="Shape 9"/>
          <p:cNvSpPr/>
          <p:nvPr/>
        </p:nvSpPr>
        <p:spPr>
          <a:xfrm>
            <a:off x="4663440" y="2423160"/>
            <a:ext cx="4023360" cy="868680"/>
          </a:xfrm>
          <a:prstGeom prst="roundRect">
            <a:avLst>
              <a:gd name="adj" fmla="val 9474"/>
            </a:avLst>
          </a:prstGeom>
          <a:solidFill>
            <a:srgbClr val="E6F7F2"/>
          </a:solidFill>
          <a:ln/>
          <a:effectLst>
            <a:outerShdw sx="100000" sy="100000" kx="0" ky="0" algn="bl" rotWithShape="0" blurRad="76200" dist="25400" dir="2700000">
              <a:srgbClr val="000000">
                <a:alpha val="12000"/>
              </a:srgbClr>
            </a:outerShdw>
          </a:effectLst>
        </p:spPr>
      </p:sp>
      <p:sp>
        <p:nvSpPr>
          <p:cNvPr id="13" name="Text 10"/>
          <p:cNvSpPr/>
          <p:nvPr/>
        </p:nvSpPr>
        <p:spPr>
          <a:xfrm>
            <a:off x="4828032" y="2514600"/>
            <a:ext cx="3694176" cy="685800"/>
          </a:xfrm>
          <a:prstGeom prst="rect">
            <a:avLst/>
          </a:prstGeom>
          <a:noFill/>
          <a:ln/>
        </p:spPr>
        <p:txBody>
          <a:bodyPr wrap="square" lIns="0" tIns="0" rIns="0" bIns="0" rtlCol="0" anchor="ctr"/>
          <a:lstStyle/>
          <a:p>
            <a:pPr algn="l" indent="0" marL="0">
              <a:buNone/>
            </a:pPr>
            <a:r>
              <a:rPr lang="en-US" sz="1300" dirty="0">
                <a:solidFill>
                  <a:srgbClr val="3A4149"/>
                </a:solidFill>
                <a:latin typeface="Arial" pitchFamily="34" charset="0"/>
                <a:ea typeface="Arial" pitchFamily="34" charset="-122"/>
                <a:cs typeface="Arial" pitchFamily="34" charset="-120"/>
              </a:rPr>
              <a:t>Where is it SPUN into thread and fabric?</a:t>
            </a:r>
            <a:endParaRPr lang="en-US" sz="1300" dirty="0"/>
          </a:p>
        </p:txBody>
      </p:sp>
      <p:sp>
        <p:nvSpPr>
          <p:cNvPr id="14" name="Shape 11"/>
          <p:cNvSpPr/>
          <p:nvPr/>
        </p:nvSpPr>
        <p:spPr>
          <a:xfrm>
            <a:off x="457200" y="3474720"/>
            <a:ext cx="4023360" cy="868680"/>
          </a:xfrm>
          <a:prstGeom prst="roundRect">
            <a:avLst>
              <a:gd name="adj" fmla="val 9474"/>
            </a:avLst>
          </a:prstGeom>
          <a:solidFill>
            <a:srgbClr val="EAF3F8"/>
          </a:solidFill>
          <a:ln/>
          <a:effectLst>
            <a:outerShdw sx="100000" sy="100000" kx="0" ky="0" algn="bl" rotWithShape="0" blurRad="76200" dist="25400" dir="2700000">
              <a:srgbClr val="000000">
                <a:alpha val="12000"/>
              </a:srgbClr>
            </a:outerShdw>
          </a:effectLst>
        </p:spPr>
      </p:sp>
      <p:sp>
        <p:nvSpPr>
          <p:cNvPr id="15" name="Text 12"/>
          <p:cNvSpPr/>
          <p:nvPr/>
        </p:nvSpPr>
        <p:spPr>
          <a:xfrm>
            <a:off x="621792" y="3566160"/>
            <a:ext cx="3694176" cy="685800"/>
          </a:xfrm>
          <a:prstGeom prst="rect">
            <a:avLst/>
          </a:prstGeom>
          <a:noFill/>
          <a:ln/>
        </p:spPr>
        <p:txBody>
          <a:bodyPr wrap="square" lIns="0" tIns="0" rIns="0" bIns="0" rtlCol="0" anchor="ctr"/>
          <a:lstStyle/>
          <a:p>
            <a:pPr algn="l" indent="0" marL="0">
              <a:buNone/>
            </a:pPr>
            <a:r>
              <a:rPr lang="en-US" sz="1300" dirty="0">
                <a:solidFill>
                  <a:srgbClr val="3A4149"/>
                </a:solidFill>
                <a:latin typeface="Arial" pitchFamily="34" charset="0"/>
                <a:ea typeface="Arial" pitchFamily="34" charset="-122"/>
                <a:cs typeface="Arial" pitchFamily="34" charset="-120"/>
              </a:rPr>
              <a:t>Where is the shirt SEWN together?</a:t>
            </a:r>
            <a:endParaRPr lang="en-US" sz="1300" dirty="0"/>
          </a:p>
        </p:txBody>
      </p:sp>
      <p:sp>
        <p:nvSpPr>
          <p:cNvPr id="16" name="Shape 13"/>
          <p:cNvSpPr/>
          <p:nvPr/>
        </p:nvSpPr>
        <p:spPr>
          <a:xfrm>
            <a:off x="4663440" y="3474720"/>
            <a:ext cx="4023360" cy="868680"/>
          </a:xfrm>
          <a:prstGeom prst="roundRect">
            <a:avLst>
              <a:gd name="adj" fmla="val 9474"/>
            </a:avLst>
          </a:prstGeom>
          <a:solidFill>
            <a:srgbClr val="E6F7F2"/>
          </a:solidFill>
          <a:ln/>
          <a:effectLst>
            <a:outerShdw sx="100000" sy="100000" kx="0" ky="0" algn="bl" rotWithShape="0" blurRad="76200" dist="25400" dir="2700000">
              <a:srgbClr val="000000">
                <a:alpha val="12000"/>
              </a:srgbClr>
            </a:outerShdw>
          </a:effectLst>
        </p:spPr>
      </p:sp>
      <p:sp>
        <p:nvSpPr>
          <p:cNvPr id="17" name="Text 14"/>
          <p:cNvSpPr/>
          <p:nvPr/>
        </p:nvSpPr>
        <p:spPr>
          <a:xfrm>
            <a:off x="4828032" y="3566160"/>
            <a:ext cx="3694176" cy="685800"/>
          </a:xfrm>
          <a:prstGeom prst="rect">
            <a:avLst/>
          </a:prstGeom>
          <a:noFill/>
          <a:ln/>
        </p:spPr>
        <p:txBody>
          <a:bodyPr wrap="square" lIns="0" tIns="0" rIns="0" bIns="0" rtlCol="0" anchor="ctr"/>
          <a:lstStyle/>
          <a:p>
            <a:pPr algn="l" indent="0" marL="0">
              <a:buNone/>
            </a:pPr>
            <a:r>
              <a:rPr lang="en-US" sz="1300" dirty="0">
                <a:solidFill>
                  <a:srgbClr val="3A4149"/>
                </a:solidFill>
                <a:latin typeface="Arial" pitchFamily="34" charset="0"/>
                <a:ea typeface="Arial" pitchFamily="34" charset="-122"/>
                <a:cs typeface="Arial" pitchFamily="34" charset="-120"/>
              </a:rPr>
              <a:t>Where is it SOLD?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01168"/>
            <a:ext cx="566928" cy="566928"/>
          </a:xfrm>
          <a:prstGeom prst="ellipse">
            <a:avLst/>
          </a:prstGeom>
          <a:solidFill>
            <a:srgbClr val="065A82"/>
          </a:solidFill>
          <a:ln/>
        </p:spPr>
      </p:sp>
      <p:sp>
        <p:nvSpPr>
          <p:cNvPr id="3" name="Text 1"/>
          <p:cNvSpPr/>
          <p:nvPr/>
        </p:nvSpPr>
        <p:spPr>
          <a:xfrm>
            <a:off x="8275320" y="201168"/>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L19</a:t>
            </a:r>
            <a:endParaRPr lang="en-US" sz="1200" dirty="0"/>
          </a:p>
        </p:txBody>
      </p:sp>
      <p:sp>
        <p:nvSpPr>
          <p:cNvPr id="4" name="Text 2"/>
          <p:cNvSpPr/>
          <p:nvPr/>
        </p:nvSpPr>
        <p:spPr>
          <a:xfrm>
            <a:off x="457200" y="219456"/>
            <a:ext cx="7680960" cy="548640"/>
          </a:xfrm>
          <a:prstGeom prst="rect">
            <a:avLst/>
          </a:prstGeom>
          <a:noFill/>
          <a:ln/>
        </p:spPr>
        <p:txBody>
          <a:bodyPr wrap="square" lIns="0" tIns="0" rIns="0" bIns="0" rtlCol="0" anchor="ctr"/>
          <a:lstStyle/>
          <a:p>
            <a:pPr indent="0" marL="0">
              <a:buNone/>
            </a:pPr>
            <a:r>
              <a:rPr lang="en-US" sz="2200" b="1" dirty="0">
                <a:solidFill>
                  <a:srgbClr val="065A82"/>
                </a:solidFill>
                <a:latin typeface="Arial" pitchFamily="34" charset="0"/>
                <a:ea typeface="Arial" pitchFamily="34" charset="-122"/>
                <a:cs typeface="Arial" pitchFamily="34" charset="-120"/>
              </a:rPr>
              <a:t>What is a supply chain?</a:t>
            </a:r>
            <a:endParaRPr lang="en-US" sz="2200" dirty="0"/>
          </a:p>
        </p:txBody>
      </p:sp>
      <p:sp>
        <p:nvSpPr>
          <p:cNvPr id="5" name="Text 3"/>
          <p:cNvSpPr/>
          <p:nvPr/>
        </p:nvSpPr>
        <p:spPr>
          <a:xfrm>
            <a:off x="457200" y="4873752"/>
            <a:ext cx="5486400" cy="228600"/>
          </a:xfrm>
          <a:prstGeom prst="rect">
            <a:avLst/>
          </a:prstGeom>
          <a:noFill/>
          <a:ln/>
        </p:spPr>
        <p:txBody>
          <a:bodyPr wrap="square" lIns="0" tIns="0" rIns="0" bIns="0" rtlCol="0" anchor="ctr"/>
          <a:lstStyle/>
          <a:p>
            <a:pPr indent="0" marL="0">
              <a:buNone/>
            </a:pPr>
            <a:r>
              <a:rPr lang="en-US" sz="900" dirty="0">
                <a:solidFill>
                  <a:srgbClr val="9AA5B1"/>
                </a:solidFill>
                <a:latin typeface="Arial" pitchFamily="34" charset="0"/>
                <a:ea typeface="Arial" pitchFamily="34" charset="-122"/>
                <a:cs typeface="Arial" pitchFamily="34" charset="-120"/>
              </a:rPr>
              <a:t>Stage 4 Geography — Interconnections and Trade</a:t>
            </a:r>
            <a:endParaRPr lang="en-US" sz="900" dirty="0"/>
          </a:p>
        </p:txBody>
      </p:sp>
      <p:sp>
        <p:nvSpPr>
          <p:cNvPr id="7" name="Shape 4"/>
          <p:cNvSpPr/>
          <p:nvPr/>
        </p:nvSpPr>
        <p:spPr>
          <a:xfrm>
            <a:off x="457200" y="914400"/>
            <a:ext cx="8229600" cy="1051560"/>
          </a:xfrm>
          <a:prstGeom prst="roundRect">
            <a:avLst>
              <a:gd name="adj" fmla="val 7826"/>
            </a:avLst>
          </a:prstGeom>
          <a:solidFill>
            <a:srgbClr val="EAF3F8"/>
          </a:solidFill>
          <a:ln/>
          <a:effectLst>
            <a:outerShdw sx="100000" sy="100000" kx="0" ky="0" algn="bl" rotWithShape="0" blurRad="76200" dist="25400" dir="2700000">
              <a:srgbClr val="000000">
                <a:alpha val="12000"/>
              </a:srgbClr>
            </a:outerShdw>
          </a:effectLst>
        </p:spPr>
      </p:sp>
      <p:sp>
        <p:nvSpPr>
          <p:cNvPr id="8" name="Text 5"/>
          <p:cNvSpPr/>
          <p:nvPr/>
        </p:nvSpPr>
        <p:spPr>
          <a:xfrm>
            <a:off x="621792" y="1005840"/>
            <a:ext cx="7900416" cy="868680"/>
          </a:xfrm>
          <a:prstGeom prst="rect">
            <a:avLst/>
          </a:prstGeom>
          <a:noFill/>
          <a:ln/>
        </p:spPr>
        <p:txBody>
          <a:bodyPr wrap="square" lIns="0" tIns="0" rIns="0" bIns="0" rtlCol="0" anchor="ctr"/>
          <a:lstStyle/>
          <a:p>
            <a:pPr algn="l" indent="0" marL="0">
              <a:buNone/>
            </a:pPr>
            <a:r>
              <a:rPr lang="en-US" sz="1300" b="1" dirty="0">
                <a:solidFill>
                  <a:srgbClr val="065A82"/>
                </a:solidFill>
                <a:latin typeface="Arial" pitchFamily="34" charset="0"/>
                <a:ea typeface="Arial" pitchFamily="34" charset="-122"/>
                <a:cs typeface="Arial" pitchFamily="34" charset="-120"/>
              </a:rPr>
              <a:t>Supply chain (noun)
</a:t>
            </a:r>
            <a:endParaRPr lang="en-US" sz="1300" dirty="0"/>
          </a:p>
          <a:p>
            <a:pPr algn="l" indent="0" marL="0">
              <a:buNone/>
            </a:pPr>
            <a:r>
              <a:rPr lang="en-US" sz="1200" dirty="0">
                <a:solidFill>
                  <a:srgbClr val="3A4149"/>
                </a:solidFill>
                <a:latin typeface="Arial" pitchFamily="34" charset="0"/>
                <a:ea typeface="Arial" pitchFamily="34" charset="-122"/>
                <a:cs typeface="Arial" pitchFamily="34" charset="-120"/>
              </a:rPr>
              <a:t>Every step, place and person involved in making a product and getting it to the person who buys it.</a:t>
            </a:r>
            <a:endParaRPr lang="en-US" sz="1300" dirty="0"/>
          </a:p>
        </p:txBody>
      </p:sp>
      <p:sp>
        <p:nvSpPr>
          <p:cNvPr id="9" name="Shape 6"/>
          <p:cNvSpPr/>
          <p:nvPr/>
        </p:nvSpPr>
        <p:spPr>
          <a:xfrm>
            <a:off x="640080" y="2286000"/>
            <a:ext cx="1417320" cy="1417320"/>
          </a:xfrm>
          <a:prstGeom prst="ellipse">
            <a:avLst/>
          </a:prstGeom>
          <a:solidFill>
            <a:srgbClr val="1C7293"/>
          </a:solidFill>
          <a:ln/>
          <a:effectLst>
            <a:outerShdw sx="100000" sy="100000" kx="0" ky="0" algn="bl" rotWithShape="0" blurRad="76200" dist="25400" dir="2700000">
              <a:srgbClr val="000000">
                <a:alpha val="12000"/>
              </a:srgbClr>
            </a:outerShdw>
          </a:effectLst>
        </p:spPr>
      </p:sp>
      <p:sp>
        <p:nvSpPr>
          <p:cNvPr id="10" name="Text 7"/>
          <p:cNvSpPr/>
          <p:nvPr/>
        </p:nvSpPr>
        <p:spPr>
          <a:xfrm>
            <a:off x="640080" y="2286000"/>
            <a:ext cx="1417320" cy="1417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Raw material</a:t>
            </a:r>
            <a:endParaRPr lang="en-US" sz="1300" dirty="0"/>
          </a:p>
        </p:txBody>
      </p:sp>
      <p:sp>
        <p:nvSpPr>
          <p:cNvPr id="11" name="Text 8"/>
          <p:cNvSpPr/>
          <p:nvPr/>
        </p:nvSpPr>
        <p:spPr>
          <a:xfrm>
            <a:off x="2057400" y="2286000"/>
            <a:ext cx="731520" cy="1417320"/>
          </a:xfrm>
          <a:prstGeom prst="rect">
            <a:avLst/>
          </a:prstGeom>
          <a:noFill/>
          <a:ln/>
        </p:spPr>
        <p:txBody>
          <a:bodyPr wrap="square" lIns="0" tIns="0" rIns="0" bIns="0" rtlCol="0" anchor="ctr"/>
          <a:lstStyle/>
          <a:p>
            <a:pPr algn="ctr" indent="0" marL="0">
              <a:buNone/>
            </a:pPr>
            <a:r>
              <a:rPr lang="en-US" sz="2600" b="1" dirty="0">
                <a:solidFill>
                  <a:srgbClr val="5B6770"/>
                </a:solidFill>
                <a:latin typeface="Arial" pitchFamily="34" charset="0"/>
                <a:ea typeface="Arial" pitchFamily="34" charset="-122"/>
                <a:cs typeface="Arial" pitchFamily="34" charset="-120"/>
              </a:rPr>
              <a:t>→</a:t>
            </a:r>
            <a:endParaRPr lang="en-US" sz="2600" dirty="0"/>
          </a:p>
        </p:txBody>
      </p:sp>
      <p:sp>
        <p:nvSpPr>
          <p:cNvPr id="12" name="Shape 9"/>
          <p:cNvSpPr/>
          <p:nvPr/>
        </p:nvSpPr>
        <p:spPr>
          <a:xfrm>
            <a:off x="2788920" y="2286000"/>
            <a:ext cx="1417320" cy="1417320"/>
          </a:xfrm>
          <a:prstGeom prst="ellipse">
            <a:avLst/>
          </a:prstGeom>
          <a:solidFill>
            <a:srgbClr val="065A82"/>
          </a:solidFill>
          <a:ln/>
          <a:effectLst>
            <a:outerShdw sx="100000" sy="100000" kx="0" ky="0" algn="bl" rotWithShape="0" blurRad="76200" dist="25400" dir="2700000">
              <a:srgbClr val="000000">
                <a:alpha val="12000"/>
              </a:srgbClr>
            </a:outerShdw>
          </a:effectLst>
        </p:spPr>
      </p:sp>
      <p:sp>
        <p:nvSpPr>
          <p:cNvPr id="13" name="Text 10"/>
          <p:cNvSpPr/>
          <p:nvPr/>
        </p:nvSpPr>
        <p:spPr>
          <a:xfrm>
            <a:off x="2788920" y="2286000"/>
            <a:ext cx="1417320" cy="1417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Factory</a:t>
            </a:r>
            <a:endParaRPr lang="en-US" sz="1300" dirty="0"/>
          </a:p>
        </p:txBody>
      </p:sp>
      <p:sp>
        <p:nvSpPr>
          <p:cNvPr id="14" name="Text 11"/>
          <p:cNvSpPr/>
          <p:nvPr/>
        </p:nvSpPr>
        <p:spPr>
          <a:xfrm>
            <a:off x="4206240" y="2286000"/>
            <a:ext cx="731520" cy="1417320"/>
          </a:xfrm>
          <a:prstGeom prst="rect">
            <a:avLst/>
          </a:prstGeom>
          <a:noFill/>
          <a:ln/>
        </p:spPr>
        <p:txBody>
          <a:bodyPr wrap="square" lIns="0" tIns="0" rIns="0" bIns="0" rtlCol="0" anchor="ctr"/>
          <a:lstStyle/>
          <a:p>
            <a:pPr algn="ctr" indent="0" marL="0">
              <a:buNone/>
            </a:pPr>
            <a:r>
              <a:rPr lang="en-US" sz="2600" b="1" dirty="0">
                <a:solidFill>
                  <a:srgbClr val="5B6770"/>
                </a:solidFill>
                <a:latin typeface="Arial" pitchFamily="34" charset="0"/>
                <a:ea typeface="Arial" pitchFamily="34" charset="-122"/>
                <a:cs typeface="Arial" pitchFamily="34" charset="-120"/>
              </a:rPr>
              <a:t>→</a:t>
            </a:r>
            <a:endParaRPr lang="en-US" sz="2600" dirty="0"/>
          </a:p>
        </p:txBody>
      </p:sp>
      <p:sp>
        <p:nvSpPr>
          <p:cNvPr id="15" name="Shape 12"/>
          <p:cNvSpPr/>
          <p:nvPr/>
        </p:nvSpPr>
        <p:spPr>
          <a:xfrm>
            <a:off x="4937760" y="2286000"/>
            <a:ext cx="1417320" cy="1417320"/>
          </a:xfrm>
          <a:prstGeom prst="ellipse">
            <a:avLst/>
          </a:prstGeom>
          <a:solidFill>
            <a:srgbClr val="21295C"/>
          </a:solidFill>
          <a:ln/>
          <a:effectLst>
            <a:outerShdw sx="100000" sy="100000" kx="0" ky="0" algn="bl" rotWithShape="0" blurRad="76200" dist="25400" dir="2700000">
              <a:srgbClr val="000000">
                <a:alpha val="12000"/>
              </a:srgbClr>
            </a:outerShdw>
          </a:effectLst>
        </p:spPr>
      </p:sp>
      <p:sp>
        <p:nvSpPr>
          <p:cNvPr id="16" name="Text 13"/>
          <p:cNvSpPr/>
          <p:nvPr/>
        </p:nvSpPr>
        <p:spPr>
          <a:xfrm>
            <a:off x="4937760" y="2286000"/>
            <a:ext cx="1417320" cy="1417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Shop</a:t>
            </a:r>
            <a:endParaRPr lang="en-US" sz="1300" dirty="0"/>
          </a:p>
        </p:txBody>
      </p:sp>
      <p:sp>
        <p:nvSpPr>
          <p:cNvPr id="17" name="Text 14"/>
          <p:cNvSpPr/>
          <p:nvPr/>
        </p:nvSpPr>
        <p:spPr>
          <a:xfrm>
            <a:off x="6355080" y="2286000"/>
            <a:ext cx="731520" cy="1417320"/>
          </a:xfrm>
          <a:prstGeom prst="rect">
            <a:avLst/>
          </a:prstGeom>
          <a:noFill/>
          <a:ln/>
        </p:spPr>
        <p:txBody>
          <a:bodyPr wrap="square" lIns="0" tIns="0" rIns="0" bIns="0" rtlCol="0" anchor="ctr"/>
          <a:lstStyle/>
          <a:p>
            <a:pPr algn="ctr" indent="0" marL="0">
              <a:buNone/>
            </a:pPr>
            <a:r>
              <a:rPr lang="en-US" sz="2600" b="1" dirty="0">
                <a:solidFill>
                  <a:srgbClr val="5B6770"/>
                </a:solidFill>
                <a:latin typeface="Arial" pitchFamily="34" charset="0"/>
                <a:ea typeface="Arial" pitchFamily="34" charset="-122"/>
                <a:cs typeface="Arial" pitchFamily="34" charset="-120"/>
              </a:rPr>
              <a:t>→</a:t>
            </a:r>
            <a:endParaRPr lang="en-US" sz="2600" dirty="0"/>
          </a:p>
        </p:txBody>
      </p:sp>
      <p:sp>
        <p:nvSpPr>
          <p:cNvPr id="18" name="Shape 15"/>
          <p:cNvSpPr/>
          <p:nvPr/>
        </p:nvSpPr>
        <p:spPr>
          <a:xfrm>
            <a:off x="7086600" y="2286000"/>
            <a:ext cx="1417320" cy="1417320"/>
          </a:xfrm>
          <a:prstGeom prst="ellipse">
            <a:avLst/>
          </a:prstGeom>
          <a:solidFill>
            <a:srgbClr val="02C39A"/>
          </a:solidFill>
          <a:ln/>
          <a:effectLst>
            <a:outerShdw sx="100000" sy="100000" kx="0" ky="0" algn="bl" rotWithShape="0" blurRad="76200" dist="25400" dir="2700000">
              <a:srgbClr val="000000">
                <a:alpha val="12000"/>
              </a:srgbClr>
            </a:outerShdw>
          </a:effectLst>
        </p:spPr>
      </p:sp>
      <p:sp>
        <p:nvSpPr>
          <p:cNvPr id="19" name="Text 16"/>
          <p:cNvSpPr/>
          <p:nvPr/>
        </p:nvSpPr>
        <p:spPr>
          <a:xfrm>
            <a:off x="7086600" y="2286000"/>
            <a:ext cx="1417320" cy="1417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You</a:t>
            </a:r>
            <a:endParaRPr lang="en-US" sz="1300" dirty="0"/>
          </a:p>
        </p:txBody>
      </p:sp>
      <p:sp>
        <p:nvSpPr>
          <p:cNvPr id="20" name="Shape 17"/>
          <p:cNvSpPr/>
          <p:nvPr/>
        </p:nvSpPr>
        <p:spPr>
          <a:xfrm>
            <a:off x="457200" y="3977640"/>
            <a:ext cx="8229600" cy="777240"/>
          </a:xfrm>
          <a:prstGeom prst="roundRect">
            <a:avLst>
              <a:gd name="adj" fmla="val 10588"/>
            </a:avLst>
          </a:prstGeom>
          <a:solidFill>
            <a:srgbClr val="E6F7F2"/>
          </a:solidFill>
          <a:ln/>
          <a:effectLst>
            <a:outerShdw sx="100000" sy="100000" kx="0" ky="0" algn="bl" rotWithShape="0" blurRad="76200" dist="25400" dir="2700000">
              <a:srgbClr val="000000">
                <a:alpha val="12000"/>
              </a:srgbClr>
            </a:outerShdw>
          </a:effectLst>
        </p:spPr>
      </p:sp>
      <p:sp>
        <p:nvSpPr>
          <p:cNvPr id="21" name="Text 18"/>
          <p:cNvSpPr/>
          <p:nvPr/>
        </p:nvSpPr>
        <p:spPr>
          <a:xfrm>
            <a:off x="621792" y="4069080"/>
            <a:ext cx="7900416" cy="594360"/>
          </a:xfrm>
          <a:prstGeom prst="rect">
            <a:avLst/>
          </a:prstGeom>
          <a:noFill/>
          <a:ln/>
        </p:spPr>
        <p:txBody>
          <a:bodyPr wrap="square" lIns="0" tIns="0" rIns="0" bIns="0" rtlCol="0" anchor="ctr"/>
          <a:lstStyle/>
          <a:p>
            <a:pPr algn="l" indent="0" marL="0">
              <a:buNone/>
            </a:pPr>
            <a:r>
              <a:rPr lang="en-US" sz="1300" b="1" dirty="0">
                <a:solidFill>
                  <a:srgbClr val="065A82"/>
                </a:solidFill>
                <a:latin typeface="Arial" pitchFamily="34" charset="0"/>
                <a:ea typeface="Arial" pitchFamily="34" charset="-122"/>
                <a:cs typeface="Arial" pitchFamily="34" charset="-120"/>
              </a:rPr>
              <a:t>Scale check:  </a:t>
            </a:r>
            <a:pPr algn="l" indent="0" marL="0">
              <a:buNone/>
            </a:pPr>
            <a:r>
              <a:rPr lang="en-US" sz="1300" dirty="0">
                <a:solidFill>
                  <a:srgbClr val="3A4149"/>
                </a:solidFill>
                <a:latin typeface="Arial" pitchFamily="34" charset="0"/>
                <a:ea typeface="Arial" pitchFamily="34" charset="-122"/>
                <a:cs typeface="Arial" pitchFamily="34" charset="-120"/>
              </a:rPr>
              <a:t>about 2 billion t-shirts are sold around the world every year (TED-Ed). Every single one makes a journey like this.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01168"/>
            <a:ext cx="566928" cy="566928"/>
          </a:xfrm>
          <a:prstGeom prst="ellipse">
            <a:avLst/>
          </a:prstGeom>
          <a:solidFill>
            <a:srgbClr val="065A82"/>
          </a:solidFill>
          <a:ln/>
        </p:spPr>
      </p:sp>
      <p:sp>
        <p:nvSpPr>
          <p:cNvPr id="3" name="Text 1"/>
          <p:cNvSpPr/>
          <p:nvPr/>
        </p:nvSpPr>
        <p:spPr>
          <a:xfrm>
            <a:off x="8275320" y="201168"/>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L19</a:t>
            </a:r>
            <a:endParaRPr lang="en-US" sz="1200" dirty="0"/>
          </a:p>
        </p:txBody>
      </p:sp>
      <p:sp>
        <p:nvSpPr>
          <p:cNvPr id="4" name="Text 2"/>
          <p:cNvSpPr/>
          <p:nvPr/>
        </p:nvSpPr>
        <p:spPr>
          <a:xfrm>
            <a:off x="457200" y="219456"/>
            <a:ext cx="7680960" cy="548640"/>
          </a:xfrm>
          <a:prstGeom prst="rect">
            <a:avLst/>
          </a:prstGeom>
          <a:noFill/>
          <a:ln/>
        </p:spPr>
        <p:txBody>
          <a:bodyPr wrap="square" lIns="0" tIns="0" rIns="0" bIns="0" rtlCol="0" anchor="ctr"/>
          <a:lstStyle/>
          <a:p>
            <a:pPr indent="0" marL="0">
              <a:buNone/>
            </a:pPr>
            <a:r>
              <a:rPr lang="en-US" sz="2200" b="1" dirty="0">
                <a:solidFill>
                  <a:srgbClr val="065A82"/>
                </a:solidFill>
                <a:latin typeface="Arial" pitchFamily="34" charset="0"/>
                <a:ea typeface="Arial" pitchFamily="34" charset="-122"/>
                <a:cs typeface="Arial" pitchFamily="34" charset="-120"/>
              </a:rPr>
              <a:t>The t-shirt’s journey — stages 1 to 4 (making)</a:t>
            </a:r>
            <a:endParaRPr lang="en-US" sz="2200" dirty="0"/>
          </a:p>
        </p:txBody>
      </p:sp>
      <p:sp>
        <p:nvSpPr>
          <p:cNvPr id="5" name="Text 3"/>
          <p:cNvSpPr/>
          <p:nvPr/>
        </p:nvSpPr>
        <p:spPr>
          <a:xfrm>
            <a:off x="457200" y="4873752"/>
            <a:ext cx="5486400" cy="228600"/>
          </a:xfrm>
          <a:prstGeom prst="rect">
            <a:avLst/>
          </a:prstGeom>
          <a:noFill/>
          <a:ln/>
        </p:spPr>
        <p:txBody>
          <a:bodyPr wrap="square" lIns="0" tIns="0" rIns="0" bIns="0" rtlCol="0" anchor="ctr"/>
          <a:lstStyle/>
          <a:p>
            <a:pPr indent="0" marL="0">
              <a:buNone/>
            </a:pPr>
            <a:r>
              <a:rPr lang="en-US" sz="900" dirty="0">
                <a:solidFill>
                  <a:srgbClr val="9AA5B1"/>
                </a:solidFill>
                <a:latin typeface="Arial" pitchFamily="34" charset="0"/>
                <a:ea typeface="Arial" pitchFamily="34" charset="-122"/>
                <a:cs typeface="Arial" pitchFamily="34" charset="-120"/>
              </a:rPr>
              <a:t>Stage 4 Geography — Interconnections and Trade</a:t>
            </a:r>
            <a:endParaRPr lang="en-US" sz="900" dirty="0"/>
          </a:p>
        </p:txBody>
      </p:sp>
      <p:sp>
        <p:nvSpPr>
          <p:cNvPr id="7" name="Shape 4"/>
          <p:cNvSpPr/>
          <p:nvPr/>
        </p:nvSpPr>
        <p:spPr>
          <a:xfrm>
            <a:off x="566928" y="1481328"/>
            <a:ext cx="658368" cy="658368"/>
          </a:xfrm>
          <a:prstGeom prst="ellipse">
            <a:avLst/>
          </a:prstGeom>
          <a:solidFill>
            <a:srgbClr val="1C7293"/>
          </a:solidFill>
          <a:ln/>
        </p:spPr>
      </p:sp>
      <p:sp>
        <p:nvSpPr>
          <p:cNvPr id="8" name="Text 5"/>
          <p:cNvSpPr/>
          <p:nvPr/>
        </p:nvSpPr>
        <p:spPr>
          <a:xfrm>
            <a:off x="566928" y="1481328"/>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Shape 6"/>
          <p:cNvSpPr/>
          <p:nvPr/>
        </p:nvSpPr>
        <p:spPr>
          <a:xfrm>
            <a:off x="1325880" y="914400"/>
            <a:ext cx="3246120" cy="1783080"/>
          </a:xfrm>
          <a:prstGeom prst="roundRect">
            <a:avLst>
              <a:gd name="adj" fmla="val 4615"/>
            </a:avLst>
          </a:prstGeom>
          <a:solidFill>
            <a:srgbClr val="EAF3F8"/>
          </a:solidFill>
          <a:ln/>
          <a:effectLst>
            <a:outerShdw sx="100000" sy="100000" kx="0" ky="0" algn="bl" rotWithShape="0" blurRad="76200" dist="25400" dir="2700000">
              <a:srgbClr val="000000">
                <a:alpha val="12000"/>
              </a:srgbClr>
            </a:outerShdw>
          </a:effectLst>
        </p:spPr>
      </p:sp>
      <p:sp>
        <p:nvSpPr>
          <p:cNvPr id="10" name="Text 7"/>
          <p:cNvSpPr/>
          <p:nvPr/>
        </p:nvSpPr>
        <p:spPr>
          <a:xfrm>
            <a:off x="1490472" y="1005840"/>
            <a:ext cx="2916936" cy="1600200"/>
          </a:xfrm>
          <a:prstGeom prst="rect">
            <a:avLst/>
          </a:prstGeom>
          <a:noFill/>
          <a:ln/>
        </p:spPr>
        <p:txBody>
          <a:bodyPr wrap="square" lIns="0" tIns="0" rIns="0" bIns="0" rtlCol="0" anchor="ctr"/>
          <a:lstStyle/>
          <a:p>
            <a:pPr algn="l" indent="0" marL="0">
              <a:buNone/>
            </a:pPr>
            <a:r>
              <a:rPr lang="en-US" sz="1300" b="1" dirty="0">
                <a:solidFill>
                  <a:srgbClr val="065A82"/>
                </a:solidFill>
                <a:latin typeface="Arial" pitchFamily="34" charset="0"/>
                <a:ea typeface="Arial" pitchFamily="34" charset="-122"/>
                <a:cs typeface="Arial" pitchFamily="34" charset="-120"/>
              </a:rPr>
              <a:t>Cotton farm
</a:t>
            </a:r>
            <a:endParaRPr lang="en-US" sz="1300" dirty="0"/>
          </a:p>
          <a:p>
            <a:pPr algn="l" indent="0" marL="0">
              <a:buNone/>
            </a:pPr>
            <a:r>
              <a:rPr lang="en-US" sz="1100" dirty="0">
                <a:solidFill>
                  <a:srgbClr val="3A4149"/>
                </a:solidFill>
                <a:latin typeface="Arial" pitchFamily="34" charset="0"/>
                <a:ea typeface="Arial" pitchFamily="34" charset="-122"/>
                <a:cs typeface="Arial" pitchFamily="34" charset="-120"/>
              </a:rPr>
              <a:t>Cotton is grown and picked — USA, China, India. A thirsty crop: a commonly cited estimate (WWF) is roughly 2,700 litres of water for one shirt.</a:t>
            </a:r>
            <a:endParaRPr lang="en-US" sz="1300" dirty="0"/>
          </a:p>
        </p:txBody>
      </p:sp>
      <p:sp>
        <p:nvSpPr>
          <p:cNvPr id="11" name="Shape 8"/>
          <p:cNvSpPr/>
          <p:nvPr/>
        </p:nvSpPr>
        <p:spPr>
          <a:xfrm>
            <a:off x="4818888" y="1481328"/>
            <a:ext cx="658368" cy="658368"/>
          </a:xfrm>
          <a:prstGeom prst="ellipse">
            <a:avLst/>
          </a:prstGeom>
          <a:solidFill>
            <a:srgbClr val="065A82"/>
          </a:solidFill>
          <a:ln/>
        </p:spPr>
      </p:sp>
      <p:sp>
        <p:nvSpPr>
          <p:cNvPr id="12" name="Text 9"/>
          <p:cNvSpPr/>
          <p:nvPr/>
        </p:nvSpPr>
        <p:spPr>
          <a:xfrm>
            <a:off x="4818888" y="1481328"/>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Shape 10"/>
          <p:cNvSpPr/>
          <p:nvPr/>
        </p:nvSpPr>
        <p:spPr>
          <a:xfrm>
            <a:off x="5577840" y="914400"/>
            <a:ext cx="3246120" cy="1783080"/>
          </a:xfrm>
          <a:prstGeom prst="roundRect">
            <a:avLst>
              <a:gd name="adj" fmla="val 4615"/>
            </a:avLst>
          </a:prstGeom>
          <a:solidFill>
            <a:srgbClr val="E6F7F2"/>
          </a:solidFill>
          <a:ln/>
          <a:effectLst>
            <a:outerShdw sx="100000" sy="100000" kx="0" ky="0" algn="bl" rotWithShape="0" blurRad="76200" dist="25400" dir="2700000">
              <a:srgbClr val="000000">
                <a:alpha val="12000"/>
              </a:srgbClr>
            </a:outerShdw>
          </a:effectLst>
        </p:spPr>
      </p:sp>
      <p:sp>
        <p:nvSpPr>
          <p:cNvPr id="14" name="Text 11"/>
          <p:cNvSpPr/>
          <p:nvPr/>
        </p:nvSpPr>
        <p:spPr>
          <a:xfrm>
            <a:off x="5742432" y="1005840"/>
            <a:ext cx="2916936" cy="1600200"/>
          </a:xfrm>
          <a:prstGeom prst="rect">
            <a:avLst/>
          </a:prstGeom>
          <a:noFill/>
          <a:ln/>
        </p:spPr>
        <p:txBody>
          <a:bodyPr wrap="square" lIns="0" tIns="0" rIns="0" bIns="0" rtlCol="0" anchor="ctr"/>
          <a:lstStyle/>
          <a:p>
            <a:pPr algn="l" indent="0" marL="0">
              <a:buNone/>
            </a:pPr>
            <a:r>
              <a:rPr lang="en-US" sz="1300" b="1" dirty="0">
                <a:solidFill>
                  <a:srgbClr val="065A82"/>
                </a:solidFill>
                <a:latin typeface="Arial" pitchFamily="34" charset="0"/>
                <a:ea typeface="Arial" pitchFamily="34" charset="-122"/>
                <a:cs typeface="Arial" pitchFamily="34" charset="-120"/>
              </a:rPr>
              <a:t>Spinning + weaving
</a:t>
            </a:r>
            <a:endParaRPr lang="en-US" sz="1300" dirty="0"/>
          </a:p>
          <a:p>
            <a:pPr algn="l" indent="0" marL="0">
              <a:buNone/>
            </a:pPr>
            <a:r>
              <a:rPr lang="en-US" sz="1100" dirty="0">
                <a:solidFill>
                  <a:srgbClr val="3A4149"/>
                </a:solidFill>
                <a:latin typeface="Arial" pitchFamily="34" charset="0"/>
                <a:ea typeface="Arial" pitchFamily="34" charset="-122"/>
                <a:cs typeface="Arial" pitchFamily="34" charset="-120"/>
              </a:rPr>
              <a:t>Fibre is spun into thread, then woven or knitted into fabric — often in China or India.</a:t>
            </a:r>
            <a:endParaRPr lang="en-US" sz="1300" dirty="0"/>
          </a:p>
        </p:txBody>
      </p:sp>
      <p:sp>
        <p:nvSpPr>
          <p:cNvPr id="15" name="Shape 12"/>
          <p:cNvSpPr/>
          <p:nvPr/>
        </p:nvSpPr>
        <p:spPr>
          <a:xfrm>
            <a:off x="566928" y="3401568"/>
            <a:ext cx="658368" cy="658368"/>
          </a:xfrm>
          <a:prstGeom prst="ellipse">
            <a:avLst/>
          </a:prstGeom>
          <a:solidFill>
            <a:srgbClr val="21295C"/>
          </a:solidFill>
          <a:ln/>
        </p:spPr>
      </p:sp>
      <p:sp>
        <p:nvSpPr>
          <p:cNvPr id="16" name="Text 13"/>
          <p:cNvSpPr/>
          <p:nvPr/>
        </p:nvSpPr>
        <p:spPr>
          <a:xfrm>
            <a:off x="566928" y="3401568"/>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Shape 14"/>
          <p:cNvSpPr/>
          <p:nvPr/>
        </p:nvSpPr>
        <p:spPr>
          <a:xfrm>
            <a:off x="1325880" y="2834640"/>
            <a:ext cx="3246120" cy="1783080"/>
          </a:xfrm>
          <a:prstGeom prst="roundRect">
            <a:avLst>
              <a:gd name="adj" fmla="val 4615"/>
            </a:avLst>
          </a:prstGeom>
          <a:solidFill>
            <a:srgbClr val="EAF3F8"/>
          </a:solidFill>
          <a:ln/>
          <a:effectLst>
            <a:outerShdw sx="100000" sy="100000" kx="0" ky="0" algn="bl" rotWithShape="0" blurRad="76200" dist="25400" dir="2700000">
              <a:srgbClr val="000000">
                <a:alpha val="12000"/>
              </a:srgbClr>
            </a:outerShdw>
          </a:effectLst>
        </p:spPr>
      </p:sp>
      <p:sp>
        <p:nvSpPr>
          <p:cNvPr id="18" name="Text 15"/>
          <p:cNvSpPr/>
          <p:nvPr/>
        </p:nvSpPr>
        <p:spPr>
          <a:xfrm>
            <a:off x="1490472" y="2926080"/>
            <a:ext cx="2916936" cy="1600200"/>
          </a:xfrm>
          <a:prstGeom prst="rect">
            <a:avLst/>
          </a:prstGeom>
          <a:noFill/>
          <a:ln/>
        </p:spPr>
        <p:txBody>
          <a:bodyPr wrap="square" lIns="0" tIns="0" rIns="0" bIns="0" rtlCol="0" anchor="ctr"/>
          <a:lstStyle/>
          <a:p>
            <a:pPr algn="l" indent="0" marL="0">
              <a:buNone/>
            </a:pPr>
            <a:r>
              <a:rPr lang="en-US" sz="1300" b="1" dirty="0">
                <a:solidFill>
                  <a:srgbClr val="065A82"/>
                </a:solidFill>
                <a:latin typeface="Arial" pitchFamily="34" charset="0"/>
                <a:ea typeface="Arial" pitchFamily="34" charset="-122"/>
                <a:cs typeface="Arial" pitchFamily="34" charset="-120"/>
              </a:rPr>
              <a:t>Dyeing
</a:t>
            </a:r>
            <a:endParaRPr lang="en-US" sz="1300" dirty="0"/>
          </a:p>
          <a:p>
            <a:pPr algn="l" indent="0" marL="0">
              <a:buNone/>
            </a:pPr>
            <a:r>
              <a:rPr lang="en-US" sz="1100" dirty="0">
                <a:solidFill>
                  <a:srgbClr val="3A4149"/>
                </a:solidFill>
                <a:latin typeface="Arial" pitchFamily="34" charset="0"/>
                <a:ea typeface="Arial" pitchFamily="34" charset="-122"/>
                <a:cs typeface="Arial" pitchFamily="34" charset="-120"/>
              </a:rPr>
              <a:t>Fabric gets its colour using dyes and chemicals — and a lot more water.</a:t>
            </a:r>
            <a:endParaRPr lang="en-US" sz="1300" dirty="0"/>
          </a:p>
        </p:txBody>
      </p:sp>
      <p:sp>
        <p:nvSpPr>
          <p:cNvPr id="19" name="Shape 16"/>
          <p:cNvSpPr/>
          <p:nvPr/>
        </p:nvSpPr>
        <p:spPr>
          <a:xfrm>
            <a:off x="4818888" y="3401568"/>
            <a:ext cx="658368" cy="658368"/>
          </a:xfrm>
          <a:prstGeom prst="ellipse">
            <a:avLst/>
          </a:prstGeom>
          <a:solidFill>
            <a:srgbClr val="1C7293"/>
          </a:solidFill>
          <a:ln/>
        </p:spPr>
      </p:sp>
      <p:sp>
        <p:nvSpPr>
          <p:cNvPr id="20" name="Text 17"/>
          <p:cNvSpPr/>
          <p:nvPr/>
        </p:nvSpPr>
        <p:spPr>
          <a:xfrm>
            <a:off x="4818888" y="3401568"/>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1" name="Shape 18"/>
          <p:cNvSpPr/>
          <p:nvPr/>
        </p:nvSpPr>
        <p:spPr>
          <a:xfrm>
            <a:off x="5577840" y="2834640"/>
            <a:ext cx="3246120" cy="1783080"/>
          </a:xfrm>
          <a:prstGeom prst="roundRect">
            <a:avLst>
              <a:gd name="adj" fmla="val 4615"/>
            </a:avLst>
          </a:prstGeom>
          <a:solidFill>
            <a:srgbClr val="E6F7F2"/>
          </a:solidFill>
          <a:ln/>
          <a:effectLst>
            <a:outerShdw sx="100000" sy="100000" kx="0" ky="0" algn="bl" rotWithShape="0" blurRad="76200" dist="25400" dir="2700000">
              <a:srgbClr val="000000">
                <a:alpha val="12000"/>
              </a:srgbClr>
            </a:outerShdw>
          </a:effectLst>
        </p:spPr>
      </p:sp>
      <p:sp>
        <p:nvSpPr>
          <p:cNvPr id="22" name="Text 19"/>
          <p:cNvSpPr/>
          <p:nvPr/>
        </p:nvSpPr>
        <p:spPr>
          <a:xfrm>
            <a:off x="5742432" y="2926080"/>
            <a:ext cx="2916936" cy="1600200"/>
          </a:xfrm>
          <a:prstGeom prst="rect">
            <a:avLst/>
          </a:prstGeom>
          <a:noFill/>
          <a:ln/>
        </p:spPr>
        <p:txBody>
          <a:bodyPr wrap="square" lIns="0" tIns="0" rIns="0" bIns="0" rtlCol="0" anchor="ctr"/>
          <a:lstStyle/>
          <a:p>
            <a:pPr algn="l" indent="0" marL="0">
              <a:buNone/>
            </a:pPr>
            <a:r>
              <a:rPr lang="en-US" sz="1300" b="1" dirty="0">
                <a:solidFill>
                  <a:srgbClr val="065A82"/>
                </a:solidFill>
                <a:latin typeface="Arial" pitchFamily="34" charset="0"/>
                <a:ea typeface="Arial" pitchFamily="34" charset="-122"/>
                <a:cs typeface="Arial" pitchFamily="34" charset="-120"/>
              </a:rPr>
              <a:t>Garment factory
</a:t>
            </a:r>
            <a:endParaRPr lang="en-US" sz="1300" dirty="0"/>
          </a:p>
          <a:p>
            <a:pPr algn="l" indent="0" marL="0">
              <a:buNone/>
            </a:pPr>
            <a:r>
              <a:rPr lang="en-US" sz="1100" dirty="0">
                <a:solidFill>
                  <a:srgbClr val="3A4149"/>
                </a:solidFill>
                <a:latin typeface="Arial" pitchFamily="34" charset="0"/>
                <a:ea typeface="Arial" pitchFamily="34" charset="-122"/>
                <a:cs typeface="Arial" pitchFamily="34" charset="-120"/>
              </a:rPr>
              <a:t>Fabric is cut and sewn into t-shirts — Bangladesh, Vietnam. This is the country on your tag.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01168"/>
            <a:ext cx="566928" cy="566928"/>
          </a:xfrm>
          <a:prstGeom prst="ellipse">
            <a:avLst/>
          </a:prstGeom>
          <a:solidFill>
            <a:srgbClr val="065A82"/>
          </a:solidFill>
          <a:ln/>
        </p:spPr>
      </p:sp>
      <p:sp>
        <p:nvSpPr>
          <p:cNvPr id="3" name="Text 1"/>
          <p:cNvSpPr/>
          <p:nvPr/>
        </p:nvSpPr>
        <p:spPr>
          <a:xfrm>
            <a:off x="8275320" y="201168"/>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L19</a:t>
            </a:r>
            <a:endParaRPr lang="en-US" sz="1200" dirty="0"/>
          </a:p>
        </p:txBody>
      </p:sp>
      <p:sp>
        <p:nvSpPr>
          <p:cNvPr id="4" name="Text 2"/>
          <p:cNvSpPr/>
          <p:nvPr/>
        </p:nvSpPr>
        <p:spPr>
          <a:xfrm>
            <a:off x="457200" y="219456"/>
            <a:ext cx="7680960" cy="548640"/>
          </a:xfrm>
          <a:prstGeom prst="rect">
            <a:avLst/>
          </a:prstGeom>
          <a:noFill/>
          <a:ln/>
        </p:spPr>
        <p:txBody>
          <a:bodyPr wrap="square" lIns="0" tIns="0" rIns="0" bIns="0" rtlCol="0" anchor="ctr"/>
          <a:lstStyle/>
          <a:p>
            <a:pPr indent="0" marL="0">
              <a:buNone/>
            </a:pPr>
            <a:r>
              <a:rPr lang="en-US" sz="2200" b="1" dirty="0">
                <a:solidFill>
                  <a:srgbClr val="065A82"/>
                </a:solidFill>
                <a:latin typeface="Arial" pitchFamily="34" charset="0"/>
                <a:ea typeface="Arial" pitchFamily="34" charset="-122"/>
                <a:cs typeface="Arial" pitchFamily="34" charset="-120"/>
              </a:rPr>
              <a:t>The t-shirt’s journey — stages 5 to 8 (moving + using)</a:t>
            </a:r>
            <a:endParaRPr lang="en-US" sz="2200" dirty="0"/>
          </a:p>
        </p:txBody>
      </p:sp>
      <p:sp>
        <p:nvSpPr>
          <p:cNvPr id="5" name="Text 3"/>
          <p:cNvSpPr/>
          <p:nvPr/>
        </p:nvSpPr>
        <p:spPr>
          <a:xfrm>
            <a:off x="457200" y="4873752"/>
            <a:ext cx="5486400" cy="228600"/>
          </a:xfrm>
          <a:prstGeom prst="rect">
            <a:avLst/>
          </a:prstGeom>
          <a:noFill/>
          <a:ln/>
        </p:spPr>
        <p:txBody>
          <a:bodyPr wrap="square" lIns="0" tIns="0" rIns="0" bIns="0" rtlCol="0" anchor="ctr"/>
          <a:lstStyle/>
          <a:p>
            <a:pPr indent="0" marL="0">
              <a:buNone/>
            </a:pPr>
            <a:r>
              <a:rPr lang="en-US" sz="900" dirty="0">
                <a:solidFill>
                  <a:srgbClr val="9AA5B1"/>
                </a:solidFill>
                <a:latin typeface="Arial" pitchFamily="34" charset="0"/>
                <a:ea typeface="Arial" pitchFamily="34" charset="-122"/>
                <a:cs typeface="Arial" pitchFamily="34" charset="-120"/>
              </a:rPr>
              <a:t>Stage 4 Geography — Interconnections and Trade</a:t>
            </a:r>
            <a:endParaRPr lang="en-US" sz="900" dirty="0"/>
          </a:p>
        </p:txBody>
      </p:sp>
      <p:sp>
        <p:nvSpPr>
          <p:cNvPr id="7" name="Shape 4"/>
          <p:cNvSpPr/>
          <p:nvPr/>
        </p:nvSpPr>
        <p:spPr>
          <a:xfrm>
            <a:off x="566928" y="1481328"/>
            <a:ext cx="658368" cy="658368"/>
          </a:xfrm>
          <a:prstGeom prst="ellipse">
            <a:avLst/>
          </a:prstGeom>
          <a:solidFill>
            <a:srgbClr val="065A82"/>
          </a:solidFill>
          <a:ln/>
        </p:spPr>
      </p:sp>
      <p:sp>
        <p:nvSpPr>
          <p:cNvPr id="8" name="Text 5"/>
          <p:cNvSpPr/>
          <p:nvPr/>
        </p:nvSpPr>
        <p:spPr>
          <a:xfrm>
            <a:off x="566928" y="1481328"/>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9" name="Shape 6"/>
          <p:cNvSpPr/>
          <p:nvPr/>
        </p:nvSpPr>
        <p:spPr>
          <a:xfrm>
            <a:off x="1325880" y="914400"/>
            <a:ext cx="3246120" cy="1783080"/>
          </a:xfrm>
          <a:prstGeom prst="roundRect">
            <a:avLst>
              <a:gd name="adj" fmla="val 4615"/>
            </a:avLst>
          </a:prstGeom>
          <a:solidFill>
            <a:srgbClr val="EAF3F8"/>
          </a:solidFill>
          <a:ln/>
          <a:effectLst>
            <a:outerShdw sx="100000" sy="100000" kx="0" ky="0" algn="bl" rotWithShape="0" blurRad="76200" dist="25400" dir="2700000">
              <a:srgbClr val="000000">
                <a:alpha val="12000"/>
              </a:srgbClr>
            </a:outerShdw>
          </a:effectLst>
        </p:spPr>
      </p:sp>
      <p:sp>
        <p:nvSpPr>
          <p:cNvPr id="10" name="Text 7"/>
          <p:cNvSpPr/>
          <p:nvPr/>
        </p:nvSpPr>
        <p:spPr>
          <a:xfrm>
            <a:off x="1490472" y="1005840"/>
            <a:ext cx="2916936" cy="1600200"/>
          </a:xfrm>
          <a:prstGeom prst="rect">
            <a:avLst/>
          </a:prstGeom>
          <a:noFill/>
          <a:ln/>
        </p:spPr>
        <p:txBody>
          <a:bodyPr wrap="square" lIns="0" tIns="0" rIns="0" bIns="0" rtlCol="0" anchor="ctr"/>
          <a:lstStyle/>
          <a:p>
            <a:pPr algn="l" indent="0" marL="0">
              <a:buNone/>
            </a:pPr>
            <a:r>
              <a:rPr lang="en-US" sz="1300" b="1" dirty="0">
                <a:solidFill>
                  <a:srgbClr val="065A82"/>
                </a:solidFill>
                <a:latin typeface="Arial" pitchFamily="34" charset="0"/>
                <a:ea typeface="Arial" pitchFamily="34" charset="-122"/>
                <a:cs typeface="Arial" pitchFamily="34" charset="-120"/>
              </a:rPr>
              <a:t>Shipping
</a:t>
            </a:r>
            <a:endParaRPr lang="en-US" sz="1300" dirty="0"/>
          </a:p>
          <a:p>
            <a:pPr algn="l" indent="0" marL="0">
              <a:buNone/>
            </a:pPr>
            <a:r>
              <a:rPr lang="en-US" sz="1100" dirty="0">
                <a:solidFill>
                  <a:srgbClr val="3A4149"/>
                </a:solidFill>
                <a:latin typeface="Arial" pitchFamily="34" charset="0"/>
                <a:ea typeface="Arial" pitchFamily="34" charset="-122"/>
                <a:cs typeface="Arial" pitchFamily="34" charset="-120"/>
              </a:rPr>
              <a:t>Folded, boxed and stacked in containers, shirts cross oceans on container ships.</a:t>
            </a:r>
            <a:endParaRPr lang="en-US" sz="1300" dirty="0"/>
          </a:p>
        </p:txBody>
      </p:sp>
      <p:sp>
        <p:nvSpPr>
          <p:cNvPr id="11" name="Shape 8"/>
          <p:cNvSpPr/>
          <p:nvPr/>
        </p:nvSpPr>
        <p:spPr>
          <a:xfrm>
            <a:off x="4818888" y="1481328"/>
            <a:ext cx="658368" cy="658368"/>
          </a:xfrm>
          <a:prstGeom prst="ellipse">
            <a:avLst/>
          </a:prstGeom>
          <a:solidFill>
            <a:srgbClr val="21295C"/>
          </a:solidFill>
          <a:ln/>
        </p:spPr>
      </p:sp>
      <p:sp>
        <p:nvSpPr>
          <p:cNvPr id="12" name="Text 9"/>
          <p:cNvSpPr/>
          <p:nvPr/>
        </p:nvSpPr>
        <p:spPr>
          <a:xfrm>
            <a:off x="4818888" y="1481328"/>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13" name="Shape 10"/>
          <p:cNvSpPr/>
          <p:nvPr/>
        </p:nvSpPr>
        <p:spPr>
          <a:xfrm>
            <a:off x="5577840" y="914400"/>
            <a:ext cx="3246120" cy="1783080"/>
          </a:xfrm>
          <a:prstGeom prst="roundRect">
            <a:avLst>
              <a:gd name="adj" fmla="val 4615"/>
            </a:avLst>
          </a:prstGeom>
          <a:solidFill>
            <a:srgbClr val="E6F7F2"/>
          </a:solidFill>
          <a:ln/>
          <a:effectLst>
            <a:outerShdw sx="100000" sy="100000" kx="0" ky="0" algn="bl" rotWithShape="0" blurRad="76200" dist="25400" dir="2700000">
              <a:srgbClr val="000000">
                <a:alpha val="12000"/>
              </a:srgbClr>
            </a:outerShdw>
          </a:effectLst>
        </p:spPr>
      </p:sp>
      <p:sp>
        <p:nvSpPr>
          <p:cNvPr id="14" name="Text 11"/>
          <p:cNvSpPr/>
          <p:nvPr/>
        </p:nvSpPr>
        <p:spPr>
          <a:xfrm>
            <a:off x="5742432" y="1005840"/>
            <a:ext cx="2916936" cy="1600200"/>
          </a:xfrm>
          <a:prstGeom prst="rect">
            <a:avLst/>
          </a:prstGeom>
          <a:noFill/>
          <a:ln/>
        </p:spPr>
        <p:txBody>
          <a:bodyPr wrap="square" lIns="0" tIns="0" rIns="0" bIns="0" rtlCol="0" anchor="ctr"/>
          <a:lstStyle/>
          <a:p>
            <a:pPr algn="l" indent="0" marL="0">
              <a:buNone/>
            </a:pPr>
            <a:r>
              <a:rPr lang="en-US" sz="1300" b="1" dirty="0">
                <a:solidFill>
                  <a:srgbClr val="065A82"/>
                </a:solidFill>
                <a:latin typeface="Arial" pitchFamily="34" charset="0"/>
                <a:ea typeface="Arial" pitchFamily="34" charset="-122"/>
                <a:cs typeface="Arial" pitchFamily="34" charset="-120"/>
              </a:rPr>
              <a:t>Retail
</a:t>
            </a:r>
            <a:endParaRPr lang="en-US" sz="1300" dirty="0"/>
          </a:p>
          <a:p>
            <a:pPr algn="l" indent="0" marL="0">
              <a:buNone/>
            </a:pPr>
            <a:r>
              <a:rPr lang="en-US" sz="1100" dirty="0">
                <a:solidFill>
                  <a:srgbClr val="3A4149"/>
                </a:solidFill>
                <a:latin typeface="Arial" pitchFamily="34" charset="0"/>
                <a:ea typeface="Arial" pitchFamily="34" charset="-122"/>
                <a:cs typeface="Arial" pitchFamily="34" charset="-120"/>
              </a:rPr>
              <a:t>Sold in shops and online — for us, that means Australia.</a:t>
            </a:r>
            <a:endParaRPr lang="en-US" sz="1300" dirty="0"/>
          </a:p>
        </p:txBody>
      </p:sp>
      <p:sp>
        <p:nvSpPr>
          <p:cNvPr id="15" name="Shape 12"/>
          <p:cNvSpPr/>
          <p:nvPr/>
        </p:nvSpPr>
        <p:spPr>
          <a:xfrm>
            <a:off x="566928" y="3401568"/>
            <a:ext cx="658368" cy="658368"/>
          </a:xfrm>
          <a:prstGeom prst="ellipse">
            <a:avLst/>
          </a:prstGeom>
          <a:solidFill>
            <a:srgbClr val="1C7293"/>
          </a:solidFill>
          <a:ln/>
        </p:spPr>
      </p:sp>
      <p:sp>
        <p:nvSpPr>
          <p:cNvPr id="16" name="Text 13"/>
          <p:cNvSpPr/>
          <p:nvPr/>
        </p:nvSpPr>
        <p:spPr>
          <a:xfrm>
            <a:off x="566928" y="3401568"/>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7</a:t>
            </a:r>
            <a:endParaRPr lang="en-US" sz="2000" dirty="0"/>
          </a:p>
        </p:txBody>
      </p:sp>
      <p:sp>
        <p:nvSpPr>
          <p:cNvPr id="17" name="Shape 14"/>
          <p:cNvSpPr/>
          <p:nvPr/>
        </p:nvSpPr>
        <p:spPr>
          <a:xfrm>
            <a:off x="1325880" y="2834640"/>
            <a:ext cx="3246120" cy="1783080"/>
          </a:xfrm>
          <a:prstGeom prst="roundRect">
            <a:avLst>
              <a:gd name="adj" fmla="val 4615"/>
            </a:avLst>
          </a:prstGeom>
          <a:solidFill>
            <a:srgbClr val="EAF3F8"/>
          </a:solidFill>
          <a:ln/>
          <a:effectLst>
            <a:outerShdw sx="100000" sy="100000" kx="0" ky="0" algn="bl" rotWithShape="0" blurRad="76200" dist="25400" dir="2700000">
              <a:srgbClr val="000000">
                <a:alpha val="12000"/>
              </a:srgbClr>
            </a:outerShdw>
          </a:effectLst>
        </p:spPr>
      </p:sp>
      <p:sp>
        <p:nvSpPr>
          <p:cNvPr id="18" name="Text 15"/>
          <p:cNvSpPr/>
          <p:nvPr/>
        </p:nvSpPr>
        <p:spPr>
          <a:xfrm>
            <a:off x="1490472" y="2926080"/>
            <a:ext cx="2916936" cy="1600200"/>
          </a:xfrm>
          <a:prstGeom prst="rect">
            <a:avLst/>
          </a:prstGeom>
          <a:noFill/>
          <a:ln/>
        </p:spPr>
        <p:txBody>
          <a:bodyPr wrap="square" lIns="0" tIns="0" rIns="0" bIns="0" rtlCol="0" anchor="ctr"/>
          <a:lstStyle/>
          <a:p>
            <a:pPr algn="l" indent="0" marL="0">
              <a:buNone/>
            </a:pPr>
            <a:r>
              <a:rPr lang="en-US" sz="1300" b="1" dirty="0">
                <a:solidFill>
                  <a:srgbClr val="065A82"/>
                </a:solidFill>
                <a:latin typeface="Arial" pitchFamily="34" charset="0"/>
                <a:ea typeface="Arial" pitchFamily="34" charset="-122"/>
                <a:cs typeface="Arial" pitchFamily="34" charset="-120"/>
              </a:rPr>
              <a:t>Use + washing
</a:t>
            </a:r>
            <a:endParaRPr lang="en-US" sz="1300" dirty="0"/>
          </a:p>
          <a:p>
            <a:pPr algn="l" indent="0" marL="0">
              <a:buNone/>
            </a:pPr>
            <a:r>
              <a:rPr lang="en-US" sz="1100" dirty="0">
                <a:solidFill>
                  <a:srgbClr val="3A4149"/>
                </a:solidFill>
                <a:latin typeface="Arial" pitchFamily="34" charset="0"/>
                <a:ea typeface="Arial" pitchFamily="34" charset="-122"/>
                <a:cs typeface="Arial" pitchFamily="34" charset="-120"/>
              </a:rPr>
              <a:t>Years in your wardrobe. Every wash uses water and energy — this stage is you.</a:t>
            </a:r>
            <a:endParaRPr lang="en-US" sz="1300" dirty="0"/>
          </a:p>
        </p:txBody>
      </p:sp>
      <p:sp>
        <p:nvSpPr>
          <p:cNvPr id="19" name="Shape 16"/>
          <p:cNvSpPr/>
          <p:nvPr/>
        </p:nvSpPr>
        <p:spPr>
          <a:xfrm>
            <a:off x="4818888" y="3401568"/>
            <a:ext cx="658368" cy="658368"/>
          </a:xfrm>
          <a:prstGeom prst="ellipse">
            <a:avLst/>
          </a:prstGeom>
          <a:solidFill>
            <a:srgbClr val="065A82"/>
          </a:solidFill>
          <a:ln/>
        </p:spPr>
      </p:sp>
      <p:sp>
        <p:nvSpPr>
          <p:cNvPr id="20" name="Text 17"/>
          <p:cNvSpPr/>
          <p:nvPr/>
        </p:nvSpPr>
        <p:spPr>
          <a:xfrm>
            <a:off x="4818888" y="3401568"/>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8</a:t>
            </a:r>
            <a:endParaRPr lang="en-US" sz="2000" dirty="0"/>
          </a:p>
        </p:txBody>
      </p:sp>
      <p:sp>
        <p:nvSpPr>
          <p:cNvPr id="21" name="Shape 18"/>
          <p:cNvSpPr/>
          <p:nvPr/>
        </p:nvSpPr>
        <p:spPr>
          <a:xfrm>
            <a:off x="5577840" y="2834640"/>
            <a:ext cx="3246120" cy="1783080"/>
          </a:xfrm>
          <a:prstGeom prst="roundRect">
            <a:avLst>
              <a:gd name="adj" fmla="val 4615"/>
            </a:avLst>
          </a:prstGeom>
          <a:solidFill>
            <a:srgbClr val="E6F7F2"/>
          </a:solidFill>
          <a:ln/>
          <a:effectLst>
            <a:outerShdw sx="100000" sy="100000" kx="0" ky="0" algn="bl" rotWithShape="0" blurRad="76200" dist="25400" dir="2700000">
              <a:srgbClr val="000000">
                <a:alpha val="12000"/>
              </a:srgbClr>
            </a:outerShdw>
          </a:effectLst>
        </p:spPr>
      </p:sp>
      <p:sp>
        <p:nvSpPr>
          <p:cNvPr id="22" name="Text 19"/>
          <p:cNvSpPr/>
          <p:nvPr/>
        </p:nvSpPr>
        <p:spPr>
          <a:xfrm>
            <a:off x="5742432" y="2926080"/>
            <a:ext cx="2916936" cy="1600200"/>
          </a:xfrm>
          <a:prstGeom prst="rect">
            <a:avLst/>
          </a:prstGeom>
          <a:noFill/>
          <a:ln/>
        </p:spPr>
        <p:txBody>
          <a:bodyPr wrap="square" lIns="0" tIns="0" rIns="0" bIns="0" rtlCol="0" anchor="ctr"/>
          <a:lstStyle/>
          <a:p>
            <a:pPr algn="l" indent="0" marL="0">
              <a:buNone/>
            </a:pPr>
            <a:r>
              <a:rPr lang="en-US" sz="1300" b="1" dirty="0">
                <a:solidFill>
                  <a:srgbClr val="065A82"/>
                </a:solidFill>
                <a:latin typeface="Arial" pitchFamily="34" charset="0"/>
                <a:ea typeface="Arial" pitchFamily="34" charset="-122"/>
                <a:cs typeface="Arial" pitchFamily="34" charset="-120"/>
              </a:rPr>
              <a:t>Disposal
</a:t>
            </a:r>
            <a:endParaRPr lang="en-US" sz="1300" dirty="0"/>
          </a:p>
          <a:p>
            <a:pPr algn="l" indent="0" marL="0">
              <a:buNone/>
            </a:pPr>
            <a:r>
              <a:rPr lang="en-US" sz="1100" dirty="0">
                <a:solidFill>
                  <a:srgbClr val="3A4149"/>
                </a:solidFill>
                <a:latin typeface="Arial" pitchFamily="34" charset="0"/>
                <a:ea typeface="Arial" pitchFamily="34" charset="-122"/>
                <a:cs typeface="Arial" pitchFamily="34" charset="-120"/>
              </a:rPr>
              <a:t>Thrown away to landfill — or donated, with much used clothing exported and re-sold overseas.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01168"/>
            <a:ext cx="566928" cy="566928"/>
          </a:xfrm>
          <a:prstGeom prst="ellipse">
            <a:avLst/>
          </a:prstGeom>
          <a:solidFill>
            <a:srgbClr val="065A82"/>
          </a:solidFill>
          <a:ln/>
        </p:spPr>
      </p:sp>
      <p:sp>
        <p:nvSpPr>
          <p:cNvPr id="3" name="Text 1"/>
          <p:cNvSpPr/>
          <p:nvPr/>
        </p:nvSpPr>
        <p:spPr>
          <a:xfrm>
            <a:off x="8275320" y="201168"/>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L19</a:t>
            </a:r>
            <a:endParaRPr lang="en-US" sz="1200" dirty="0"/>
          </a:p>
        </p:txBody>
      </p:sp>
      <p:sp>
        <p:nvSpPr>
          <p:cNvPr id="4" name="Text 2"/>
          <p:cNvSpPr/>
          <p:nvPr/>
        </p:nvSpPr>
        <p:spPr>
          <a:xfrm>
            <a:off x="457200" y="219456"/>
            <a:ext cx="7680960" cy="548640"/>
          </a:xfrm>
          <a:prstGeom prst="rect">
            <a:avLst/>
          </a:prstGeom>
          <a:noFill/>
          <a:ln/>
        </p:spPr>
        <p:txBody>
          <a:bodyPr wrap="square" lIns="0" tIns="0" rIns="0" bIns="0" rtlCol="0" anchor="ctr"/>
          <a:lstStyle/>
          <a:p>
            <a:pPr indent="0" marL="0">
              <a:buNone/>
            </a:pPr>
            <a:r>
              <a:rPr lang="en-US" sz="2200" b="1" dirty="0">
                <a:solidFill>
                  <a:srgbClr val="065A82"/>
                </a:solidFill>
                <a:latin typeface="Arial" pitchFamily="34" charset="0"/>
                <a:ea typeface="Arial" pitchFamily="34" charset="-122"/>
                <a:cs typeface="Arial" pitchFamily="34" charset="-120"/>
              </a:rPr>
              <a:t>Worked example — how to annotate a stage</a:t>
            </a:r>
            <a:endParaRPr lang="en-US" sz="2200" dirty="0"/>
          </a:p>
        </p:txBody>
      </p:sp>
      <p:sp>
        <p:nvSpPr>
          <p:cNvPr id="5" name="Text 3"/>
          <p:cNvSpPr/>
          <p:nvPr/>
        </p:nvSpPr>
        <p:spPr>
          <a:xfrm>
            <a:off x="457200" y="4873752"/>
            <a:ext cx="5486400" cy="228600"/>
          </a:xfrm>
          <a:prstGeom prst="rect">
            <a:avLst/>
          </a:prstGeom>
          <a:noFill/>
          <a:ln/>
        </p:spPr>
        <p:txBody>
          <a:bodyPr wrap="square" lIns="0" tIns="0" rIns="0" bIns="0" rtlCol="0" anchor="ctr"/>
          <a:lstStyle/>
          <a:p>
            <a:pPr indent="0" marL="0">
              <a:buNone/>
            </a:pPr>
            <a:r>
              <a:rPr lang="en-US" sz="900" dirty="0">
                <a:solidFill>
                  <a:srgbClr val="9AA5B1"/>
                </a:solidFill>
                <a:latin typeface="Arial" pitchFamily="34" charset="0"/>
                <a:ea typeface="Arial" pitchFamily="34" charset="-122"/>
                <a:cs typeface="Arial" pitchFamily="34" charset="-120"/>
              </a:rPr>
              <a:t>Stage 4 Geography — Interconnections and Trade</a:t>
            </a:r>
            <a:endParaRPr lang="en-US" sz="900" dirty="0"/>
          </a:p>
        </p:txBody>
      </p:sp>
      <p:sp>
        <p:nvSpPr>
          <p:cNvPr id="7" name="Text 4"/>
          <p:cNvSpPr/>
          <p:nvPr/>
        </p:nvSpPr>
        <p:spPr>
          <a:xfrm>
            <a:off x="457200" y="868680"/>
            <a:ext cx="8229600" cy="365760"/>
          </a:xfrm>
          <a:prstGeom prst="rect">
            <a:avLst/>
          </a:prstGeom>
          <a:noFill/>
          <a:ln/>
        </p:spPr>
        <p:txBody>
          <a:bodyPr wrap="square" lIns="0" tIns="0" rIns="0" bIns="0" rtlCol="0" anchor="ctr"/>
          <a:lstStyle/>
          <a:p>
            <a:pPr indent="0" marL="0">
              <a:buNone/>
            </a:pPr>
            <a:r>
              <a:rPr lang="en-US" sz="1300" dirty="0">
                <a:solidFill>
                  <a:srgbClr val="5B6770"/>
                </a:solidFill>
                <a:latin typeface="Arial" pitchFamily="34" charset="0"/>
                <a:ea typeface="Arial" pitchFamily="34" charset="-122"/>
                <a:cs typeface="Arial" pitchFamily="34" charset="-120"/>
              </a:rPr>
              <a:t>Each box on your diagram needs two things: a PLACE and WHAT HAPPENS THERE.</a:t>
            </a:r>
            <a:endParaRPr lang="en-US" sz="1300" dirty="0"/>
          </a:p>
        </p:txBody>
      </p:sp>
      <p:sp>
        <p:nvSpPr>
          <p:cNvPr id="8" name="Shape 5"/>
          <p:cNvSpPr/>
          <p:nvPr/>
        </p:nvSpPr>
        <p:spPr>
          <a:xfrm>
            <a:off x="457200" y="1371600"/>
            <a:ext cx="4023360" cy="2377440"/>
          </a:xfrm>
          <a:prstGeom prst="roundRect">
            <a:avLst>
              <a:gd name="adj" fmla="val 3462"/>
            </a:avLst>
          </a:prstGeom>
          <a:solidFill>
            <a:srgbClr val="E6F7F2"/>
          </a:solidFill>
          <a:ln/>
          <a:effectLst>
            <a:outerShdw sx="100000" sy="100000" kx="0" ky="0" algn="bl" rotWithShape="0" blurRad="76200" dist="25400" dir="2700000">
              <a:srgbClr val="000000">
                <a:alpha val="12000"/>
              </a:srgbClr>
            </a:outerShdw>
          </a:effectLst>
        </p:spPr>
      </p:sp>
      <p:sp>
        <p:nvSpPr>
          <p:cNvPr id="9" name="Text 6"/>
          <p:cNvSpPr/>
          <p:nvPr/>
        </p:nvSpPr>
        <p:spPr>
          <a:xfrm>
            <a:off x="621792" y="1463040"/>
            <a:ext cx="3694176" cy="2194560"/>
          </a:xfrm>
          <a:prstGeom prst="rect">
            <a:avLst/>
          </a:prstGeom>
          <a:noFill/>
          <a:ln/>
        </p:spPr>
        <p:txBody>
          <a:bodyPr wrap="square" lIns="0" tIns="0" rIns="0" bIns="0" rtlCol="0" anchor="ctr"/>
          <a:lstStyle/>
          <a:p>
            <a:pPr algn="l" indent="0" marL="0">
              <a:buNone/>
            </a:pPr>
            <a:r>
              <a:rPr lang="en-US" sz="1300" b="1" dirty="0">
                <a:solidFill>
                  <a:srgbClr val="0B8A6E"/>
                </a:solidFill>
                <a:latin typeface="Arial" pitchFamily="34" charset="0"/>
                <a:ea typeface="Arial" pitchFamily="34" charset="-122"/>
                <a:cs typeface="Arial" pitchFamily="34" charset="-120"/>
              </a:rPr>
              <a:t>✓  Strong annotation
</a:t>
            </a:r>
            <a:endParaRPr lang="en-US" sz="1300" dirty="0"/>
          </a:p>
          <a:p>
            <a:pPr algn="l" indent="0" marL="0">
              <a:buNone/>
            </a:pPr>
            <a:r>
              <a:rPr lang="en-US" sz="1200" b="1" dirty="0">
                <a:solidFill>
                  <a:srgbClr val="21295C"/>
                </a:solidFill>
                <a:latin typeface="Arial" pitchFamily="34" charset="0"/>
                <a:ea typeface="Arial" pitchFamily="34" charset="-122"/>
                <a:cs typeface="Arial" pitchFamily="34" charset="-120"/>
              </a:rPr>
              <a:t>Stage 4 — Garment factory
</a:t>
            </a:r>
            <a:endParaRPr lang="en-US" sz="1300" dirty="0"/>
          </a:p>
          <a:p>
            <a:pPr algn="l" indent="0" marL="0">
              <a:buNone/>
            </a:pPr>
            <a:r>
              <a:rPr lang="en-US" sz="1200" dirty="0">
                <a:solidFill>
                  <a:srgbClr val="3A4149"/>
                </a:solidFill>
                <a:latin typeface="Arial" pitchFamily="34" charset="0"/>
                <a:ea typeface="Arial" pitchFamily="34" charset="-122"/>
                <a:cs typeface="Arial" pitchFamily="34" charset="-120"/>
              </a:rPr>
              <a:t>Place: Dhaka, Bangladesh
</a:t>
            </a:r>
            <a:endParaRPr lang="en-US" sz="1300" dirty="0"/>
          </a:p>
          <a:p>
            <a:pPr algn="l" indent="0" marL="0">
              <a:buNone/>
            </a:pPr>
            <a:r>
              <a:rPr lang="en-US" sz="1200" dirty="0">
                <a:solidFill>
                  <a:srgbClr val="3A4149"/>
                </a:solidFill>
                <a:latin typeface="Arial" pitchFamily="34" charset="0"/>
                <a:ea typeface="Arial" pitchFamily="34" charset="-122"/>
                <a:cs typeface="Arial" pitchFamily="34" charset="-120"/>
              </a:rPr>
              <a:t>What happens: workers cut the dyed fabric into pieces and sew the pieces into finished t-shirts.</a:t>
            </a:r>
            <a:endParaRPr lang="en-US" sz="1300" dirty="0"/>
          </a:p>
        </p:txBody>
      </p:sp>
      <p:sp>
        <p:nvSpPr>
          <p:cNvPr id="10" name="Shape 7"/>
          <p:cNvSpPr/>
          <p:nvPr/>
        </p:nvSpPr>
        <p:spPr>
          <a:xfrm>
            <a:off x="4663440" y="1371600"/>
            <a:ext cx="4023360" cy="2377440"/>
          </a:xfrm>
          <a:prstGeom prst="roundRect">
            <a:avLst>
              <a:gd name="adj" fmla="val 3462"/>
            </a:avLst>
          </a:prstGeom>
          <a:solidFill>
            <a:srgbClr val="EAF3F8"/>
          </a:solidFill>
          <a:ln/>
          <a:effectLst>
            <a:outerShdw sx="100000" sy="100000" kx="0" ky="0" algn="bl" rotWithShape="0" blurRad="76200" dist="25400" dir="2700000">
              <a:srgbClr val="000000">
                <a:alpha val="12000"/>
              </a:srgbClr>
            </a:outerShdw>
          </a:effectLst>
        </p:spPr>
      </p:sp>
      <p:sp>
        <p:nvSpPr>
          <p:cNvPr id="11" name="Text 8"/>
          <p:cNvSpPr/>
          <p:nvPr/>
        </p:nvSpPr>
        <p:spPr>
          <a:xfrm>
            <a:off x="4828032" y="1463040"/>
            <a:ext cx="3694176" cy="2194560"/>
          </a:xfrm>
          <a:prstGeom prst="rect">
            <a:avLst/>
          </a:prstGeom>
          <a:noFill/>
          <a:ln/>
        </p:spPr>
        <p:txBody>
          <a:bodyPr wrap="square" lIns="0" tIns="0" rIns="0" bIns="0" rtlCol="0" anchor="ctr"/>
          <a:lstStyle/>
          <a:p>
            <a:pPr algn="l" indent="0" marL="0">
              <a:buNone/>
            </a:pPr>
            <a:r>
              <a:rPr lang="en-US" sz="1300" b="1" dirty="0">
                <a:solidFill>
                  <a:srgbClr val="B3402A"/>
                </a:solidFill>
                <a:latin typeface="Arial" pitchFamily="34" charset="0"/>
                <a:ea typeface="Arial" pitchFamily="34" charset="-122"/>
                <a:cs typeface="Arial" pitchFamily="34" charset="-120"/>
              </a:rPr>
              <a:t>✗  Weak annotation
</a:t>
            </a:r>
            <a:endParaRPr lang="en-US" sz="1300" dirty="0"/>
          </a:p>
          <a:p>
            <a:pPr algn="l" indent="0" marL="0">
              <a:buNone/>
            </a:pPr>
            <a:r>
              <a:rPr lang="en-US" sz="1200" b="1" dirty="0">
                <a:solidFill>
                  <a:srgbClr val="21295C"/>
                </a:solidFill>
                <a:latin typeface="Arial" pitchFamily="34" charset="0"/>
                <a:ea typeface="Arial" pitchFamily="34" charset="-122"/>
                <a:cs typeface="Arial" pitchFamily="34" charset="-120"/>
              </a:rPr>
              <a:t>Stage 4 — Factory
</a:t>
            </a:r>
            <a:endParaRPr lang="en-US" sz="1300" dirty="0"/>
          </a:p>
          <a:p>
            <a:pPr algn="l" indent="0" marL="0">
              <a:buNone/>
            </a:pPr>
            <a:r>
              <a:rPr lang="en-US" sz="1200" dirty="0">
                <a:solidFill>
                  <a:srgbClr val="3A4149"/>
                </a:solidFill>
                <a:latin typeface="Arial" pitchFamily="34" charset="0"/>
                <a:ea typeface="Arial" pitchFamily="34" charset="-122"/>
                <a:cs typeface="Arial" pitchFamily="34" charset="-120"/>
              </a:rPr>
              <a:t>Place: overseas
</a:t>
            </a:r>
            <a:endParaRPr lang="en-US" sz="1300" dirty="0"/>
          </a:p>
          <a:p>
            <a:pPr algn="l" indent="0" marL="0">
              <a:buNone/>
            </a:pPr>
            <a:r>
              <a:rPr lang="en-US" sz="1200" dirty="0">
                <a:solidFill>
                  <a:srgbClr val="3A4149"/>
                </a:solidFill>
                <a:latin typeface="Arial" pitchFamily="34" charset="0"/>
                <a:ea typeface="Arial" pitchFamily="34" charset="-122"/>
                <a:cs typeface="Arial" pitchFamily="34" charset="-120"/>
              </a:rPr>
              <a:t>What happens: the shirt gets made.</a:t>
            </a:r>
            <a:endParaRPr lang="en-US" sz="1300" dirty="0"/>
          </a:p>
        </p:txBody>
      </p:sp>
      <p:sp>
        <p:nvSpPr>
          <p:cNvPr id="12" name="Shape 9"/>
          <p:cNvSpPr/>
          <p:nvPr/>
        </p:nvSpPr>
        <p:spPr>
          <a:xfrm>
            <a:off x="457200" y="3977640"/>
            <a:ext cx="8229600" cy="777240"/>
          </a:xfrm>
          <a:prstGeom prst="roundRect">
            <a:avLst>
              <a:gd name="adj" fmla="val 10588"/>
            </a:avLst>
          </a:prstGeom>
          <a:solidFill>
            <a:srgbClr val="EAF3F8"/>
          </a:solidFill>
          <a:ln/>
          <a:effectLst>
            <a:outerShdw sx="100000" sy="100000" kx="0" ky="0" algn="bl" rotWithShape="0" blurRad="76200" dist="25400" dir="2700000">
              <a:srgbClr val="000000">
                <a:alpha val="12000"/>
              </a:srgbClr>
            </a:outerShdw>
          </a:effectLst>
        </p:spPr>
      </p:sp>
      <p:sp>
        <p:nvSpPr>
          <p:cNvPr id="13" name="Text 10"/>
          <p:cNvSpPr/>
          <p:nvPr/>
        </p:nvSpPr>
        <p:spPr>
          <a:xfrm>
            <a:off x="621792" y="4069080"/>
            <a:ext cx="7900416" cy="594360"/>
          </a:xfrm>
          <a:prstGeom prst="rect">
            <a:avLst/>
          </a:prstGeom>
          <a:noFill/>
          <a:ln/>
        </p:spPr>
        <p:txBody>
          <a:bodyPr wrap="square" lIns="0" tIns="0" rIns="0" bIns="0" rtlCol="0" anchor="ctr"/>
          <a:lstStyle/>
          <a:p>
            <a:pPr algn="l" indent="0" marL="0">
              <a:buNone/>
            </a:pPr>
            <a:r>
              <a:rPr lang="en-US" sz="1300" b="1" dirty="0">
                <a:solidFill>
                  <a:srgbClr val="065A82"/>
                </a:solidFill>
                <a:latin typeface="Arial" pitchFamily="34" charset="0"/>
                <a:ea typeface="Arial" pitchFamily="34" charset="-122"/>
                <a:cs typeface="Arial" pitchFamily="34" charset="-120"/>
              </a:rPr>
              <a:t>Ask yourself:  </a:t>
            </a:r>
            <a:pPr algn="l" indent="0" marL="0">
              <a:buNone/>
            </a:pPr>
            <a:r>
              <a:rPr lang="en-US" sz="1300" dirty="0">
                <a:solidFill>
                  <a:srgbClr val="3A4149"/>
                </a:solidFill>
                <a:latin typeface="Arial" pitchFamily="34" charset="0"/>
                <a:ea typeface="Arial" pitchFamily="34" charset="-122"/>
                <a:cs typeface="Arial" pitchFamily="34" charset="-120"/>
              </a:rPr>
              <a:t>could a stranger read my annotation and learn something real? If not, add a place name and an action.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7863840" y="-1097280"/>
            <a:ext cx="2743200" cy="2743200"/>
          </a:xfrm>
          <a:prstGeom prst="ellipse">
            <a:avLst/>
          </a:prstGeom>
          <a:solidFill>
            <a:srgbClr val="1C7293">
              <a:alpha val="30000"/>
            </a:srgbClr>
          </a:solidFill>
          <a:ln/>
        </p:spPr>
      </p:sp>
      <p:sp>
        <p:nvSpPr>
          <p:cNvPr id="3" name="Shape 1"/>
          <p:cNvSpPr/>
          <p:nvPr/>
        </p:nvSpPr>
        <p:spPr>
          <a:xfrm>
            <a:off x="-731520" y="4023360"/>
            <a:ext cx="1737360" cy="1737360"/>
          </a:xfrm>
          <a:prstGeom prst="ellipse">
            <a:avLst/>
          </a:prstGeom>
          <a:solidFill>
            <a:srgbClr val="02C39A">
              <a:alpha val="22000"/>
            </a:srgbClr>
          </a:solidFill>
          <a:ln/>
        </p:spPr>
      </p:sp>
      <p:sp>
        <p:nvSpPr>
          <p:cNvPr id="4" name="Text 2"/>
          <p:cNvSpPr/>
          <p:nvPr/>
        </p:nvSpPr>
        <p:spPr>
          <a:xfrm>
            <a:off x="548640" y="365760"/>
            <a:ext cx="8046720" cy="320040"/>
          </a:xfrm>
          <a:prstGeom prst="rect">
            <a:avLst/>
          </a:prstGeom>
          <a:noFill/>
          <a:ln/>
        </p:spPr>
        <p:txBody>
          <a:bodyPr wrap="square" lIns="0" tIns="0" rIns="0" bIns="0" rtlCol="0" anchor="ctr"/>
          <a:lstStyle/>
          <a:p>
            <a:pPr indent="0" marL="0">
              <a:buNone/>
            </a:pPr>
            <a:r>
              <a:rPr lang="en-US" sz="1200" b="1" spc="200" kern="0" dirty="0">
                <a:solidFill>
                  <a:srgbClr val="02C39A"/>
                </a:solidFill>
                <a:latin typeface="Arial" pitchFamily="34" charset="0"/>
                <a:ea typeface="Arial" pitchFamily="34" charset="-122"/>
                <a:cs typeface="Arial" pitchFamily="34" charset="-120"/>
              </a:rPr>
              <a:t>CHRISTIAN WORLDVIEW  |  SEEKING JUSTICE</a:t>
            </a:r>
            <a:endParaRPr lang="en-US" sz="1200" dirty="0"/>
          </a:p>
        </p:txBody>
      </p:sp>
      <p:sp>
        <p:nvSpPr>
          <p:cNvPr id="5" name="Shape 3"/>
          <p:cNvSpPr/>
          <p:nvPr/>
        </p:nvSpPr>
        <p:spPr>
          <a:xfrm>
            <a:off x="548640" y="868680"/>
            <a:ext cx="8046720" cy="1371600"/>
          </a:xfrm>
          <a:prstGeom prst="roundRect">
            <a:avLst>
              <a:gd name="adj" fmla="val 8000"/>
            </a:avLst>
          </a:prstGeom>
          <a:solidFill>
            <a:srgbClr val="2B3566"/>
          </a:solidFill>
          <a:ln/>
        </p:spPr>
      </p:sp>
      <p:sp>
        <p:nvSpPr>
          <p:cNvPr id="6" name="Text 4"/>
          <p:cNvSpPr/>
          <p:nvPr/>
        </p:nvSpPr>
        <p:spPr>
          <a:xfrm>
            <a:off x="822960" y="868680"/>
            <a:ext cx="7498080" cy="1371600"/>
          </a:xfrm>
          <a:prstGeom prst="rect">
            <a:avLst/>
          </a:prstGeom>
          <a:noFill/>
          <a:ln/>
        </p:spPr>
        <p:txBody>
          <a:bodyPr wrap="square" lIns="0" tIns="0" rIns="0" bIns="0" rtlCol="0" anchor="ctr"/>
          <a:lstStyle/>
          <a:p>
            <a:pPr indent="0" marL="0">
              <a:buNone/>
            </a:pPr>
            <a:r>
              <a:rPr lang="en-US" sz="1500" i="1" dirty="0">
                <a:solidFill>
                  <a:srgbClr val="FFFFFF"/>
                </a:solidFill>
                <a:latin typeface="Arial" pitchFamily="34" charset="0"/>
                <a:ea typeface="Arial" pitchFamily="34" charset="-122"/>
                <a:cs typeface="Arial" pitchFamily="34" charset="-120"/>
              </a:rPr>
              <a:t>“For you created my inmost being; you knit me together in my mother’s womb.”
</a:t>
            </a:r>
            <a:endParaRPr lang="en-US" sz="1500" dirty="0"/>
          </a:p>
          <a:p>
            <a:pPr indent="0" marL="0">
              <a:buNone/>
            </a:pPr>
            <a:r>
              <a:rPr lang="en-US" sz="1200" b="1" dirty="0">
                <a:solidFill>
                  <a:srgbClr val="02C39A"/>
                </a:solidFill>
                <a:latin typeface="Arial" pitchFamily="34" charset="0"/>
                <a:ea typeface="Arial" pitchFamily="34" charset="-122"/>
                <a:cs typeface="Arial" pitchFamily="34" charset="-120"/>
              </a:rPr>
              <a:t>— Psalm 139:13</a:t>
            </a:r>
            <a:endParaRPr lang="en-US" sz="1500" dirty="0"/>
          </a:p>
        </p:txBody>
      </p:sp>
      <p:sp>
        <p:nvSpPr>
          <p:cNvPr id="7" name="Text 5"/>
          <p:cNvSpPr/>
          <p:nvPr/>
        </p:nvSpPr>
        <p:spPr>
          <a:xfrm>
            <a:off x="594360" y="2423160"/>
            <a:ext cx="7955280" cy="1234440"/>
          </a:xfrm>
          <a:prstGeom prst="rect">
            <a:avLst/>
          </a:prstGeom>
          <a:noFill/>
          <a:ln/>
        </p:spPr>
        <p:txBody>
          <a:bodyPr wrap="square" lIns="0" tIns="0" rIns="0" bIns="0" rtlCol="0" anchor="t"/>
          <a:lstStyle/>
          <a:p>
            <a:pPr indent="0" marL="0">
              <a:buNone/>
            </a:pPr>
            <a:r>
              <a:rPr lang="en-US" sz="1400" dirty="0">
                <a:solidFill>
                  <a:srgbClr val="D9E2F0"/>
                </a:solidFill>
                <a:latin typeface="Arial" pitchFamily="34" charset="0"/>
                <a:ea typeface="Arial" pitchFamily="34" charset="-122"/>
                <a:cs typeface="Arial" pitchFamily="34" charset="-120"/>
              </a:rPr>
              <a:t>The Bible uses knitting — clothing language — to describe how carefully God made each person. Clothing is intimate: it sits against our skin all day. The hands that knitted, dyed and sewed your shirt belong to people you will never meet, but every one of them is fully known to God. In this unit's thread of Seeking Justice, that is where justice starts: the people at the far end of a supply chain are not strangers to God, so they should not be nobodies to us.</a:t>
            </a:r>
            <a:endParaRPr lang="en-US" sz="1400" dirty="0"/>
          </a:p>
        </p:txBody>
      </p:sp>
      <p:sp>
        <p:nvSpPr>
          <p:cNvPr id="8" name="Shape 6"/>
          <p:cNvSpPr/>
          <p:nvPr/>
        </p:nvSpPr>
        <p:spPr>
          <a:xfrm>
            <a:off x="548640" y="3749040"/>
            <a:ext cx="8046720" cy="960120"/>
          </a:xfrm>
          <a:prstGeom prst="roundRect">
            <a:avLst>
              <a:gd name="adj" fmla="val 11429"/>
            </a:avLst>
          </a:prstGeom>
          <a:solidFill>
            <a:srgbClr val="21295C"/>
          </a:solidFill>
          <a:ln w="19050">
            <a:solidFill>
              <a:srgbClr val="02C39A"/>
            </a:solidFill>
            <a:prstDash val="solid"/>
          </a:ln>
        </p:spPr>
      </p:sp>
      <p:sp>
        <p:nvSpPr>
          <p:cNvPr id="9" name="Text 7"/>
          <p:cNvSpPr/>
          <p:nvPr/>
        </p:nvSpPr>
        <p:spPr>
          <a:xfrm>
            <a:off x="777240" y="3749040"/>
            <a:ext cx="7589520" cy="960120"/>
          </a:xfrm>
          <a:prstGeom prst="rect">
            <a:avLst/>
          </a:prstGeom>
          <a:noFill/>
          <a:ln/>
        </p:spPr>
        <p:txBody>
          <a:bodyPr wrap="square" lIns="0" tIns="0" rIns="0" bIns="0" rtlCol="0" anchor="ctr"/>
          <a:lstStyle/>
          <a:p>
            <a:pPr indent="0" marL="0">
              <a:buNone/>
            </a:pPr>
            <a:r>
              <a:rPr lang="en-US" sz="1400" b="1" dirty="0">
                <a:solidFill>
                  <a:srgbClr val="02C39A"/>
                </a:solidFill>
                <a:latin typeface="Arial" pitchFamily="34" charset="0"/>
                <a:ea typeface="Arial" pitchFamily="34" charset="-122"/>
                <a:cs typeface="Arial" pitchFamily="34" charset="-120"/>
              </a:rPr>
              <a:t>Discuss:  </a:t>
            </a:r>
            <a:pPr indent="0" marL="0">
              <a:buNone/>
            </a:pPr>
            <a:r>
              <a:rPr lang="en-US" sz="1400" dirty="0">
                <a:solidFill>
                  <a:srgbClr val="FFFFFF"/>
                </a:solidFill>
                <a:latin typeface="Arial" pitchFamily="34" charset="0"/>
                <a:ea typeface="Arial" pitchFamily="34" charset="-122"/>
                <a:cs typeface="Arial" pitchFamily="34" charset="-120"/>
              </a:rPr>
              <a:t>Does it change how you treat your clothes, knowing each item has a story of real people?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01168"/>
            <a:ext cx="566928" cy="566928"/>
          </a:xfrm>
          <a:prstGeom prst="ellipse">
            <a:avLst/>
          </a:prstGeom>
          <a:solidFill>
            <a:srgbClr val="065A82"/>
          </a:solidFill>
          <a:ln/>
        </p:spPr>
      </p:sp>
      <p:sp>
        <p:nvSpPr>
          <p:cNvPr id="3" name="Text 1"/>
          <p:cNvSpPr/>
          <p:nvPr/>
        </p:nvSpPr>
        <p:spPr>
          <a:xfrm>
            <a:off x="8275320" y="201168"/>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L19</a:t>
            </a:r>
            <a:endParaRPr lang="en-US" sz="1200" dirty="0"/>
          </a:p>
        </p:txBody>
      </p:sp>
      <p:sp>
        <p:nvSpPr>
          <p:cNvPr id="4" name="Text 2"/>
          <p:cNvSpPr/>
          <p:nvPr/>
        </p:nvSpPr>
        <p:spPr>
          <a:xfrm>
            <a:off x="457200" y="219456"/>
            <a:ext cx="7680960" cy="548640"/>
          </a:xfrm>
          <a:prstGeom prst="rect">
            <a:avLst/>
          </a:prstGeom>
          <a:noFill/>
          <a:ln/>
        </p:spPr>
        <p:txBody>
          <a:bodyPr wrap="square" lIns="0" tIns="0" rIns="0" bIns="0" rtlCol="0" anchor="ctr"/>
          <a:lstStyle/>
          <a:p>
            <a:pPr indent="0" marL="0">
              <a:buNone/>
            </a:pPr>
            <a:r>
              <a:rPr lang="en-US" sz="2200" b="1" dirty="0">
                <a:solidFill>
                  <a:srgbClr val="065A82"/>
                </a:solidFill>
                <a:latin typeface="Arial" pitchFamily="34" charset="0"/>
                <a:ea typeface="Arial" pitchFamily="34" charset="-122"/>
                <a:cs typeface="Arial" pitchFamily="34" charset="-120"/>
              </a:rPr>
              <a:t>Your task — build the supply chain</a:t>
            </a:r>
            <a:endParaRPr lang="en-US" sz="2200" dirty="0"/>
          </a:p>
        </p:txBody>
      </p:sp>
      <p:sp>
        <p:nvSpPr>
          <p:cNvPr id="5" name="Text 3"/>
          <p:cNvSpPr/>
          <p:nvPr/>
        </p:nvSpPr>
        <p:spPr>
          <a:xfrm>
            <a:off x="457200" y="4873752"/>
            <a:ext cx="5486400" cy="228600"/>
          </a:xfrm>
          <a:prstGeom prst="rect">
            <a:avLst/>
          </a:prstGeom>
          <a:noFill/>
          <a:ln/>
        </p:spPr>
        <p:txBody>
          <a:bodyPr wrap="square" lIns="0" tIns="0" rIns="0" bIns="0" rtlCol="0" anchor="ctr"/>
          <a:lstStyle/>
          <a:p>
            <a:pPr indent="0" marL="0">
              <a:buNone/>
            </a:pPr>
            <a:r>
              <a:rPr lang="en-US" sz="900" dirty="0">
                <a:solidFill>
                  <a:srgbClr val="9AA5B1"/>
                </a:solidFill>
                <a:latin typeface="Arial" pitchFamily="34" charset="0"/>
                <a:ea typeface="Arial" pitchFamily="34" charset="-122"/>
                <a:cs typeface="Arial" pitchFamily="34" charset="-120"/>
              </a:rPr>
              <a:t>Stage 4 Geography — Interconnections and Trade</a:t>
            </a:r>
            <a:endParaRPr lang="en-US" sz="900" dirty="0"/>
          </a:p>
        </p:txBody>
      </p:sp>
      <p:sp>
        <p:nvSpPr>
          <p:cNvPr id="7" name="Shape 4"/>
          <p:cNvSpPr/>
          <p:nvPr/>
        </p:nvSpPr>
        <p:spPr>
          <a:xfrm>
            <a:off x="457200" y="914400"/>
            <a:ext cx="8229600" cy="914400"/>
          </a:xfrm>
          <a:prstGeom prst="roundRect">
            <a:avLst>
              <a:gd name="adj" fmla="val 9000"/>
            </a:avLst>
          </a:prstGeom>
          <a:solidFill>
            <a:srgbClr val="EAF3F8"/>
          </a:solidFill>
          <a:ln/>
          <a:effectLst>
            <a:outerShdw sx="100000" sy="100000" kx="0" ky="0" algn="bl" rotWithShape="0" blurRad="76200" dist="25400" dir="2700000">
              <a:srgbClr val="000000">
                <a:alpha val="12000"/>
              </a:srgbClr>
            </a:outerShdw>
          </a:effectLst>
        </p:spPr>
      </p:sp>
      <p:sp>
        <p:nvSpPr>
          <p:cNvPr id="8" name="Text 5"/>
          <p:cNvSpPr/>
          <p:nvPr/>
        </p:nvSpPr>
        <p:spPr>
          <a:xfrm>
            <a:off x="621792" y="1005840"/>
            <a:ext cx="7900416" cy="731520"/>
          </a:xfrm>
          <a:prstGeom prst="rect">
            <a:avLst/>
          </a:prstGeom>
          <a:noFill/>
          <a:ln/>
        </p:spPr>
        <p:txBody>
          <a:bodyPr wrap="square" lIns="0" tIns="0" rIns="0" bIns="0" rtlCol="0" anchor="ctr"/>
          <a:lstStyle/>
          <a:p>
            <a:pPr algn="l" indent="0" marL="0">
              <a:buNone/>
            </a:pPr>
            <a:r>
              <a:rPr lang="en-US" sz="1200" b="1" dirty="0">
                <a:solidFill>
                  <a:srgbClr val="065A82"/>
                </a:solidFill>
                <a:latin typeface="Arial" pitchFamily="34" charset="0"/>
                <a:ea typeface="Arial" pitchFamily="34" charset="-122"/>
                <a:cs typeface="Arial" pitchFamily="34" charset="-120"/>
              </a:rPr>
              <a:t>Task 1 — Sequence + annotate
</a:t>
            </a:r>
            <a:endParaRPr lang="en-US" sz="1200" dirty="0"/>
          </a:p>
          <a:p>
            <a:pPr algn="l" indent="0" marL="0">
              <a:buNone/>
            </a:pPr>
            <a:r>
              <a:rPr lang="en-US" sz="1200" dirty="0">
                <a:solidFill>
                  <a:srgbClr val="3A4149"/>
                </a:solidFill>
                <a:latin typeface="Arial" pitchFamily="34" charset="0"/>
                <a:ea typeface="Arial" pitchFamily="34" charset="-122"/>
                <a:cs typeface="Arial" pitchFamily="34" charset="-120"/>
              </a:rPr>
              <a:t>The 8 stages are jumbled on your worksheet. Number them 1–8 in order, then annotate each with a PLACE and WHAT HAPPENS THERE.</a:t>
            </a:r>
            <a:endParaRPr lang="en-US" sz="1200" dirty="0"/>
          </a:p>
        </p:txBody>
      </p:sp>
      <p:sp>
        <p:nvSpPr>
          <p:cNvPr id="9" name="Shape 6"/>
          <p:cNvSpPr/>
          <p:nvPr/>
        </p:nvSpPr>
        <p:spPr>
          <a:xfrm>
            <a:off x="457200" y="1965960"/>
            <a:ext cx="8229600" cy="914400"/>
          </a:xfrm>
          <a:prstGeom prst="roundRect">
            <a:avLst>
              <a:gd name="adj" fmla="val 9000"/>
            </a:avLst>
          </a:prstGeom>
          <a:solidFill>
            <a:srgbClr val="E6F7F2"/>
          </a:solidFill>
          <a:ln/>
          <a:effectLst>
            <a:outerShdw sx="100000" sy="100000" kx="0" ky="0" algn="bl" rotWithShape="0" blurRad="76200" dist="25400" dir="2700000">
              <a:srgbClr val="000000">
                <a:alpha val="12000"/>
              </a:srgbClr>
            </a:outerShdw>
          </a:effectLst>
        </p:spPr>
      </p:sp>
      <p:sp>
        <p:nvSpPr>
          <p:cNvPr id="10" name="Text 7"/>
          <p:cNvSpPr/>
          <p:nvPr/>
        </p:nvSpPr>
        <p:spPr>
          <a:xfrm>
            <a:off x="621792" y="2057400"/>
            <a:ext cx="7900416" cy="731520"/>
          </a:xfrm>
          <a:prstGeom prst="rect">
            <a:avLst/>
          </a:prstGeom>
          <a:noFill/>
          <a:ln/>
        </p:spPr>
        <p:txBody>
          <a:bodyPr wrap="square" lIns="0" tIns="0" rIns="0" bIns="0" rtlCol="0" anchor="ctr"/>
          <a:lstStyle/>
          <a:p>
            <a:pPr algn="l" indent="0" marL="0">
              <a:buNone/>
            </a:pPr>
            <a:r>
              <a:rPr lang="en-US" sz="1200" b="1" dirty="0">
                <a:solidFill>
                  <a:srgbClr val="065A82"/>
                </a:solidFill>
                <a:latin typeface="Arial" pitchFamily="34" charset="0"/>
                <a:ea typeface="Arial" pitchFamily="34" charset="-122"/>
                <a:cs typeface="Arial" pitchFamily="34" charset="-120"/>
              </a:rPr>
              <a:t>Task 2 — Map the journey
</a:t>
            </a:r>
            <a:endParaRPr lang="en-US" sz="1200" dirty="0"/>
          </a:p>
          <a:p>
            <a:pPr algn="l" indent="0" marL="0">
              <a:buNone/>
            </a:pPr>
            <a:r>
              <a:rPr lang="en-US" sz="1200" dirty="0">
                <a:solidFill>
                  <a:srgbClr val="3A4149"/>
                </a:solidFill>
                <a:latin typeface="Arial" pitchFamily="34" charset="0"/>
                <a:ea typeface="Arial" pitchFamily="34" charset="-122"/>
                <a:cs typeface="Arial" pitchFamily="34" charset="-120"/>
              </a:rPr>
              <a:t>On the world map frame, write each stage number where it happens and join them with arrows. Watch the journey circle the globe.</a:t>
            </a:r>
            <a:endParaRPr lang="en-US" sz="1200" dirty="0"/>
          </a:p>
        </p:txBody>
      </p:sp>
      <p:sp>
        <p:nvSpPr>
          <p:cNvPr id="11" name="Shape 8"/>
          <p:cNvSpPr/>
          <p:nvPr/>
        </p:nvSpPr>
        <p:spPr>
          <a:xfrm>
            <a:off x="457200" y="3017520"/>
            <a:ext cx="8229600" cy="914400"/>
          </a:xfrm>
          <a:prstGeom prst="roundRect">
            <a:avLst>
              <a:gd name="adj" fmla="val 9000"/>
            </a:avLst>
          </a:prstGeom>
          <a:solidFill>
            <a:srgbClr val="EAF3F8"/>
          </a:solidFill>
          <a:ln/>
          <a:effectLst>
            <a:outerShdw sx="100000" sy="100000" kx="0" ky="0" algn="bl" rotWithShape="0" blurRad="76200" dist="25400" dir="2700000">
              <a:srgbClr val="000000">
                <a:alpha val="12000"/>
              </a:srgbClr>
            </a:outerShdw>
          </a:effectLst>
        </p:spPr>
      </p:sp>
      <p:sp>
        <p:nvSpPr>
          <p:cNvPr id="12" name="Text 9"/>
          <p:cNvSpPr/>
          <p:nvPr/>
        </p:nvSpPr>
        <p:spPr>
          <a:xfrm>
            <a:off x="621792" y="3108960"/>
            <a:ext cx="7900416" cy="731520"/>
          </a:xfrm>
          <a:prstGeom prst="rect">
            <a:avLst/>
          </a:prstGeom>
          <a:noFill/>
          <a:ln/>
        </p:spPr>
        <p:txBody>
          <a:bodyPr wrap="square" lIns="0" tIns="0" rIns="0" bIns="0" rtlCol="0" anchor="ctr"/>
          <a:lstStyle/>
          <a:p>
            <a:pPr algn="l" indent="0" marL="0">
              <a:buNone/>
            </a:pPr>
            <a:r>
              <a:rPr lang="en-US" sz="1200" b="1" dirty="0">
                <a:solidFill>
                  <a:srgbClr val="065A82"/>
                </a:solidFill>
                <a:latin typeface="Arial" pitchFamily="34" charset="0"/>
                <a:ea typeface="Arial" pitchFamily="34" charset="-122"/>
                <a:cs typeface="Arial" pitchFamily="34" charset="-120"/>
              </a:rPr>
              <a:t>Task 3 — Reflect
</a:t>
            </a:r>
            <a:endParaRPr lang="en-US" sz="1200" dirty="0"/>
          </a:p>
          <a:p>
            <a:pPr algn="l" indent="0" marL="0">
              <a:buNone/>
            </a:pPr>
            <a:r>
              <a:rPr lang="en-US" sz="1200" dirty="0">
                <a:solidFill>
                  <a:srgbClr val="3A4149"/>
                </a:solidFill>
                <a:latin typeface="Arial" pitchFamily="34" charset="0"/>
                <a:ea typeface="Arial" pitchFamily="34" charset="-122"/>
                <a:cs typeface="Arial" pitchFamily="34" charset="-120"/>
              </a:rPr>
              <a:t>Which stage surprised you most, and why? (2–3 sentences)</a:t>
            </a:r>
            <a:endParaRPr lang="en-US" sz="1200" dirty="0"/>
          </a:p>
        </p:txBody>
      </p:sp>
      <p:sp>
        <p:nvSpPr>
          <p:cNvPr id="13" name="Shape 10"/>
          <p:cNvSpPr/>
          <p:nvPr/>
        </p:nvSpPr>
        <p:spPr>
          <a:xfrm>
            <a:off x="457200" y="4114800"/>
            <a:ext cx="8229600" cy="640080"/>
          </a:xfrm>
          <a:prstGeom prst="roundRect">
            <a:avLst>
              <a:gd name="adj" fmla="val 12857"/>
            </a:avLst>
          </a:prstGeom>
          <a:solidFill>
            <a:srgbClr val="21295C"/>
          </a:solidFill>
          <a:ln/>
        </p:spPr>
      </p:sp>
      <p:sp>
        <p:nvSpPr>
          <p:cNvPr id="14" name="Text 11"/>
          <p:cNvSpPr/>
          <p:nvPr/>
        </p:nvSpPr>
        <p:spPr>
          <a:xfrm>
            <a:off x="621792" y="4206240"/>
            <a:ext cx="7900416" cy="457200"/>
          </a:xfrm>
          <a:prstGeom prst="rect">
            <a:avLst/>
          </a:prstGeom>
          <a:noFill/>
          <a:ln/>
        </p:spPr>
        <p:txBody>
          <a:bodyPr wrap="square" lIns="0" tIns="0" rIns="0" bIns="0" rtlCol="0" anchor="ctr"/>
          <a:lstStyle/>
          <a:p>
            <a:pPr algn="l" indent="0" marL="0">
              <a:buNone/>
            </a:pPr>
            <a:r>
              <a:rPr lang="en-US" sz="1200" b="1" dirty="0">
                <a:solidFill>
                  <a:srgbClr val="02C39A"/>
                </a:solidFill>
                <a:latin typeface="Arial" pitchFamily="34" charset="0"/>
                <a:ea typeface="Arial" pitchFamily="34" charset="-122"/>
                <a:cs typeface="Arial" pitchFamily="34" charset="-120"/>
              </a:rPr>
              <a:t>Finished early?  </a:t>
            </a:r>
            <a:pPr algn="l" indent="0" marL="0">
              <a:buNone/>
            </a:pPr>
            <a:r>
              <a:rPr lang="en-US" sz="1200" dirty="0">
                <a:solidFill>
                  <a:srgbClr val="FFFFFF"/>
                </a:solidFill>
                <a:latin typeface="Arial" pitchFamily="34" charset="0"/>
                <a:ea typeface="Arial" pitchFamily="34" charset="-122"/>
                <a:cs typeface="Arial" pitchFamily="34" charset="-120"/>
              </a:rPr>
              <a:t>Try the EXTENSION box: what should stage 9 be — and where in the world does it happen?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75320" y="201168"/>
            <a:ext cx="566928" cy="566928"/>
          </a:xfrm>
          <a:prstGeom prst="ellipse">
            <a:avLst/>
          </a:prstGeom>
          <a:solidFill>
            <a:srgbClr val="065A82"/>
          </a:solidFill>
          <a:ln/>
        </p:spPr>
      </p:sp>
      <p:sp>
        <p:nvSpPr>
          <p:cNvPr id="3" name="Text 1"/>
          <p:cNvSpPr/>
          <p:nvPr/>
        </p:nvSpPr>
        <p:spPr>
          <a:xfrm>
            <a:off x="8275320" y="201168"/>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L19</a:t>
            </a:r>
            <a:endParaRPr lang="en-US" sz="1200" dirty="0"/>
          </a:p>
        </p:txBody>
      </p:sp>
      <p:sp>
        <p:nvSpPr>
          <p:cNvPr id="4" name="Text 2"/>
          <p:cNvSpPr/>
          <p:nvPr/>
        </p:nvSpPr>
        <p:spPr>
          <a:xfrm>
            <a:off x="457200" y="219456"/>
            <a:ext cx="7680960" cy="548640"/>
          </a:xfrm>
          <a:prstGeom prst="rect">
            <a:avLst/>
          </a:prstGeom>
          <a:noFill/>
          <a:ln/>
        </p:spPr>
        <p:txBody>
          <a:bodyPr wrap="square" lIns="0" tIns="0" rIns="0" bIns="0" rtlCol="0" anchor="ctr"/>
          <a:lstStyle/>
          <a:p>
            <a:pPr indent="0" marL="0">
              <a:buNone/>
            </a:pPr>
            <a:r>
              <a:rPr lang="en-US" sz="2200" b="1" dirty="0">
                <a:solidFill>
                  <a:srgbClr val="065A82"/>
                </a:solidFill>
                <a:latin typeface="Arial" pitchFamily="34" charset="0"/>
                <a:ea typeface="Arial" pitchFamily="34" charset="-122"/>
                <a:cs typeface="Arial" pitchFamily="34" charset="-120"/>
              </a:rPr>
              <a:t>Exit ticket</a:t>
            </a:r>
            <a:endParaRPr lang="en-US" sz="2200" dirty="0"/>
          </a:p>
        </p:txBody>
      </p:sp>
      <p:sp>
        <p:nvSpPr>
          <p:cNvPr id="5" name="Text 3"/>
          <p:cNvSpPr/>
          <p:nvPr/>
        </p:nvSpPr>
        <p:spPr>
          <a:xfrm>
            <a:off x="457200" y="4873752"/>
            <a:ext cx="5486400" cy="228600"/>
          </a:xfrm>
          <a:prstGeom prst="rect">
            <a:avLst/>
          </a:prstGeom>
          <a:noFill/>
          <a:ln/>
        </p:spPr>
        <p:txBody>
          <a:bodyPr wrap="square" lIns="0" tIns="0" rIns="0" bIns="0" rtlCol="0" anchor="ctr"/>
          <a:lstStyle/>
          <a:p>
            <a:pPr indent="0" marL="0">
              <a:buNone/>
            </a:pPr>
            <a:r>
              <a:rPr lang="en-US" sz="900" dirty="0">
                <a:solidFill>
                  <a:srgbClr val="9AA5B1"/>
                </a:solidFill>
                <a:latin typeface="Arial" pitchFamily="34" charset="0"/>
                <a:ea typeface="Arial" pitchFamily="34" charset="-122"/>
                <a:cs typeface="Arial" pitchFamily="34" charset="-120"/>
              </a:rPr>
              <a:t>Stage 4 Geography — Interconnections and Trade</a:t>
            </a:r>
            <a:endParaRPr lang="en-US" sz="900" dirty="0"/>
          </a:p>
        </p:txBody>
      </p:sp>
      <p:sp>
        <p:nvSpPr>
          <p:cNvPr id="7" name="Text 4"/>
          <p:cNvSpPr/>
          <p:nvPr/>
        </p:nvSpPr>
        <p:spPr>
          <a:xfrm>
            <a:off x="457200" y="868680"/>
            <a:ext cx="8229600" cy="320040"/>
          </a:xfrm>
          <a:prstGeom prst="rect">
            <a:avLst/>
          </a:prstGeom>
          <a:noFill/>
          <a:ln/>
        </p:spPr>
        <p:txBody>
          <a:bodyPr wrap="square" lIns="0" tIns="0" rIns="0" bIns="0" rtlCol="0" anchor="ctr"/>
          <a:lstStyle/>
          <a:p>
            <a:pPr indent="0" marL="0">
              <a:buNone/>
            </a:pPr>
            <a:r>
              <a:rPr lang="en-US" sz="1300" dirty="0">
                <a:solidFill>
                  <a:srgbClr val="5B6770"/>
                </a:solidFill>
                <a:latin typeface="Arial" pitchFamily="34" charset="0"/>
                <a:ea typeface="Arial" pitchFamily="34" charset="-122"/>
                <a:cs typeface="Arial" pitchFamily="34" charset="-120"/>
              </a:rPr>
              <a:t>Answer on a scrap of paper or the back of your worksheet before you leave.</a:t>
            </a:r>
            <a:endParaRPr lang="en-US" sz="1300" dirty="0"/>
          </a:p>
        </p:txBody>
      </p:sp>
      <p:sp>
        <p:nvSpPr>
          <p:cNvPr id="8" name="Shape 5"/>
          <p:cNvSpPr/>
          <p:nvPr/>
        </p:nvSpPr>
        <p:spPr>
          <a:xfrm>
            <a:off x="502920" y="1572768"/>
            <a:ext cx="548640" cy="548640"/>
          </a:xfrm>
          <a:prstGeom prst="ellipse">
            <a:avLst/>
          </a:prstGeom>
          <a:solidFill>
            <a:srgbClr val="065A82"/>
          </a:solidFill>
          <a:ln/>
        </p:spPr>
      </p:sp>
      <p:sp>
        <p:nvSpPr>
          <p:cNvPr id="9" name="Text 6"/>
          <p:cNvSpPr/>
          <p:nvPr/>
        </p:nvSpPr>
        <p:spPr>
          <a:xfrm>
            <a:off x="502920" y="15727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0" name="Shape 7"/>
          <p:cNvSpPr/>
          <p:nvPr/>
        </p:nvSpPr>
        <p:spPr>
          <a:xfrm>
            <a:off x="1234440" y="1371600"/>
            <a:ext cx="7452360" cy="960120"/>
          </a:xfrm>
          <a:prstGeom prst="roundRect">
            <a:avLst>
              <a:gd name="adj" fmla="val 8571"/>
            </a:avLst>
          </a:prstGeom>
          <a:solidFill>
            <a:srgbClr val="EAF3F8"/>
          </a:solidFill>
          <a:ln/>
          <a:effectLst>
            <a:outerShdw sx="100000" sy="100000" kx="0" ky="0" algn="bl" rotWithShape="0" blurRad="76200" dist="25400" dir="2700000">
              <a:srgbClr val="000000">
                <a:alpha val="12000"/>
              </a:srgbClr>
            </a:outerShdw>
          </a:effectLst>
        </p:spPr>
      </p:sp>
      <p:sp>
        <p:nvSpPr>
          <p:cNvPr id="11" name="Text 8"/>
          <p:cNvSpPr/>
          <p:nvPr/>
        </p:nvSpPr>
        <p:spPr>
          <a:xfrm>
            <a:off x="1399032" y="1463040"/>
            <a:ext cx="7123176" cy="777240"/>
          </a:xfrm>
          <a:prstGeom prst="rect">
            <a:avLst/>
          </a:prstGeom>
          <a:noFill/>
          <a:ln/>
        </p:spPr>
        <p:txBody>
          <a:bodyPr wrap="square" lIns="0" tIns="0" rIns="0" bIns="0" rtlCol="0" anchor="ctr"/>
          <a:lstStyle/>
          <a:p>
            <a:pPr algn="l" indent="0" marL="0">
              <a:buNone/>
            </a:pPr>
            <a:r>
              <a:rPr lang="en-US" sz="1400" dirty="0">
                <a:solidFill>
                  <a:srgbClr val="3A4149"/>
                </a:solidFill>
                <a:latin typeface="Arial" pitchFamily="34" charset="0"/>
                <a:ea typeface="Arial" pitchFamily="34" charset="-122"/>
                <a:cs typeface="Arial" pitchFamily="34" charset="-120"/>
              </a:rPr>
              <a:t>Name three countries a t-shirt might pass through on its journey to you.</a:t>
            </a:r>
            <a:endParaRPr lang="en-US" sz="1400" dirty="0"/>
          </a:p>
        </p:txBody>
      </p:sp>
      <p:sp>
        <p:nvSpPr>
          <p:cNvPr id="12" name="Shape 9"/>
          <p:cNvSpPr/>
          <p:nvPr/>
        </p:nvSpPr>
        <p:spPr>
          <a:xfrm>
            <a:off x="502920" y="2715768"/>
            <a:ext cx="548640" cy="548640"/>
          </a:xfrm>
          <a:prstGeom prst="ellipse">
            <a:avLst/>
          </a:prstGeom>
          <a:solidFill>
            <a:srgbClr val="1C7293"/>
          </a:solidFill>
          <a:ln/>
        </p:spPr>
      </p:sp>
      <p:sp>
        <p:nvSpPr>
          <p:cNvPr id="13" name="Text 10"/>
          <p:cNvSpPr/>
          <p:nvPr/>
        </p:nvSpPr>
        <p:spPr>
          <a:xfrm>
            <a:off x="502920" y="27157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4" name="Shape 11"/>
          <p:cNvSpPr/>
          <p:nvPr/>
        </p:nvSpPr>
        <p:spPr>
          <a:xfrm>
            <a:off x="1234440" y="2514600"/>
            <a:ext cx="7452360" cy="960120"/>
          </a:xfrm>
          <a:prstGeom prst="roundRect">
            <a:avLst>
              <a:gd name="adj" fmla="val 8571"/>
            </a:avLst>
          </a:prstGeom>
          <a:solidFill>
            <a:srgbClr val="EAF3F8"/>
          </a:solidFill>
          <a:ln/>
          <a:effectLst>
            <a:outerShdw sx="100000" sy="100000" kx="0" ky="0" algn="bl" rotWithShape="0" blurRad="76200" dist="25400" dir="2700000">
              <a:srgbClr val="000000">
                <a:alpha val="12000"/>
              </a:srgbClr>
            </a:outerShdw>
          </a:effectLst>
        </p:spPr>
      </p:sp>
      <p:sp>
        <p:nvSpPr>
          <p:cNvPr id="15" name="Text 12"/>
          <p:cNvSpPr/>
          <p:nvPr/>
        </p:nvSpPr>
        <p:spPr>
          <a:xfrm>
            <a:off x="1399032" y="2606040"/>
            <a:ext cx="7123176" cy="777240"/>
          </a:xfrm>
          <a:prstGeom prst="rect">
            <a:avLst/>
          </a:prstGeom>
          <a:noFill/>
          <a:ln/>
        </p:spPr>
        <p:txBody>
          <a:bodyPr wrap="square" lIns="0" tIns="0" rIns="0" bIns="0" rtlCol="0" anchor="ctr"/>
          <a:lstStyle/>
          <a:p>
            <a:pPr algn="l" indent="0" marL="0">
              <a:buNone/>
            </a:pPr>
            <a:r>
              <a:rPr lang="en-US" sz="1400" dirty="0">
                <a:solidFill>
                  <a:srgbClr val="3A4149"/>
                </a:solidFill>
                <a:latin typeface="Arial" pitchFamily="34" charset="0"/>
                <a:ea typeface="Arial" pitchFamily="34" charset="-122"/>
                <a:cs typeface="Arial" pitchFamily="34" charset="-120"/>
              </a:rPr>
              <a:t>Which stage of the journey uses huge amounts of water — and why?</a:t>
            </a:r>
            <a:endParaRPr lang="en-US" sz="1400" dirty="0"/>
          </a:p>
        </p:txBody>
      </p:sp>
      <p:sp>
        <p:nvSpPr>
          <p:cNvPr id="16" name="Shape 13"/>
          <p:cNvSpPr/>
          <p:nvPr/>
        </p:nvSpPr>
        <p:spPr>
          <a:xfrm>
            <a:off x="502920" y="3858768"/>
            <a:ext cx="548640" cy="548640"/>
          </a:xfrm>
          <a:prstGeom prst="ellipse">
            <a:avLst/>
          </a:prstGeom>
          <a:solidFill>
            <a:srgbClr val="21295C"/>
          </a:solidFill>
          <a:ln/>
        </p:spPr>
      </p:sp>
      <p:sp>
        <p:nvSpPr>
          <p:cNvPr id="17" name="Text 14"/>
          <p:cNvSpPr/>
          <p:nvPr/>
        </p:nvSpPr>
        <p:spPr>
          <a:xfrm>
            <a:off x="502920" y="38587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8" name="Shape 15"/>
          <p:cNvSpPr/>
          <p:nvPr/>
        </p:nvSpPr>
        <p:spPr>
          <a:xfrm>
            <a:off x="1234440" y="3657600"/>
            <a:ext cx="7452360" cy="960120"/>
          </a:xfrm>
          <a:prstGeom prst="roundRect">
            <a:avLst>
              <a:gd name="adj" fmla="val 8571"/>
            </a:avLst>
          </a:prstGeom>
          <a:solidFill>
            <a:srgbClr val="EAF3F8"/>
          </a:solidFill>
          <a:ln/>
          <a:effectLst>
            <a:outerShdw sx="100000" sy="100000" kx="0" ky="0" algn="bl" rotWithShape="0" blurRad="76200" dist="25400" dir="2700000">
              <a:srgbClr val="000000">
                <a:alpha val="12000"/>
              </a:srgbClr>
            </a:outerShdw>
          </a:effectLst>
        </p:spPr>
      </p:sp>
      <p:sp>
        <p:nvSpPr>
          <p:cNvPr id="19" name="Text 16"/>
          <p:cNvSpPr/>
          <p:nvPr/>
        </p:nvSpPr>
        <p:spPr>
          <a:xfrm>
            <a:off x="1399032" y="3749040"/>
            <a:ext cx="7123176" cy="777240"/>
          </a:xfrm>
          <a:prstGeom prst="rect">
            <a:avLst/>
          </a:prstGeom>
          <a:noFill/>
          <a:ln/>
        </p:spPr>
        <p:txBody>
          <a:bodyPr wrap="square" lIns="0" tIns="0" rIns="0" bIns="0" rtlCol="0" anchor="ctr"/>
          <a:lstStyle/>
          <a:p>
            <a:pPr algn="l" indent="0" marL="0">
              <a:buNone/>
            </a:pPr>
            <a:r>
              <a:rPr lang="en-US" sz="1400" dirty="0">
                <a:solidFill>
                  <a:srgbClr val="3A4149"/>
                </a:solidFill>
                <a:latin typeface="Arial" pitchFamily="34" charset="0"/>
                <a:ea typeface="Arial" pitchFamily="34" charset="-122"/>
                <a:cs typeface="Arial" pitchFamily="34" charset="-120"/>
              </a:rPr>
              <a:t>What are the two main things that happen to a t-shirt after we finish with it?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L19 - The life cycle of a t-shirt</dc:title>
  <dc:subject>PptxGenJS Presentation</dc:subject>
  <dc:creator>PptxGenJS</dc:creator>
  <cp:lastModifiedBy>PptxGenJS</cp:lastModifiedBy>
  <cp:revision>1</cp:revision>
  <dcterms:created xsi:type="dcterms:W3CDTF">2026-07-02T14:02:48Z</dcterms:created>
  <dcterms:modified xsi:type="dcterms:W3CDTF">2026-07-02T14:02:48Z</dcterms:modified>
</cp:coreProperties>
</file>
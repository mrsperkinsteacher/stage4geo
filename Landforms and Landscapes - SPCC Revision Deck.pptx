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jp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 id="270" r:id="rId21"/>
    <p:sldId id="271" r:id="rId22"/>
    <p:sldId id="272" r:id="rId23"/>
    <p:sldId id="273" r:id="rId24"/>
    <p:sldId id="274" r:id="rId25"/>
    <p:sldId id="275" r:id="rId26"/>
    <p:sldId id="276" r:id="rId27"/>
    <p:sldId id="277" r:id="rId28"/>
    <p:sldId id="278" r:id="rId29"/>
    <p:sldId id="279" r:id="rId30"/>
    <p:sldId id="280" r:id="rId31"/>
    <p:sldId id="281" r:id="rId32"/>
    <p:sldId id="282" r:id="rId33"/>
    <p:sldId id="283" r:id="rId34"/>
    <p:sldId id="284" r:id="rId35"/>
    <p:sldId id="285" r:id="rId36"/>
    <p:sldId id="286" r:id="rId37"/>
    <p:sldId id="287" r:id="rId38"/>
    <p:sldId id="288" r:id="rId39"/>
    <p:sldId id="289" r:id="rId40"/>
    <p:sldId id="290" r:id="rId41"/>
    <p:sldId id="291" r:id="rId42"/>
    <p:sldId id="292" r:id="rId43"/>
    <p:sldId id="293" r:id="rId44"/>
    <p:sldId id="294" r:id="rId45"/>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 Id="rId17" Type="http://schemas.openxmlformats.org/officeDocument/2006/relationships/slide" Target="slides/slide11.xml"/><Relationship Id="rId18" Type="http://schemas.openxmlformats.org/officeDocument/2006/relationships/slide" Target="slides/slide12.xml"/><Relationship Id="rId19" Type="http://schemas.openxmlformats.org/officeDocument/2006/relationships/slide" Target="slides/slide13.xml"/><Relationship Id="rId20" Type="http://schemas.openxmlformats.org/officeDocument/2006/relationships/slide" Target="slides/slide14.xml"/><Relationship Id="rId21" Type="http://schemas.openxmlformats.org/officeDocument/2006/relationships/slide" Target="slides/slide15.xml"/><Relationship Id="rId22" Type="http://schemas.openxmlformats.org/officeDocument/2006/relationships/slide" Target="slides/slide16.xml"/><Relationship Id="rId23" Type="http://schemas.openxmlformats.org/officeDocument/2006/relationships/slide" Target="slides/slide17.xml"/><Relationship Id="rId24" Type="http://schemas.openxmlformats.org/officeDocument/2006/relationships/slide" Target="slides/slide18.xml"/><Relationship Id="rId25" Type="http://schemas.openxmlformats.org/officeDocument/2006/relationships/slide" Target="slides/slide19.xml"/><Relationship Id="rId26" Type="http://schemas.openxmlformats.org/officeDocument/2006/relationships/slide" Target="slides/slide20.xml"/><Relationship Id="rId27" Type="http://schemas.openxmlformats.org/officeDocument/2006/relationships/slide" Target="slides/slide21.xml"/><Relationship Id="rId28" Type="http://schemas.openxmlformats.org/officeDocument/2006/relationships/slide" Target="slides/slide22.xml"/><Relationship Id="rId29" Type="http://schemas.openxmlformats.org/officeDocument/2006/relationships/slide" Target="slides/slide23.xml"/><Relationship Id="rId30" Type="http://schemas.openxmlformats.org/officeDocument/2006/relationships/slide" Target="slides/slide24.xml"/><Relationship Id="rId31" Type="http://schemas.openxmlformats.org/officeDocument/2006/relationships/slide" Target="slides/slide25.xml"/><Relationship Id="rId32" Type="http://schemas.openxmlformats.org/officeDocument/2006/relationships/slide" Target="slides/slide26.xml"/><Relationship Id="rId33" Type="http://schemas.openxmlformats.org/officeDocument/2006/relationships/slide" Target="slides/slide27.xml"/><Relationship Id="rId34" Type="http://schemas.openxmlformats.org/officeDocument/2006/relationships/slide" Target="slides/slide28.xml"/><Relationship Id="rId35" Type="http://schemas.openxmlformats.org/officeDocument/2006/relationships/slide" Target="slides/slide29.xml"/><Relationship Id="rId36" Type="http://schemas.openxmlformats.org/officeDocument/2006/relationships/slide" Target="slides/slide30.xml"/><Relationship Id="rId37" Type="http://schemas.openxmlformats.org/officeDocument/2006/relationships/slide" Target="slides/slide31.xml"/><Relationship Id="rId38" Type="http://schemas.openxmlformats.org/officeDocument/2006/relationships/slide" Target="slides/slide32.xml"/><Relationship Id="rId39" Type="http://schemas.openxmlformats.org/officeDocument/2006/relationships/slide" Target="slides/slide33.xml"/><Relationship Id="rId40" Type="http://schemas.openxmlformats.org/officeDocument/2006/relationships/slide" Target="slides/slide34.xml"/><Relationship Id="rId41" Type="http://schemas.openxmlformats.org/officeDocument/2006/relationships/slide" Target="slides/slide35.xml"/><Relationship Id="rId42" Type="http://schemas.openxmlformats.org/officeDocument/2006/relationships/slide" Target="slides/slide36.xml"/><Relationship Id="rId43" Type="http://schemas.openxmlformats.org/officeDocument/2006/relationships/slide" Target="slides/slide37.xml"/><Relationship Id="rId44" Type="http://schemas.openxmlformats.org/officeDocument/2006/relationships/slide" Target="slides/slide38.xml"/><Relationship Id="rId45" Type="http://schemas.openxmlformats.org/officeDocument/2006/relationships/slide" Target="slides/slide39.xml"/><Relationship Id="rId46" Type="http://schemas.openxmlformats.org/officeDocument/2006/relationships/notesMaster" Target="notesMasters/notes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5.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6.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7.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8.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9.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0.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1.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2.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3.xml"/></Relationships>
</file>

<file path=ppt/notesSlides/_rels/notesSlide3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4.xml"/></Relationships>
</file>

<file path=ppt/notesSlides/_rels/notesSlide3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5.xml"/></Relationships>
</file>

<file path=ppt/notesSlides/_rels/notesSlide3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6.xml"/></Relationships>
</file>

<file path=ppt/notesSlides/_rels/notesSlide3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7.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[Claude-added teacher note] Title slide. This deck is a restyle of the original 2017 deck for the Stage 4 Geography 'Landscapes and landforms' topic - content and case studies are from that source, restyled into SPCC house style.</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[Claude-added teacher note] Sits under the syllabus focus on geographical processes that shape landscapes, and the value people place on them. Worth checking this intention against the exact outcome wording in your own NSW Geography 7-10 (2024) syllabus copy before using with a class.</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[Claude-added teacher note] Framing slide - use to activate prior knowledge before the six landscape photos. Ask students to predict the process behind each landscape before you reveal the geomorphic processes section.</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[Claude-added teacher note] Coastline landscape (Sydney). Good anchor example - most students have direct experience of an Australian coastline.</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[Claude-added teacher note] Arid landscape (Namibia). Contrast with the coastline example - different dominant processes (wind erosion/deposition vs wave action).</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[Claude-added teacher note] Mountain landscape (The Alps). Useful for introducing plate tectonics and altitude-driven weathering later in the deck.</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[Claude-added teacher note] Rainforest landscape (Borneo). Good opportunity to raise chemical weathering (high rainfall, humidity) if extending beyond the original deck's scope.</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[Claude-added teacher note] Riverine landscape (The Nile). Links forward to the deposition and river-delta content later in the deck.</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[Claude-added teacher note] Karst landscape (South China). The least familiar of the six to most students - worth a short explanation of limestone dissolution if time allows.</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[Claude-added teacher note] Transition into the geomorphic processes content - weathering, erosion, deposition, plate tectonics.</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[Claude-added teacher note] Core definitions slide. These four terms recur through the rest of the deck and are a common source of mixed-up answers in exams - worth a quick check-in question here before moving on.</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[Claude-added teacher note] Real consequence of erosion - useful for linking geomorphic process to human/liveability impact, which comes up again in the 'changing landscapes' section.</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[Claude-added teacher note] Over to you task - no answer key provided in the original. Suggested answers: headland, bay, wave-cut platform, sea cave, natural bridge, sea stack, blowhole (all labelled on the diagram).</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[Claude-added teacher note] Deposition example - pair with the erosion photo on the previous section for a clear before/after contrast.</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[Claude-added teacher note] Original task from the source deck - a practical, if your class has NSW Geography access to Google Drive/Maps.</a:t>
            </a:r>
          </a:p>
        </p:txBody>
      </p:sp>
      <p:sp>
        <p:nvSpPr>
          <p:cNvPr id="4" name="Slide Number Placeholder 3"/>
          <p:cNvSpPr>
            <a:spLocks noGrp="1"/>
          </p:cNvSpPr>
          <p:nvPr>
            <p:ph type="sldNum" idx="5" sz="quarter"/>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[Claude-added teacher note] NASA tectonic map - good for a 'spot the pattern' activity (plate boundaries align with earthquake/volcano zones).</a:t>
            </a:r>
          </a:p>
        </p:txBody>
      </p:sp>
      <p:sp>
        <p:nvSpPr>
          <p:cNvPr id="4" name="Slide Number Placeholder 3"/>
          <p:cNvSpPr>
            <a:spLocks noGrp="1"/>
          </p:cNvSpPr>
          <p:nvPr>
            <p:ph type="sldNum" idx="5" sz="quarter"/>
          </p:nvPr>
        </p:nvSpPr>
        <p:spPr/>
      </p:sp>
    </p:spTree>
  </p:cSld>
  <p:clrMapOvr>
    <a:masterClrMapping/>
  </p:clrMapOvr>
</p:notes>
</file>

<file path=ppt/notesSlides/notesSlide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[Claude-added teacher note] Use this diagram to directly contrast convergent, divergent and transform boundaries side by side.</a:t>
            </a:r>
          </a:p>
        </p:txBody>
      </p:sp>
      <p:sp>
        <p:nvSpPr>
          <p:cNvPr id="4" name="Slide Number Placeholder 3"/>
          <p:cNvSpPr>
            <a:spLocks noGrp="1"/>
          </p:cNvSpPr>
          <p:nvPr>
            <p:ph type="sldNum" idx="5" sz="quarter"/>
          </p:nvPr>
        </p:nvSpPr>
        <p:spPr/>
      </p:sp>
    </p:spTree>
  </p:cSld>
  <p:clrMapOvr>
    <a:masterClrMapping/>
  </p:clrMapOvr>
</p:notes>
</file>

<file path=ppt/notesSlides/notesSlide1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[Claude-added teacher note] Real ABC Education video, verified working at time of building this deck (2026) - preview before class in case the link has moved.</a:t>
            </a:r>
          </a:p>
        </p:txBody>
      </p:sp>
      <p:sp>
        <p:nvSpPr>
          <p:cNvPr id="4" name="Slide Number Placeholder 3"/>
          <p:cNvSpPr>
            <a:spLocks noGrp="1"/>
          </p:cNvSpPr>
          <p:nvPr>
            <p:ph type="sldNum" idx="5" sz="quarter"/>
          </p:nvPr>
        </p:nvSpPr>
        <p:spPr/>
      </p:sp>
    </p:spTree>
  </p:cSld>
  <p:clrMapOvr>
    <a:masterClrMapping/>
  </p:clrMapOvr>
</p:notes>
</file>

<file path=ppt/notesSlides/notesSlide1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[Claude-added teacher note] Real Khan Academy video, verified working at time of building this deck (2026) - preview before class in case the link has moved.</a:t>
            </a:r>
          </a:p>
        </p:txBody>
      </p:sp>
      <p:sp>
        <p:nvSpPr>
          <p:cNvPr id="4" name="Slide Number Placeholder 3"/>
          <p:cNvSpPr>
            <a:spLocks noGrp="1"/>
          </p:cNvSpPr>
          <p:nvPr>
            <p:ph type="sldNum" idx="5" sz="quarter"/>
          </p:nvPr>
        </p:nvSpPr>
        <p:spPr/>
      </p:sp>
    </p:spTree>
  </p:cSld>
  <p:clrMapOvr>
    <a:masterClrMapping/>
  </p:clrMapOvr>
</p:notes>
</file>

<file path=ppt/notesSlides/notesSlide2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[Claude-added teacher note] Transition into aesthetic and cultural value - a good moment to ask students for their own examples before showing the slides.</a:t>
            </a:r>
          </a:p>
        </p:txBody>
      </p:sp>
      <p:sp>
        <p:nvSpPr>
          <p:cNvPr id="4" name="Slide Number Placeholder 3"/>
          <p:cNvSpPr>
            <a:spLocks noGrp="1"/>
          </p:cNvSpPr>
          <p:nvPr>
            <p:ph type="sldNum" idx="5" sz="quarter"/>
          </p:nvPr>
        </p:nvSpPr>
        <p:spPr/>
      </p:sp>
    </p:spTree>
  </p:cSld>
  <p:clrMapOvr>
    <a:masterClrMapping/>
  </p:clrMapOvr>
</p:notes>
</file>

<file path=ppt/notesSlides/notesSlide2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[Claude-added teacher note] Core definitions slide for this section.</a:t>
            </a:r>
          </a:p>
        </p:txBody>
      </p:sp>
      <p:sp>
        <p:nvSpPr>
          <p:cNvPr id="4" name="Slide Number Placeholder 3"/>
          <p:cNvSpPr>
            <a:spLocks noGrp="1"/>
          </p:cNvSpPr>
          <p:nvPr>
            <p:ph type="sldNum" idx="5" sz="quarter"/>
          </p:nvPr>
        </p:nvSpPr>
        <p:spPr/>
      </p:sp>
    </p:spTree>
  </p:cSld>
  <p:clrMapOvr>
    <a:masterClrMapping/>
  </p:clrMapOvr>
</p:notes>
</file>

<file path=ppt/notesSlides/notesSlide2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[Claude-added teacher note] Aesthetic value example - ask students what makes this landscape 'beautiful' specifically, not just that it is.</a:t>
            </a:r>
          </a:p>
        </p:txBody>
      </p:sp>
      <p:sp>
        <p:nvSpPr>
          <p:cNvPr id="4" name="Slide Number Placeholder 3"/>
          <p:cNvSpPr>
            <a:spLocks noGrp="1"/>
          </p:cNvSpPr>
          <p:nvPr>
            <p:ph type="sldNum" idx="5" sz="quarter"/>
          </p:nvPr>
        </p:nvSpPr>
        <p:spPr/>
      </p:sp>
    </p:spTree>
  </p:cSld>
  <p:clrMapOvr>
    <a:masterClrMapping/>
  </p:clrMapOvr>
</p:notes>
</file>

<file path=ppt/notesSlides/notesSlide2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[Claude-added teacher note] Hawaii hotspot diagram - useful for showing that aesthetic/cultural value and geomorphic process are often the same landscape seen two ways.</a:t>
            </a:r>
          </a:p>
        </p:txBody>
      </p:sp>
      <p:sp>
        <p:nvSpPr>
          <p:cNvPr id="4" name="Slide Number Placeholder 3"/>
          <p:cNvSpPr>
            <a:spLocks noGrp="1"/>
          </p:cNvSpPr>
          <p:nvPr>
            <p:ph type="sldNum" idx="5" sz="quarter"/>
          </p:nvPr>
        </p:nvSpPr>
        <p:spPr/>
      </p:sp>
    </p:spTree>
  </p:cSld>
  <p:clrMapOvr>
    <a:masterClrMapping/>
  </p:clrMapOvr>
</p:notes>
</file>

<file path=ppt/notesSlides/notesSlide2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[Claude-added teacher note] No verified video could be sourced for this specific topic - search live before class rather than skipping the discussion.</a:t>
            </a:r>
          </a:p>
        </p:txBody>
      </p:sp>
      <p:sp>
        <p:nvSpPr>
          <p:cNvPr id="4" name="Slide Number Placeholder 3"/>
          <p:cNvSpPr>
            <a:spLocks noGrp="1"/>
          </p:cNvSpPr>
          <p:nvPr>
            <p:ph type="sldNum" idx="5" sz="quarter"/>
          </p:nvPr>
        </p:nvSpPr>
        <p:spPr/>
      </p:sp>
    </p:spTree>
  </p:cSld>
  <p:clrMapOvr>
    <a:masterClrMapping/>
  </p:clrMapOvr>
</p:notes>
</file>

<file path=ppt/notesSlides/notesSlide2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[Claude-added teacher note] Open task - no answer key in the original. Expect a spread of answers; a good one for class discussion/comparison.</a:t>
            </a:r>
          </a:p>
        </p:txBody>
      </p:sp>
      <p:sp>
        <p:nvSpPr>
          <p:cNvPr id="4" name="Slide Number Placeholder 3"/>
          <p:cNvSpPr>
            <a:spLocks noGrp="1"/>
          </p:cNvSpPr>
          <p:nvPr>
            <p:ph type="sldNum" idx="5" sz="quarter"/>
          </p:nvPr>
        </p:nvSpPr>
        <p:spPr/>
      </p:sp>
    </p:spTree>
  </p:cSld>
  <p:clrMapOvr>
    <a:masterClrMapping/>
  </p:clrMapOvr>
</p:notes>
</file>

<file path=ppt/notesSlides/notesSlide2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[Claude-added teacher note] Real, sourced map (Australian Government, 2011).</a:t>
            </a:r>
          </a:p>
        </p:txBody>
      </p:sp>
      <p:sp>
        <p:nvSpPr>
          <p:cNvPr id="4" name="Slide Number Placeholder 3"/>
          <p:cNvSpPr>
            <a:spLocks noGrp="1"/>
          </p:cNvSpPr>
          <p:nvPr>
            <p:ph type="sldNum" idx="5" sz="quarter"/>
          </p:nvPr>
        </p:nvSpPr>
        <p:spPr/>
      </p:sp>
    </p:spTree>
  </p:cSld>
  <p:clrMapOvr>
    <a:masterClrMapping/>
  </p:clrMapOvr>
</p:notes>
</file>

<file path=ppt/notesSlides/notesSlide2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[Claude-added teacher note] Table task - students pick 2 to 4 World Heritage sites from the previous slide's map and complete the table themselves.</a:t>
            </a:r>
          </a:p>
        </p:txBody>
      </p:sp>
      <p:sp>
        <p:nvSpPr>
          <p:cNvPr id="4" name="Slide Number Placeholder 3"/>
          <p:cNvSpPr>
            <a:spLocks noGrp="1"/>
          </p:cNvSpPr>
          <p:nvPr>
            <p:ph type="sldNum" idx="5" sz="quarter"/>
          </p:nvPr>
        </p:nvSpPr>
        <p:spPr/>
      </p:sp>
    </p:spTree>
  </p:cSld>
  <p:clrMapOvr>
    <a:masterClrMapping/>
  </p:clrMapOvr>
</p:notes>
</file>

<file path=ppt/notesSlides/notesSlide2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[Claude-added teacher note] Transition into economic value.</a:t>
            </a:r>
          </a:p>
        </p:txBody>
      </p:sp>
      <p:sp>
        <p:nvSpPr>
          <p:cNvPr id="4" name="Slide Number Placeholder 3"/>
          <p:cNvSpPr>
            <a:spLocks noGrp="1"/>
          </p:cNvSpPr>
          <p:nvPr>
            <p:ph type="sldNum" idx="5" sz="quarter"/>
          </p:nvPr>
        </p:nvSpPr>
        <p:spPr/>
      </p:sp>
    </p:spTree>
  </p:cSld>
  <p:clrMapOvr>
    <a:masterClrMapping/>
  </p:clrMapOvr>
</p:notes>
</file>

<file path=ppt/notesSlides/notesSlide2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[Claude-added teacher note] Core definitions slide for this section.</a:t>
            </a:r>
          </a:p>
        </p:txBody>
      </p:sp>
      <p:sp>
        <p:nvSpPr>
          <p:cNvPr id="4" name="Slide Number Placeholder 3"/>
          <p:cNvSpPr>
            <a:spLocks noGrp="1"/>
          </p:cNvSpPr>
          <p:nvPr>
            <p:ph type="sldNum" idx="5" sz="quarter"/>
          </p:nvPr>
        </p:nvSpPr>
        <p:spPr/>
      </p:sp>
    </p:spTree>
  </p:cSld>
  <p:clrMapOvr>
    <a:masterClrMapping/>
  </p:clrMapOvr>
</p:notes>
</file>

<file path=ppt/notesSlides/notesSlide3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[Claude-added teacher note] Illustrates tourism-driven economic value - pairs well with the Uluru case study next.</a:t>
            </a:r>
          </a:p>
        </p:txBody>
      </p:sp>
      <p:sp>
        <p:nvSpPr>
          <p:cNvPr id="4" name="Slide Number Placeholder 3"/>
          <p:cNvSpPr>
            <a:spLocks noGrp="1"/>
          </p:cNvSpPr>
          <p:nvPr>
            <p:ph type="sldNum" idx="5" sz="quarter"/>
          </p:nvPr>
        </p:nvSpPr>
        <p:spPr/>
      </p:sp>
    </p:spTree>
  </p:cSld>
  <p:clrMapOvr>
    <a:masterClrMapping/>
  </p:clrMapOvr>
</p:notes>
</file>

<file path=ppt/notesSlides/notesSlide3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[Claude-added teacher note] Case study slide - figures (348m, 9.4km, ~400,000 visitors/year) are from the original deck and were not independently re-verified when this deck was restyled; worth a quick currency check if used in a future year.</a:t>
            </a:r>
          </a:p>
        </p:txBody>
      </p:sp>
      <p:sp>
        <p:nvSpPr>
          <p:cNvPr id="4" name="Slide Number Placeholder 3"/>
          <p:cNvSpPr>
            <a:spLocks noGrp="1"/>
          </p:cNvSpPr>
          <p:nvPr>
            <p:ph type="sldNum" idx="5" sz="quarter"/>
          </p:nvPr>
        </p:nvSpPr>
        <p:spPr/>
      </p:sp>
    </p:spTree>
  </p:cSld>
  <p:clrMapOvr>
    <a:masterClrMapping/>
  </p:clrMapOvr>
</p:notes>
</file>

<file path=ppt/notesSlides/notesSlide3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[Claude-added teacher note] Transition into changing landscapes - the final content section, tying process, value and human impact together.</a:t>
            </a:r>
          </a:p>
        </p:txBody>
      </p:sp>
      <p:sp>
        <p:nvSpPr>
          <p:cNvPr id="4" name="Slide Number Placeholder 3"/>
          <p:cNvSpPr>
            <a:spLocks noGrp="1"/>
          </p:cNvSpPr>
          <p:nvPr>
            <p:ph type="sldNum" idx="5" sz="quarter"/>
          </p:nvPr>
        </p:nvSpPr>
        <p:spPr/>
      </p:sp>
    </p:spTree>
  </p:cSld>
  <p:clrMapOvr>
    <a:masterClrMapping/>
  </p:clrMapOvr>
</p:notes>
</file>

<file path=ppt/notesSlides/notesSlide3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[Claude-added teacher note] Sets up the coastal population statistic used again on the population infographic slide.</a:t>
            </a:r>
          </a:p>
        </p:txBody>
      </p:sp>
      <p:sp>
        <p:nvSpPr>
          <p:cNvPr id="4" name="Slide Number Placeholder 3"/>
          <p:cNvSpPr>
            <a:spLocks noGrp="1"/>
          </p:cNvSpPr>
          <p:nvPr>
            <p:ph type="sldNum" idx="5" sz="quarter"/>
          </p:nvPr>
        </p:nvSpPr>
        <p:spPr/>
      </p:sp>
    </p:spTree>
  </p:cSld>
  <p:clrMapOvr>
    <a:masterClrMapping/>
  </p:clrMapOvr>
</p:notes>
</file>

<file path=ppt/notesSlides/notesSlide3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[Claude-added teacher note] Open task - no answer key in the original. Expect: climate, lifestyle, jobs, access to water/recreation.</a:t>
            </a:r>
          </a:p>
        </p:txBody>
      </p:sp>
      <p:sp>
        <p:nvSpPr>
          <p:cNvPr id="4" name="Slide Number Placeholder 3"/>
          <p:cNvSpPr>
            <a:spLocks noGrp="1"/>
          </p:cNvSpPr>
          <p:nvPr>
            <p:ph type="sldNum" idx="5" sz="quarter"/>
          </p:nvPr>
        </p:nvSpPr>
        <p:spPr/>
      </p:sp>
    </p:spTree>
  </p:cSld>
  <p:clrMapOvr>
    <a:masterClrMapping/>
  </p:clrMapOvr>
</p:notes>
</file>

<file path=ppt/notesSlides/notesSlide3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[Claude-added teacher note] McCrindle Research infographic, sourced from the original deck - useful for a numeracy tie-in (reading a population map).</a:t>
            </a:r>
          </a:p>
        </p:txBody>
      </p:sp>
      <p:sp>
        <p:nvSpPr>
          <p:cNvPr id="4" name="Slide Number Placeholder 3"/>
          <p:cNvSpPr>
            <a:spLocks noGrp="1"/>
          </p:cNvSpPr>
          <p:nvPr>
            <p:ph type="sldNum" idx="5" sz="quarter"/>
          </p:nvPr>
        </p:nvSpPr>
        <p:spPr/>
      </p:sp>
    </p:spTree>
  </p:cSld>
  <p:clrMapOvr>
    <a:masterClrMapping/>
  </p:clrMapOvr>
</p:notes>
</file>

<file path=ppt/notesSlides/notesSlide3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[Claude-added teacher note] Text and map are from the original source deck (captioned 'Source 3.10' there); the original textbook was not identified or independently verified when this deck was restyled - check before citing the figure/map source by name with a class.</a:t>
            </a:r>
          </a:p>
        </p:txBody>
      </p:sp>
      <p:sp>
        <p:nvSpPr>
          <p:cNvPr id="4" name="Slide Number Placeholder 3"/>
          <p:cNvSpPr>
            <a:spLocks noGrp="1"/>
          </p:cNvSpPr>
          <p:nvPr>
            <p:ph type="sldNum" idx="5" sz="quarter"/>
          </p:nvPr>
        </p:nvSpPr>
        <p:spPr/>
      </p:sp>
    </p:spTree>
  </p:cSld>
  <p:clrMapOvr>
    <a:masterClrMapping/>
  </p:clrMapOvr>
</p:notes>
</file>

<file path=ppt/notesSlides/notesSlide3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[Claude-added teacher note] Full source list for every photo, diagram, video and statistic used in this deck - share this slide if a student or colleague asks where something came from.</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jpg"/><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jpg"/><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jpg"/><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jpg"/><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jpg"/><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6.jpg"/><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7.jpg"/><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8.jpg"/><Relationship Id="rId3"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9.jpg"/><Relationship Id="rId3"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0.jpg"/><Relationship Id="rId3"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1.jpg"/><Relationship Id="rId3"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2.jpg"/><Relationship Id="rId3"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3.jpg"/><Relationship Id="rId3"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hyperlink" Target="https://www.abc.net.au/education/landscapes-and-landforms-coastal-landscapes/102317076" TargetMode="External"/><Relationship Id="rId3"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hyperlink" Target="https://www.khanacademy.org/science/middle-school-earth-and-space-science/x87d03b443efbea0a:the-geosphere/x87d03b443efbea0a:plate-tectonics/v/introduction-to-plate-tectonics" TargetMode="External"/><Relationship Id="rId3"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4.jpg"/><Relationship Id="rId3"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5.jpg"/><Relationship Id="rId3"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6.jpg"/><Relationship Id="rId3"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7.png"/><Relationship Id="rId3"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8.jpg"/><Relationship Id="rId3"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9.jpg"/><Relationship Id="rId3"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0.jpg"/><Relationship Id="rId3"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0.jpg"/><Relationship Id="rId3"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1.jpg"/><Relationship Id="rId3"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2.jpg"/><Relationship Id="rId3"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hyperlink" Target="https://www.slideshare.net/adeshipp/landforms-and-landscapes" TargetMode="External"/><Relationship Id="rId3" Type="http://schemas.openxmlformats.org/officeDocument/2006/relationships/hyperlink" Target="https://visibleearth.nasa.gov/images/55418/blue-marble-the-earth-seen-from-apollo-17" TargetMode="External"/><Relationship Id="rId4" Type="http://schemas.openxmlformats.org/officeDocument/2006/relationships/hyperlink" Target="https://denali.gsfc.nasa.gov/dtam/" TargetMode="External"/><Relationship Id="rId5" Type="http://schemas.openxmlformats.org/officeDocument/2006/relationships/hyperlink" Target="https://www.abc.net.au/education/landscapes-and-landforms-coastal-landscapes/102317076" TargetMode="External"/><Relationship Id="rId6" Type="http://schemas.openxmlformats.org/officeDocument/2006/relationships/hyperlink" Target="https://www.khanacademy.org/science/middle-school-earth-and-space-science/x87d03b443efbea0a:the-geosphere/x87d03b443efbea0a:plate-tectonics/v/introduction-to-plate-tectonics" TargetMode="External"/><Relationship Id="rId7" Type="http://schemas.openxmlformats.org/officeDocument/2006/relationships/hyperlink" Target="https://www.environment.gov.au/heritage/places/world-heritage-list" TargetMode="External"/><Relationship Id="rId8" Type="http://schemas.openxmlformats.org/officeDocument/2006/relationships/hyperlink" Target="https://mccrindle.com.au" TargetMode="External"/><Relationship Id="rId9" Type="http://schemas.openxmlformats.org/officeDocument/2006/relationships/hyperlink" Target="https://www.mapsofworld.com" TargetMode="External"/><Relationship Id="rId10" Type="http://schemas.openxmlformats.org/officeDocument/2006/relationships/notesSlide" Target="../notesSlides/notesSlide37.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03146"/>
        </a:solidFill>
        <a:effectLst/>
      </p:bgPr>
    </p:bg>
    <p:spTree>
      <p:nvGrpSpPr>
        <p:cNvPr id="1" name=""/>
        <p:cNvGrpSpPr/>
        <p:nvPr/>
      </p:nvGrpSpPr>
      <p:grpSpPr/>
      <p:sp>
        <p:nvSpPr>
          <p:cNvPr id="2" name="TextBox 1"/>
          <p:cNvSpPr txBox="1"/>
          <p:nvPr/>
        </p:nvSpPr>
        <p:spPr>
          <a:xfrm>
            <a:off x="731520" y="1371600"/>
            <a:ext cx="10698480" cy="548640"/>
          </a:xfrm>
          <a:prstGeom prst="rect">
            <a:avLst/>
          </a:prstGeom>
          <a:noFill/>
        </p:spPr>
        <p:txBody>
          <a:bodyPr wrap="square">
            <a:spAutoFit/>
          </a:bodyPr>
          <a:lstStyle/>
          <a:p>
            <a:pPr algn="l"/>
            <a:r>
              <a:rPr sz="2000" b="1" i="0">
                <a:solidFill>
                  <a:srgbClr val="8AC5CF"/>
                </a:solidFill>
                <a:latin typeface="Open Sans"/>
              </a:rPr>
              <a:t>STAGE 4 GEOGRAPHY</a:t>
            </a:r>
          </a:p>
        </p:txBody>
      </p:sp>
      <p:sp>
        <p:nvSpPr>
          <p:cNvPr id="3" name="TextBox 2"/>
          <p:cNvSpPr txBox="1"/>
          <p:nvPr/>
        </p:nvSpPr>
        <p:spPr>
          <a:xfrm>
            <a:off x="731520" y="1920240"/>
            <a:ext cx="10698480" cy="1371600"/>
          </a:xfrm>
          <a:prstGeom prst="rect">
            <a:avLst/>
          </a:prstGeom>
          <a:noFill/>
        </p:spPr>
        <p:txBody>
          <a:bodyPr wrap="square">
            <a:spAutoFit/>
          </a:bodyPr>
          <a:lstStyle/>
          <a:p>
            <a:pPr algn="l"/>
            <a:r>
              <a:rPr sz="4400" b="1" i="0">
                <a:solidFill>
                  <a:srgbClr val="FFFFFF"/>
                </a:solidFill>
                <a:latin typeface="Merriweather"/>
              </a:rPr>
              <a:t>Landforms and Landscapes</a:t>
            </a:r>
          </a:p>
        </p:txBody>
      </p:sp>
      <p:sp>
        <p:nvSpPr>
          <p:cNvPr id="4" name="Rounded Rectangle 3"/>
          <p:cNvSpPr/>
          <p:nvPr/>
        </p:nvSpPr>
        <p:spPr>
          <a:xfrm>
            <a:off x="731520" y="3429000"/>
            <a:ext cx="2377440" cy="457200"/>
          </a:xfrm>
          <a:prstGeom prst="roundRect">
            <a:avLst>
              <a:gd name="adj" fmla="val 50000"/>
            </a:avLst>
          </a:prstGeom>
          <a:solidFill>
            <a:srgbClr val="FFC20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731520" y="3429000"/>
            <a:ext cx="2377440" cy="457200"/>
          </a:xfrm>
          <a:prstGeom prst="rect">
            <a:avLst/>
          </a:prstGeom>
          <a:noFill/>
        </p:spPr>
        <p:txBody>
          <a:bodyPr wrap="square">
            <a:spAutoFit/>
          </a:bodyPr>
          <a:lstStyle/>
          <a:p>
            <a:pPr algn="ctr"/>
            <a:r>
              <a:rPr sz="1500" b="1" i="0">
                <a:solidFill>
                  <a:srgbClr val="003146"/>
                </a:solidFill>
                <a:latin typeface="Open Sans"/>
              </a:rPr>
              <a:t>REVISION DECK</a:t>
            </a:r>
          </a:p>
        </p:txBody>
      </p:sp>
      <p:sp>
        <p:nvSpPr>
          <p:cNvPr id="6" name="TextBox 5"/>
          <p:cNvSpPr txBox="1"/>
          <p:nvPr/>
        </p:nvSpPr>
        <p:spPr>
          <a:xfrm>
            <a:off x="731520" y="4160520"/>
            <a:ext cx="10515600" cy="548640"/>
          </a:xfrm>
          <a:prstGeom prst="rect">
            <a:avLst/>
          </a:prstGeom>
          <a:noFill/>
        </p:spPr>
        <p:txBody>
          <a:bodyPr wrap="square">
            <a:spAutoFit/>
          </a:bodyPr>
          <a:lstStyle/>
          <a:p>
            <a:pPr algn="l"/>
            <a:r>
              <a:rPr sz="1600" b="0" i="0">
                <a:solidFill>
                  <a:srgbClr val="8AC5CF"/>
                </a:solidFill>
                <a:latin typeface="Open Sans"/>
              </a:rPr>
              <a:t>Restyled in SPCC house style from the original Topic 2 deck (2017), keeping its photos, diagrams and sources.</a:t>
            </a:r>
          </a:p>
        </p:txBody>
      </p:sp>
      <p:sp>
        <p:nvSpPr>
          <p:cNvPr id="7" name="TextBox 6"/>
          <p:cNvSpPr txBox="1"/>
          <p:nvPr/>
        </p:nvSpPr>
        <p:spPr>
          <a:xfrm>
            <a:off x="548640" y="6537960"/>
            <a:ext cx="1645920" cy="274320"/>
          </a:xfrm>
          <a:prstGeom prst="rect">
            <a:avLst/>
          </a:prstGeom>
          <a:noFill/>
        </p:spPr>
        <p:txBody>
          <a:bodyPr wrap="square">
            <a:spAutoFit/>
          </a:bodyPr>
          <a:lstStyle/>
          <a:p>
            <a:pPr algn="l"/>
            <a:r>
              <a:rPr sz="900" b="0" i="1">
                <a:solidFill>
                  <a:srgbClr val="5D7680"/>
                </a:solidFill>
                <a:latin typeface="Open Sans"/>
              </a:rPr>
              <a:t>Perkins (2026)</a:t>
            </a:r>
          </a:p>
        </p:txBody>
      </p:sp>
      <p:sp>
        <p:nvSpPr>
          <p:cNvPr id="8" name="TextBox 7"/>
          <p:cNvSpPr txBox="1"/>
          <p:nvPr/>
        </p:nvSpPr>
        <p:spPr>
          <a:xfrm>
            <a:off x="2194560" y="6537960"/>
            <a:ext cx="2926080" cy="274320"/>
          </a:xfrm>
          <a:prstGeom prst="rect">
            <a:avLst/>
          </a:prstGeom>
          <a:noFill/>
        </p:spPr>
        <p:txBody>
          <a:bodyPr wrap="square">
            <a:spAutoFit/>
          </a:bodyPr>
          <a:lstStyle/>
          <a:p>
            <a:pPr algn="l"/>
            <a:r>
              <a:rPr sz="900" b="0" i="0">
                <a:solidFill>
                  <a:srgbClr val="5D7680"/>
                </a:solidFill>
                <a:latin typeface="Open Sans"/>
              </a:rPr>
              <a:t>Page 1 of 39</a:t>
            </a:r>
          </a:p>
        </p:txBody>
      </p:sp>
      <p:sp>
        <p:nvSpPr>
          <p:cNvPr id="9" name="TextBox 8"/>
          <p:cNvSpPr txBox="1"/>
          <p:nvPr/>
        </p:nvSpPr>
        <p:spPr>
          <a:xfrm>
            <a:off x="5120640" y="6537960"/>
            <a:ext cx="6492240" cy="274320"/>
          </a:xfrm>
          <a:prstGeom prst="rect">
            <a:avLst/>
          </a:prstGeom>
          <a:noFill/>
        </p:spPr>
        <p:txBody>
          <a:bodyPr wrap="square">
            <a:spAutoFit/>
          </a:bodyPr>
          <a:lstStyle/>
          <a:p>
            <a:pPr algn="r"/>
            <a:r>
              <a:rPr sz="900" b="0" i="0">
                <a:solidFill>
                  <a:srgbClr val="5D7680"/>
                </a:solidFill>
                <a:latin typeface="Open Sans"/>
              </a:rPr>
              <a:t>Landforms and Landscapes  |  Stage 4 Geography  |  REVISION deck</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182880"/>
          </a:xfrm>
          <a:prstGeom prst="rect">
            <a:avLst/>
          </a:prstGeom>
          <a:solidFill>
            <a:srgbClr val="6AA69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365760" y="365760"/>
            <a:ext cx="11430000" cy="1188720"/>
          </a:xfrm>
          <a:prstGeom prst="rect">
            <a:avLst/>
          </a:prstGeom>
          <a:noFill/>
        </p:spPr>
        <p:txBody>
          <a:bodyPr wrap="square">
            <a:spAutoFit/>
          </a:bodyPr>
          <a:lstStyle/>
          <a:p>
            <a:pPr>
              <a:defRPr sz="3000" b="1">
                <a:solidFill>
                  <a:srgbClr val="003146"/>
                </a:solidFill>
              </a:defRPr>
            </a:pPr>
            <a:r>
              <a:t>Learning intention</a:t>
            </a:r>
          </a:p>
        </p:txBody>
      </p:sp>
      <p:sp>
        <p:nvSpPr>
          <p:cNvPr id="4" name="TextBox 3"/>
          <p:cNvSpPr txBox="1"/>
          <p:nvPr/>
        </p:nvSpPr>
        <p:spPr>
          <a:xfrm>
            <a:off x="548640" y="1371600"/>
            <a:ext cx="10972800" cy="822960"/>
          </a:xfrm>
          <a:prstGeom prst="rect">
            <a:avLst/>
          </a:prstGeom>
          <a:noFill/>
        </p:spPr>
        <p:txBody>
          <a:bodyPr wrap="square">
            <a:spAutoFit/>
          </a:bodyPr>
          <a:lstStyle/>
          <a:p>
            <a:pPr>
              <a:defRPr sz="2200" b="1">
                <a:solidFill>
                  <a:srgbClr val="003146"/>
                </a:solidFill>
              </a:defRPr>
            </a:pPr>
            <a:r>
              <a:t>We are learning how natural processes shape the Earth's landscapes, and why those landscapes matter to people.</a:t>
            </a:r>
          </a:p>
        </p:txBody>
      </p:sp>
      <p:sp>
        <p:nvSpPr>
          <p:cNvPr id="5" name="TextBox 4"/>
          <p:cNvSpPr txBox="1"/>
          <p:nvPr/>
        </p:nvSpPr>
        <p:spPr>
          <a:xfrm>
            <a:off x="548640" y="2377440"/>
            <a:ext cx="10972800" cy="457200"/>
          </a:xfrm>
          <a:prstGeom prst="rect">
            <a:avLst/>
          </a:prstGeom>
          <a:noFill/>
        </p:spPr>
        <p:txBody>
          <a:bodyPr wrap="none">
            <a:spAutoFit/>
          </a:bodyPr>
          <a:lstStyle/>
          <a:p>
            <a:pPr>
              <a:defRPr sz="2000" b="1">
                <a:solidFill>
                  <a:srgbClr val="6AA69B"/>
                </a:solidFill>
              </a:defRPr>
            </a:pPr>
            <a:r>
              <a:t>Success criteria - I can:</a:t>
            </a:r>
          </a:p>
        </p:txBody>
      </p:sp>
      <p:sp>
        <p:nvSpPr>
          <p:cNvPr id="6" name="TextBox 5"/>
          <p:cNvSpPr txBox="1"/>
          <p:nvPr/>
        </p:nvSpPr>
        <p:spPr>
          <a:xfrm>
            <a:off x="548640" y="2926080"/>
            <a:ext cx="11155680" cy="4937760"/>
          </a:xfrm>
          <a:prstGeom prst="rect">
            <a:avLst/>
          </a:prstGeom>
          <a:noFill/>
        </p:spPr>
        <p:txBody>
          <a:bodyPr wrap="square">
            <a:spAutoFit/>
          </a:bodyPr>
          <a:lstStyle/>
          <a:p>
            <a:pPr algn="l">
              <a:spcAft>
                <a:spcPts val="9000"/>
              </a:spcAft>
              <a:defRPr sz="2000" b="1">
                <a:solidFill>
                  <a:srgbClr val="222630"/>
                </a:solidFill>
              </a:defRPr>
            </a:pPr>
            <a:r>
              <a:t>•  I can explain weathering, erosion, deposition and plate tectonics.</a:t>
            </a:r>
          </a:p>
          <a:p>
            <a:pPr algn="l">
              <a:spcAft>
                <a:spcPts val="9000"/>
              </a:spcAft>
              <a:defRPr sz="2000" b="1">
                <a:solidFill>
                  <a:srgbClr val="222630"/>
                </a:solidFill>
              </a:defRPr>
            </a:pPr>
            <a:r>
              <a:t>•  I can describe the aesthetic, cultural and economic value of a landscape.</a:t>
            </a:r>
          </a:p>
          <a:p>
            <a:pPr algn="l">
              <a:spcAft>
                <a:spcPts val="0"/>
              </a:spcAft>
              <a:defRPr sz="2000" b="1">
                <a:solidFill>
                  <a:srgbClr val="222630"/>
                </a:solidFill>
              </a:defRPr>
            </a:pPr>
            <a:r>
              <a:t>•  I can explain how people change landscapes, using the Australian coast as an example.</a:t>
            </a:r>
          </a:p>
        </p:txBody>
      </p:sp>
      <p:sp>
        <p:nvSpPr>
          <p:cNvPr id="7" name="TextBox 6"/>
          <p:cNvSpPr txBox="1"/>
          <p:nvPr/>
        </p:nvSpPr>
        <p:spPr>
          <a:xfrm>
            <a:off x="548640" y="6537960"/>
            <a:ext cx="1645920" cy="274320"/>
          </a:xfrm>
          <a:prstGeom prst="rect">
            <a:avLst/>
          </a:prstGeom>
          <a:noFill/>
        </p:spPr>
        <p:txBody>
          <a:bodyPr wrap="square">
            <a:spAutoFit/>
          </a:bodyPr>
          <a:lstStyle/>
          <a:p>
            <a:pPr algn="l"/>
            <a:r>
              <a:rPr sz="900" b="0" i="1">
                <a:solidFill>
                  <a:srgbClr val="5D7680"/>
                </a:solidFill>
                <a:latin typeface="Open Sans"/>
              </a:rPr>
              <a:t>Perkins (2026)</a:t>
            </a:r>
          </a:p>
        </p:txBody>
      </p:sp>
      <p:sp>
        <p:nvSpPr>
          <p:cNvPr id="8" name="TextBox 7"/>
          <p:cNvSpPr txBox="1"/>
          <p:nvPr/>
        </p:nvSpPr>
        <p:spPr>
          <a:xfrm>
            <a:off x="2194560" y="6537960"/>
            <a:ext cx="2926080" cy="274320"/>
          </a:xfrm>
          <a:prstGeom prst="rect">
            <a:avLst/>
          </a:prstGeom>
          <a:noFill/>
        </p:spPr>
        <p:txBody>
          <a:bodyPr wrap="square">
            <a:spAutoFit/>
          </a:bodyPr>
          <a:lstStyle/>
          <a:p>
            <a:pPr algn="l"/>
            <a:r>
              <a:rPr sz="900" b="0" i="0">
                <a:solidFill>
                  <a:srgbClr val="5D7680"/>
                </a:solidFill>
                <a:latin typeface="Open Sans"/>
              </a:rPr>
              <a:t>Page 2 of 39</a:t>
            </a:r>
          </a:p>
        </p:txBody>
      </p:sp>
      <p:sp>
        <p:nvSpPr>
          <p:cNvPr id="9" name="TextBox 8"/>
          <p:cNvSpPr txBox="1"/>
          <p:nvPr/>
        </p:nvSpPr>
        <p:spPr>
          <a:xfrm>
            <a:off x="5120640" y="6537960"/>
            <a:ext cx="6492240" cy="274320"/>
          </a:xfrm>
          <a:prstGeom prst="rect">
            <a:avLst/>
          </a:prstGeom>
          <a:noFill/>
        </p:spPr>
        <p:txBody>
          <a:bodyPr wrap="square">
            <a:spAutoFit/>
          </a:bodyPr>
          <a:lstStyle/>
          <a:p>
            <a:pPr algn="r"/>
            <a:r>
              <a:rPr sz="900" b="0" i="0">
                <a:solidFill>
                  <a:srgbClr val="5D7680"/>
                </a:solidFill>
                <a:latin typeface="Open Sans"/>
              </a:rPr>
              <a:t>Landforms and Landscapes  |  Stage 4 Geography  |  REVISION deck</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182880"/>
          </a:xfrm>
          <a:prstGeom prst="rect">
            <a:avLst/>
          </a:prstGeom>
          <a:solidFill>
            <a:srgbClr val="6AA69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365760" y="365760"/>
            <a:ext cx="11430000" cy="1188720"/>
          </a:xfrm>
          <a:prstGeom prst="rect">
            <a:avLst/>
          </a:prstGeom>
          <a:noFill/>
        </p:spPr>
        <p:txBody>
          <a:bodyPr wrap="square">
            <a:spAutoFit/>
          </a:bodyPr>
          <a:lstStyle/>
          <a:p>
            <a:pPr>
              <a:defRPr sz="2800" b="1">
                <a:solidFill>
                  <a:srgbClr val="003146"/>
                </a:solidFill>
              </a:defRPr>
            </a:pPr>
            <a:r>
              <a:t>What processes and impacts are occurring to these landscapes?</a:t>
            </a:r>
          </a:p>
        </p:txBody>
      </p:sp>
      <p:sp>
        <p:nvSpPr>
          <p:cNvPr id="4" name="TextBox 3"/>
          <p:cNvSpPr txBox="1"/>
          <p:nvPr/>
        </p:nvSpPr>
        <p:spPr>
          <a:xfrm>
            <a:off x="548640" y="2798063"/>
            <a:ext cx="6126480" cy="4937760"/>
          </a:xfrm>
          <a:prstGeom prst="rect">
            <a:avLst/>
          </a:prstGeom>
          <a:noFill/>
        </p:spPr>
        <p:txBody>
          <a:bodyPr wrap="square">
            <a:spAutoFit/>
          </a:bodyPr>
          <a:lstStyle/>
          <a:p>
            <a:pPr algn="l">
              <a:spcAft>
                <a:spcPts val="1620"/>
              </a:spcAft>
              <a:defRPr sz="1800" b="1">
                <a:solidFill>
                  <a:srgbClr val="222630"/>
                </a:solidFill>
              </a:defRPr>
            </a:pPr>
            <a:r>
              <a:t>•  Every landscape you will revise in this deck has been shaped by natural processes over a very long time.</a:t>
            </a:r>
          </a:p>
          <a:p>
            <a:pPr algn="l">
              <a:spcAft>
                <a:spcPts val="0"/>
              </a:spcAft>
              <a:defRPr sz="1800" b="1">
                <a:solidFill>
                  <a:srgbClr val="222630"/>
                </a:solidFill>
              </a:defRPr>
            </a:pPr>
            <a:r>
              <a:t>•  As you work through each case study, keep asking: what process made this, and what does it mean for the people who live there?</a:t>
            </a:r>
          </a:p>
        </p:txBody>
      </p:sp>
      <p:pic>
        <p:nvPicPr>
          <p:cNvPr id="5" name="Picture 4" descr="earth_blue_marble.jpg"/>
          <p:cNvPicPr>
            <a:picLocks noChangeAspect="1"/>
          </p:cNvPicPr>
          <p:nvPr/>
        </p:nvPicPr>
        <p:blipFill>
          <a:blip r:embed="rId2"/>
          <a:srcRect t="23979" b="23979"/>
          <a:stretch>
            <a:fillRect/>
          </a:stretch>
        </p:blipFill>
        <p:spPr>
          <a:xfrm>
            <a:off x="6949440" y="1554480"/>
            <a:ext cx="4846320" cy="4480560"/>
          </a:xfrm>
          <a:prstGeom prst="rect">
            <a:avLst/>
          </a:prstGeom>
        </p:spPr>
      </p:pic>
      <p:sp>
        <p:nvSpPr>
          <p:cNvPr id="6" name="TextBox 5"/>
          <p:cNvSpPr txBox="1"/>
          <p:nvPr/>
        </p:nvSpPr>
        <p:spPr>
          <a:xfrm>
            <a:off x="6949440" y="6080760"/>
            <a:ext cx="4846320" cy="274320"/>
          </a:xfrm>
          <a:prstGeom prst="rect">
            <a:avLst/>
          </a:prstGeom>
          <a:noFill/>
        </p:spPr>
        <p:txBody>
          <a:bodyPr wrap="square">
            <a:spAutoFit/>
          </a:bodyPr>
          <a:lstStyle/>
          <a:p>
            <a:pPr algn="l"/>
            <a:r>
              <a:rPr sz="900" b="0" i="1">
                <a:solidFill>
                  <a:srgbClr val="5D7680"/>
                </a:solidFill>
                <a:latin typeface="Open Sans"/>
              </a:rPr>
              <a:t>Image: NASA, "The Blue Marble" (Apollo 17, 1972) - public domain.</a:t>
            </a:r>
          </a:p>
        </p:txBody>
      </p:sp>
      <p:sp>
        <p:nvSpPr>
          <p:cNvPr id="7" name="TextBox 6"/>
          <p:cNvSpPr txBox="1"/>
          <p:nvPr/>
        </p:nvSpPr>
        <p:spPr>
          <a:xfrm>
            <a:off x="548640" y="6537960"/>
            <a:ext cx="1645920" cy="274320"/>
          </a:xfrm>
          <a:prstGeom prst="rect">
            <a:avLst/>
          </a:prstGeom>
          <a:noFill/>
        </p:spPr>
        <p:txBody>
          <a:bodyPr wrap="square">
            <a:spAutoFit/>
          </a:bodyPr>
          <a:lstStyle/>
          <a:p>
            <a:pPr algn="l"/>
            <a:r>
              <a:rPr sz="900" b="0" i="1">
                <a:solidFill>
                  <a:srgbClr val="5D7680"/>
                </a:solidFill>
                <a:latin typeface="Open Sans"/>
              </a:rPr>
              <a:t>Perkins (2026)</a:t>
            </a:r>
          </a:p>
        </p:txBody>
      </p:sp>
      <p:sp>
        <p:nvSpPr>
          <p:cNvPr id="8" name="TextBox 7"/>
          <p:cNvSpPr txBox="1"/>
          <p:nvPr/>
        </p:nvSpPr>
        <p:spPr>
          <a:xfrm>
            <a:off x="2194560" y="6537960"/>
            <a:ext cx="2926080" cy="274320"/>
          </a:xfrm>
          <a:prstGeom prst="rect">
            <a:avLst/>
          </a:prstGeom>
          <a:noFill/>
        </p:spPr>
        <p:txBody>
          <a:bodyPr wrap="square">
            <a:spAutoFit/>
          </a:bodyPr>
          <a:lstStyle/>
          <a:p>
            <a:pPr algn="l"/>
            <a:r>
              <a:rPr sz="900" b="0" i="0">
                <a:solidFill>
                  <a:srgbClr val="5D7680"/>
                </a:solidFill>
                <a:latin typeface="Open Sans"/>
              </a:rPr>
              <a:t>Page 3 of 39</a:t>
            </a:r>
          </a:p>
        </p:txBody>
      </p:sp>
      <p:sp>
        <p:nvSpPr>
          <p:cNvPr id="9" name="TextBox 8"/>
          <p:cNvSpPr txBox="1"/>
          <p:nvPr/>
        </p:nvSpPr>
        <p:spPr>
          <a:xfrm>
            <a:off x="5120640" y="6537960"/>
            <a:ext cx="6492240" cy="274320"/>
          </a:xfrm>
          <a:prstGeom prst="rect">
            <a:avLst/>
          </a:prstGeom>
          <a:noFill/>
        </p:spPr>
        <p:txBody>
          <a:bodyPr wrap="square">
            <a:spAutoFit/>
          </a:bodyPr>
          <a:lstStyle/>
          <a:p>
            <a:pPr algn="r"/>
            <a:r>
              <a:rPr sz="900" b="0" i="0">
                <a:solidFill>
                  <a:srgbClr val="5D7680"/>
                </a:solidFill>
                <a:latin typeface="Open Sans"/>
              </a:rPr>
              <a:t>Landforms and Landscapes  |  Stage 4 Geography  |  REVISION deck</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03146"/>
        </a:solidFill>
        <a:effectLst/>
      </p:bgPr>
    </p:bg>
    <p:spTree>
      <p:nvGrpSpPr>
        <p:cNvPr id="1" name=""/>
        <p:cNvGrpSpPr/>
        <p:nvPr/>
      </p:nvGrpSpPr>
      <p:grpSpPr/>
      <p:pic>
        <p:nvPicPr>
          <p:cNvPr id="2" name="Picture 1" descr="sydney_coastline.jpg"/>
          <p:cNvPicPr>
            <a:picLocks noChangeAspect="1"/>
          </p:cNvPicPr>
          <p:nvPr/>
        </p:nvPicPr>
        <p:blipFill>
          <a:blip r:embed="rId2"/>
          <a:srcRect l="13111" r="13111"/>
          <a:stretch>
            <a:fillRect/>
          </a:stretch>
        </p:blipFill>
        <p:spPr>
          <a:xfrm>
            <a:off x="0" y="0"/>
            <a:ext cx="7589520" cy="6858000"/>
          </a:xfrm>
          <a:prstGeom prst="rect">
            <a:avLst/>
          </a:prstGeom>
        </p:spPr>
      </p:pic>
      <p:sp>
        <p:nvSpPr>
          <p:cNvPr id="3" name="TextBox 2"/>
          <p:cNvSpPr txBox="1"/>
          <p:nvPr/>
        </p:nvSpPr>
        <p:spPr>
          <a:xfrm>
            <a:off x="7955280" y="2377440"/>
            <a:ext cx="3870655" cy="457200"/>
          </a:xfrm>
          <a:prstGeom prst="rect">
            <a:avLst/>
          </a:prstGeom>
          <a:noFill/>
        </p:spPr>
        <p:txBody>
          <a:bodyPr wrap="square">
            <a:spAutoFit/>
          </a:bodyPr>
          <a:lstStyle/>
          <a:p>
            <a:pPr algn="l"/>
            <a:r>
              <a:rPr sz="1600" b="1" i="0">
                <a:solidFill>
                  <a:srgbClr val="FFC20E"/>
                </a:solidFill>
                <a:latin typeface="Open Sans"/>
              </a:rPr>
              <a:t>COASTLINE LANDSCAPE</a:t>
            </a:r>
          </a:p>
        </p:txBody>
      </p:sp>
      <p:sp>
        <p:nvSpPr>
          <p:cNvPr id="4" name="TextBox 3"/>
          <p:cNvSpPr txBox="1"/>
          <p:nvPr/>
        </p:nvSpPr>
        <p:spPr>
          <a:xfrm>
            <a:off x="7955280" y="2834640"/>
            <a:ext cx="3870655" cy="1463040"/>
          </a:xfrm>
          <a:prstGeom prst="rect">
            <a:avLst/>
          </a:prstGeom>
          <a:noFill/>
        </p:spPr>
        <p:txBody>
          <a:bodyPr wrap="square">
            <a:spAutoFit/>
          </a:bodyPr>
          <a:lstStyle/>
          <a:p>
            <a:pPr algn="l"/>
            <a:r>
              <a:rPr sz="3200" b="1" i="0">
                <a:solidFill>
                  <a:srgbClr val="FFFFFF"/>
                </a:solidFill>
                <a:latin typeface="Merriweather"/>
              </a:rPr>
              <a:t>Sydney, Australia</a:t>
            </a:r>
          </a:p>
        </p:txBody>
      </p:sp>
      <p:sp>
        <p:nvSpPr>
          <p:cNvPr id="5" name="TextBox 4"/>
          <p:cNvSpPr txBox="1"/>
          <p:nvPr/>
        </p:nvSpPr>
        <p:spPr>
          <a:xfrm>
            <a:off x="7955280" y="5943600"/>
            <a:ext cx="3870655" cy="457200"/>
          </a:xfrm>
          <a:prstGeom prst="rect">
            <a:avLst/>
          </a:prstGeom>
          <a:noFill/>
        </p:spPr>
        <p:txBody>
          <a:bodyPr wrap="square">
            <a:spAutoFit/>
          </a:bodyPr>
          <a:lstStyle/>
          <a:p>
            <a:pPr algn="l"/>
            <a:r>
              <a:rPr sz="950" b="0" i="1">
                <a:solidFill>
                  <a:srgbClr val="8AC5CF"/>
                </a:solidFill>
                <a:latin typeface="Open Sans"/>
              </a:rPr>
              <a:t>Image: original resource, source listed in references.</a:t>
            </a:r>
          </a:p>
        </p:txBody>
      </p:sp>
      <p:sp>
        <p:nvSpPr>
          <p:cNvPr id="6" name="TextBox 5"/>
          <p:cNvSpPr txBox="1"/>
          <p:nvPr/>
        </p:nvSpPr>
        <p:spPr>
          <a:xfrm>
            <a:off x="548640" y="6537960"/>
            <a:ext cx="1645920" cy="274320"/>
          </a:xfrm>
          <a:prstGeom prst="rect">
            <a:avLst/>
          </a:prstGeom>
          <a:noFill/>
        </p:spPr>
        <p:txBody>
          <a:bodyPr wrap="square">
            <a:spAutoFit/>
          </a:bodyPr>
          <a:lstStyle/>
          <a:p>
            <a:pPr algn="l"/>
            <a:r>
              <a:rPr sz="900" b="0" i="1">
                <a:solidFill>
                  <a:srgbClr val="5D7680"/>
                </a:solidFill>
                <a:latin typeface="Open Sans"/>
              </a:rPr>
              <a:t>Perkins (2026)</a:t>
            </a:r>
          </a:p>
        </p:txBody>
      </p:sp>
      <p:sp>
        <p:nvSpPr>
          <p:cNvPr id="7" name="TextBox 6"/>
          <p:cNvSpPr txBox="1"/>
          <p:nvPr/>
        </p:nvSpPr>
        <p:spPr>
          <a:xfrm>
            <a:off x="2194560" y="6537960"/>
            <a:ext cx="2926080" cy="274320"/>
          </a:xfrm>
          <a:prstGeom prst="rect">
            <a:avLst/>
          </a:prstGeom>
          <a:noFill/>
        </p:spPr>
        <p:txBody>
          <a:bodyPr wrap="square">
            <a:spAutoFit/>
          </a:bodyPr>
          <a:lstStyle/>
          <a:p>
            <a:pPr algn="l"/>
            <a:r>
              <a:rPr sz="900" b="0" i="0">
                <a:solidFill>
                  <a:srgbClr val="5D7680"/>
                </a:solidFill>
                <a:latin typeface="Open Sans"/>
              </a:rPr>
              <a:t>Page 4 of 39</a:t>
            </a:r>
          </a:p>
        </p:txBody>
      </p:sp>
      <p:sp>
        <p:nvSpPr>
          <p:cNvPr id="8" name="TextBox 7"/>
          <p:cNvSpPr txBox="1"/>
          <p:nvPr/>
        </p:nvSpPr>
        <p:spPr>
          <a:xfrm>
            <a:off x="5120640" y="6537960"/>
            <a:ext cx="6492240" cy="274320"/>
          </a:xfrm>
          <a:prstGeom prst="rect">
            <a:avLst/>
          </a:prstGeom>
          <a:noFill/>
        </p:spPr>
        <p:txBody>
          <a:bodyPr wrap="square">
            <a:spAutoFit/>
          </a:bodyPr>
          <a:lstStyle/>
          <a:p>
            <a:pPr algn="r"/>
            <a:r>
              <a:rPr sz="900" b="0" i="0">
                <a:solidFill>
                  <a:srgbClr val="5D7680"/>
                </a:solidFill>
                <a:latin typeface="Open Sans"/>
              </a:rPr>
              <a:t>Landforms and Landscapes  |  Stage 4 Geography  |  REVISION deck</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03146"/>
        </a:solidFill>
        <a:effectLst/>
      </p:bgPr>
    </p:bg>
    <p:spTree>
      <p:nvGrpSpPr>
        <p:cNvPr id="1" name=""/>
        <p:cNvGrpSpPr/>
        <p:nvPr/>
      </p:nvGrpSpPr>
      <p:grpSpPr/>
      <p:pic>
        <p:nvPicPr>
          <p:cNvPr id="2" name="Picture 1" descr="namibia_arid.jpg"/>
          <p:cNvPicPr>
            <a:picLocks noChangeAspect="1"/>
          </p:cNvPicPr>
          <p:nvPr/>
        </p:nvPicPr>
        <p:blipFill>
          <a:blip r:embed="rId2"/>
          <a:srcRect l="13624" r="13624"/>
          <a:stretch>
            <a:fillRect/>
          </a:stretch>
        </p:blipFill>
        <p:spPr>
          <a:xfrm>
            <a:off x="0" y="0"/>
            <a:ext cx="7589520" cy="6858000"/>
          </a:xfrm>
          <a:prstGeom prst="rect">
            <a:avLst/>
          </a:prstGeom>
        </p:spPr>
      </p:pic>
      <p:sp>
        <p:nvSpPr>
          <p:cNvPr id="3" name="TextBox 2"/>
          <p:cNvSpPr txBox="1"/>
          <p:nvPr/>
        </p:nvSpPr>
        <p:spPr>
          <a:xfrm>
            <a:off x="7955280" y="2377440"/>
            <a:ext cx="3870655" cy="457200"/>
          </a:xfrm>
          <a:prstGeom prst="rect">
            <a:avLst/>
          </a:prstGeom>
          <a:noFill/>
        </p:spPr>
        <p:txBody>
          <a:bodyPr wrap="square">
            <a:spAutoFit/>
          </a:bodyPr>
          <a:lstStyle/>
          <a:p>
            <a:pPr algn="l"/>
            <a:r>
              <a:rPr sz="1600" b="1" i="0">
                <a:solidFill>
                  <a:srgbClr val="FFC20E"/>
                </a:solidFill>
                <a:latin typeface="Open Sans"/>
              </a:rPr>
              <a:t>ARID LANDSCAPE</a:t>
            </a:r>
          </a:p>
        </p:txBody>
      </p:sp>
      <p:sp>
        <p:nvSpPr>
          <p:cNvPr id="4" name="TextBox 3"/>
          <p:cNvSpPr txBox="1"/>
          <p:nvPr/>
        </p:nvSpPr>
        <p:spPr>
          <a:xfrm>
            <a:off x="7955280" y="2834640"/>
            <a:ext cx="3870655" cy="1463040"/>
          </a:xfrm>
          <a:prstGeom prst="rect">
            <a:avLst/>
          </a:prstGeom>
          <a:noFill/>
        </p:spPr>
        <p:txBody>
          <a:bodyPr wrap="square">
            <a:spAutoFit/>
          </a:bodyPr>
          <a:lstStyle/>
          <a:p>
            <a:pPr algn="l"/>
            <a:r>
              <a:rPr sz="3200" b="1" i="0">
                <a:solidFill>
                  <a:srgbClr val="FFFFFF"/>
                </a:solidFill>
                <a:latin typeface="Merriweather"/>
              </a:rPr>
              <a:t>Namibia</a:t>
            </a:r>
          </a:p>
        </p:txBody>
      </p:sp>
      <p:sp>
        <p:nvSpPr>
          <p:cNvPr id="5" name="TextBox 4"/>
          <p:cNvSpPr txBox="1"/>
          <p:nvPr/>
        </p:nvSpPr>
        <p:spPr>
          <a:xfrm>
            <a:off x="7955280" y="5943600"/>
            <a:ext cx="3870655" cy="457200"/>
          </a:xfrm>
          <a:prstGeom prst="rect">
            <a:avLst/>
          </a:prstGeom>
          <a:noFill/>
        </p:spPr>
        <p:txBody>
          <a:bodyPr wrap="square">
            <a:spAutoFit/>
          </a:bodyPr>
          <a:lstStyle/>
          <a:p>
            <a:pPr algn="l"/>
            <a:r>
              <a:rPr sz="950" b="0" i="1">
                <a:solidFill>
                  <a:srgbClr val="8AC5CF"/>
                </a:solidFill>
                <a:latin typeface="Open Sans"/>
              </a:rPr>
              <a:t>Image: original resource, source listed in references.</a:t>
            </a:r>
          </a:p>
        </p:txBody>
      </p:sp>
      <p:sp>
        <p:nvSpPr>
          <p:cNvPr id="6" name="TextBox 5"/>
          <p:cNvSpPr txBox="1"/>
          <p:nvPr/>
        </p:nvSpPr>
        <p:spPr>
          <a:xfrm>
            <a:off x="548640" y="6537960"/>
            <a:ext cx="1645920" cy="274320"/>
          </a:xfrm>
          <a:prstGeom prst="rect">
            <a:avLst/>
          </a:prstGeom>
          <a:noFill/>
        </p:spPr>
        <p:txBody>
          <a:bodyPr wrap="square">
            <a:spAutoFit/>
          </a:bodyPr>
          <a:lstStyle/>
          <a:p>
            <a:pPr algn="l"/>
            <a:r>
              <a:rPr sz="900" b="0" i="1">
                <a:solidFill>
                  <a:srgbClr val="5D7680"/>
                </a:solidFill>
                <a:latin typeface="Open Sans"/>
              </a:rPr>
              <a:t>Perkins (2026)</a:t>
            </a:r>
          </a:p>
        </p:txBody>
      </p:sp>
      <p:sp>
        <p:nvSpPr>
          <p:cNvPr id="7" name="TextBox 6"/>
          <p:cNvSpPr txBox="1"/>
          <p:nvPr/>
        </p:nvSpPr>
        <p:spPr>
          <a:xfrm>
            <a:off x="2194560" y="6537960"/>
            <a:ext cx="2926080" cy="274320"/>
          </a:xfrm>
          <a:prstGeom prst="rect">
            <a:avLst/>
          </a:prstGeom>
          <a:noFill/>
        </p:spPr>
        <p:txBody>
          <a:bodyPr wrap="square">
            <a:spAutoFit/>
          </a:bodyPr>
          <a:lstStyle/>
          <a:p>
            <a:pPr algn="l"/>
            <a:r>
              <a:rPr sz="900" b="0" i="0">
                <a:solidFill>
                  <a:srgbClr val="5D7680"/>
                </a:solidFill>
                <a:latin typeface="Open Sans"/>
              </a:rPr>
              <a:t>Page 5 of 39</a:t>
            </a:r>
          </a:p>
        </p:txBody>
      </p:sp>
      <p:sp>
        <p:nvSpPr>
          <p:cNvPr id="8" name="TextBox 7"/>
          <p:cNvSpPr txBox="1"/>
          <p:nvPr/>
        </p:nvSpPr>
        <p:spPr>
          <a:xfrm>
            <a:off x="5120640" y="6537960"/>
            <a:ext cx="6492240" cy="274320"/>
          </a:xfrm>
          <a:prstGeom prst="rect">
            <a:avLst/>
          </a:prstGeom>
          <a:noFill/>
        </p:spPr>
        <p:txBody>
          <a:bodyPr wrap="square">
            <a:spAutoFit/>
          </a:bodyPr>
          <a:lstStyle/>
          <a:p>
            <a:pPr algn="r"/>
            <a:r>
              <a:rPr sz="900" b="0" i="0">
                <a:solidFill>
                  <a:srgbClr val="5D7680"/>
                </a:solidFill>
                <a:latin typeface="Open Sans"/>
              </a:rPr>
              <a:t>Landforms and Landscapes  |  Stage 4 Geography  |  REVISION deck</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03146"/>
        </a:solidFill>
        <a:effectLst/>
      </p:bgPr>
    </p:bg>
    <p:spTree>
      <p:nvGrpSpPr>
        <p:cNvPr id="1" name=""/>
        <p:cNvGrpSpPr/>
        <p:nvPr/>
      </p:nvGrpSpPr>
      <p:grpSpPr/>
      <p:pic>
        <p:nvPicPr>
          <p:cNvPr id="2" name="Picture 1" descr="alps_mountain.jpg"/>
          <p:cNvPicPr>
            <a:picLocks noChangeAspect="1"/>
          </p:cNvPicPr>
          <p:nvPr/>
        </p:nvPicPr>
        <p:blipFill>
          <a:blip r:embed="rId2"/>
          <a:srcRect l="13664" r="13664"/>
          <a:stretch>
            <a:fillRect/>
          </a:stretch>
        </p:blipFill>
        <p:spPr>
          <a:xfrm>
            <a:off x="0" y="0"/>
            <a:ext cx="7589520" cy="6858000"/>
          </a:xfrm>
          <a:prstGeom prst="rect">
            <a:avLst/>
          </a:prstGeom>
        </p:spPr>
      </p:pic>
      <p:sp>
        <p:nvSpPr>
          <p:cNvPr id="3" name="TextBox 2"/>
          <p:cNvSpPr txBox="1"/>
          <p:nvPr/>
        </p:nvSpPr>
        <p:spPr>
          <a:xfrm>
            <a:off x="7955280" y="2377440"/>
            <a:ext cx="3870655" cy="457200"/>
          </a:xfrm>
          <a:prstGeom prst="rect">
            <a:avLst/>
          </a:prstGeom>
          <a:noFill/>
        </p:spPr>
        <p:txBody>
          <a:bodyPr wrap="square">
            <a:spAutoFit/>
          </a:bodyPr>
          <a:lstStyle/>
          <a:p>
            <a:pPr algn="l"/>
            <a:r>
              <a:rPr sz="1600" b="1" i="0">
                <a:solidFill>
                  <a:srgbClr val="FFC20E"/>
                </a:solidFill>
                <a:latin typeface="Open Sans"/>
              </a:rPr>
              <a:t>MOUNTAIN LANDSCAPE</a:t>
            </a:r>
          </a:p>
        </p:txBody>
      </p:sp>
      <p:sp>
        <p:nvSpPr>
          <p:cNvPr id="4" name="TextBox 3"/>
          <p:cNvSpPr txBox="1"/>
          <p:nvPr/>
        </p:nvSpPr>
        <p:spPr>
          <a:xfrm>
            <a:off x="7955280" y="2834640"/>
            <a:ext cx="3870655" cy="1463040"/>
          </a:xfrm>
          <a:prstGeom prst="rect">
            <a:avLst/>
          </a:prstGeom>
          <a:noFill/>
        </p:spPr>
        <p:txBody>
          <a:bodyPr wrap="square">
            <a:spAutoFit/>
          </a:bodyPr>
          <a:lstStyle/>
          <a:p>
            <a:pPr algn="l"/>
            <a:r>
              <a:rPr sz="3200" b="1" i="0">
                <a:solidFill>
                  <a:srgbClr val="FFFFFF"/>
                </a:solidFill>
                <a:latin typeface="Merriweather"/>
              </a:rPr>
              <a:t>The Alps, Switzerland</a:t>
            </a:r>
          </a:p>
        </p:txBody>
      </p:sp>
      <p:sp>
        <p:nvSpPr>
          <p:cNvPr id="5" name="TextBox 4"/>
          <p:cNvSpPr txBox="1"/>
          <p:nvPr/>
        </p:nvSpPr>
        <p:spPr>
          <a:xfrm>
            <a:off x="7955280" y="5943600"/>
            <a:ext cx="3870655" cy="457200"/>
          </a:xfrm>
          <a:prstGeom prst="rect">
            <a:avLst/>
          </a:prstGeom>
          <a:noFill/>
        </p:spPr>
        <p:txBody>
          <a:bodyPr wrap="square">
            <a:spAutoFit/>
          </a:bodyPr>
          <a:lstStyle/>
          <a:p>
            <a:pPr algn="l"/>
            <a:r>
              <a:rPr sz="950" b="0" i="1">
                <a:solidFill>
                  <a:srgbClr val="8AC5CF"/>
                </a:solidFill>
                <a:latin typeface="Open Sans"/>
              </a:rPr>
              <a:t>Image: original resource, source listed in references.</a:t>
            </a:r>
          </a:p>
        </p:txBody>
      </p:sp>
      <p:sp>
        <p:nvSpPr>
          <p:cNvPr id="6" name="TextBox 5"/>
          <p:cNvSpPr txBox="1"/>
          <p:nvPr/>
        </p:nvSpPr>
        <p:spPr>
          <a:xfrm>
            <a:off x="548640" y="6537960"/>
            <a:ext cx="1645920" cy="274320"/>
          </a:xfrm>
          <a:prstGeom prst="rect">
            <a:avLst/>
          </a:prstGeom>
          <a:noFill/>
        </p:spPr>
        <p:txBody>
          <a:bodyPr wrap="square">
            <a:spAutoFit/>
          </a:bodyPr>
          <a:lstStyle/>
          <a:p>
            <a:pPr algn="l"/>
            <a:r>
              <a:rPr sz="900" b="0" i="1">
                <a:solidFill>
                  <a:srgbClr val="5D7680"/>
                </a:solidFill>
                <a:latin typeface="Open Sans"/>
              </a:rPr>
              <a:t>Perkins (2026)</a:t>
            </a:r>
          </a:p>
        </p:txBody>
      </p:sp>
      <p:sp>
        <p:nvSpPr>
          <p:cNvPr id="7" name="TextBox 6"/>
          <p:cNvSpPr txBox="1"/>
          <p:nvPr/>
        </p:nvSpPr>
        <p:spPr>
          <a:xfrm>
            <a:off x="2194560" y="6537960"/>
            <a:ext cx="2926080" cy="274320"/>
          </a:xfrm>
          <a:prstGeom prst="rect">
            <a:avLst/>
          </a:prstGeom>
          <a:noFill/>
        </p:spPr>
        <p:txBody>
          <a:bodyPr wrap="square">
            <a:spAutoFit/>
          </a:bodyPr>
          <a:lstStyle/>
          <a:p>
            <a:pPr algn="l"/>
            <a:r>
              <a:rPr sz="900" b="0" i="0">
                <a:solidFill>
                  <a:srgbClr val="5D7680"/>
                </a:solidFill>
                <a:latin typeface="Open Sans"/>
              </a:rPr>
              <a:t>Page 6 of 39</a:t>
            </a:r>
          </a:p>
        </p:txBody>
      </p:sp>
      <p:sp>
        <p:nvSpPr>
          <p:cNvPr id="8" name="TextBox 7"/>
          <p:cNvSpPr txBox="1"/>
          <p:nvPr/>
        </p:nvSpPr>
        <p:spPr>
          <a:xfrm>
            <a:off x="5120640" y="6537960"/>
            <a:ext cx="6492240" cy="274320"/>
          </a:xfrm>
          <a:prstGeom prst="rect">
            <a:avLst/>
          </a:prstGeom>
          <a:noFill/>
        </p:spPr>
        <p:txBody>
          <a:bodyPr wrap="square">
            <a:spAutoFit/>
          </a:bodyPr>
          <a:lstStyle/>
          <a:p>
            <a:pPr algn="r"/>
            <a:r>
              <a:rPr sz="900" b="0" i="0">
                <a:solidFill>
                  <a:srgbClr val="5D7680"/>
                </a:solidFill>
                <a:latin typeface="Open Sans"/>
              </a:rPr>
              <a:t>Landforms and Landscapes  |  Stage 4 Geography  |  REVISION deck</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03146"/>
        </a:solidFill>
        <a:effectLst/>
      </p:bgPr>
    </p:bg>
    <p:spTree>
      <p:nvGrpSpPr>
        <p:cNvPr id="1" name=""/>
        <p:cNvGrpSpPr/>
        <p:nvPr/>
      </p:nvGrpSpPr>
      <p:grpSpPr/>
      <p:pic>
        <p:nvPicPr>
          <p:cNvPr id="2" name="Picture 1" descr="borneo_rainforest.jpg"/>
          <p:cNvPicPr>
            <a:picLocks noChangeAspect="1"/>
          </p:cNvPicPr>
          <p:nvPr/>
        </p:nvPicPr>
        <p:blipFill>
          <a:blip r:embed="rId2"/>
          <a:srcRect l="13111" r="13111"/>
          <a:stretch>
            <a:fillRect/>
          </a:stretch>
        </p:blipFill>
        <p:spPr>
          <a:xfrm>
            <a:off x="0" y="0"/>
            <a:ext cx="7589520" cy="6858000"/>
          </a:xfrm>
          <a:prstGeom prst="rect">
            <a:avLst/>
          </a:prstGeom>
        </p:spPr>
      </p:pic>
      <p:sp>
        <p:nvSpPr>
          <p:cNvPr id="3" name="TextBox 2"/>
          <p:cNvSpPr txBox="1"/>
          <p:nvPr/>
        </p:nvSpPr>
        <p:spPr>
          <a:xfrm>
            <a:off x="7955280" y="2377440"/>
            <a:ext cx="3870655" cy="457200"/>
          </a:xfrm>
          <a:prstGeom prst="rect">
            <a:avLst/>
          </a:prstGeom>
          <a:noFill/>
        </p:spPr>
        <p:txBody>
          <a:bodyPr wrap="square">
            <a:spAutoFit/>
          </a:bodyPr>
          <a:lstStyle/>
          <a:p>
            <a:pPr algn="l"/>
            <a:r>
              <a:rPr sz="1600" b="1" i="0">
                <a:solidFill>
                  <a:srgbClr val="FFC20E"/>
                </a:solidFill>
                <a:latin typeface="Open Sans"/>
              </a:rPr>
              <a:t>RAINFOREST LANDSCAPE</a:t>
            </a:r>
          </a:p>
        </p:txBody>
      </p:sp>
      <p:sp>
        <p:nvSpPr>
          <p:cNvPr id="4" name="TextBox 3"/>
          <p:cNvSpPr txBox="1"/>
          <p:nvPr/>
        </p:nvSpPr>
        <p:spPr>
          <a:xfrm>
            <a:off x="7955280" y="2834640"/>
            <a:ext cx="3870655" cy="1463040"/>
          </a:xfrm>
          <a:prstGeom prst="rect">
            <a:avLst/>
          </a:prstGeom>
          <a:noFill/>
        </p:spPr>
        <p:txBody>
          <a:bodyPr wrap="square">
            <a:spAutoFit/>
          </a:bodyPr>
          <a:lstStyle/>
          <a:p>
            <a:pPr algn="l"/>
            <a:r>
              <a:rPr sz="3200" b="1" i="0">
                <a:solidFill>
                  <a:srgbClr val="FFFFFF"/>
                </a:solidFill>
                <a:latin typeface="Merriweather"/>
              </a:rPr>
              <a:t>Borneo, Malaysia</a:t>
            </a:r>
          </a:p>
        </p:txBody>
      </p:sp>
      <p:sp>
        <p:nvSpPr>
          <p:cNvPr id="5" name="TextBox 4"/>
          <p:cNvSpPr txBox="1"/>
          <p:nvPr/>
        </p:nvSpPr>
        <p:spPr>
          <a:xfrm>
            <a:off x="7955280" y="5943600"/>
            <a:ext cx="3870655" cy="457200"/>
          </a:xfrm>
          <a:prstGeom prst="rect">
            <a:avLst/>
          </a:prstGeom>
          <a:noFill/>
        </p:spPr>
        <p:txBody>
          <a:bodyPr wrap="square">
            <a:spAutoFit/>
          </a:bodyPr>
          <a:lstStyle/>
          <a:p>
            <a:pPr algn="l"/>
            <a:r>
              <a:rPr sz="950" b="0" i="1">
                <a:solidFill>
                  <a:srgbClr val="8AC5CF"/>
                </a:solidFill>
                <a:latin typeface="Open Sans"/>
              </a:rPr>
              <a:t>Image: original resource, source listed in references.</a:t>
            </a:r>
          </a:p>
        </p:txBody>
      </p:sp>
      <p:sp>
        <p:nvSpPr>
          <p:cNvPr id="6" name="TextBox 5"/>
          <p:cNvSpPr txBox="1"/>
          <p:nvPr/>
        </p:nvSpPr>
        <p:spPr>
          <a:xfrm>
            <a:off x="548640" y="6537960"/>
            <a:ext cx="1645920" cy="274320"/>
          </a:xfrm>
          <a:prstGeom prst="rect">
            <a:avLst/>
          </a:prstGeom>
          <a:noFill/>
        </p:spPr>
        <p:txBody>
          <a:bodyPr wrap="square">
            <a:spAutoFit/>
          </a:bodyPr>
          <a:lstStyle/>
          <a:p>
            <a:pPr algn="l"/>
            <a:r>
              <a:rPr sz="900" b="0" i="1">
                <a:solidFill>
                  <a:srgbClr val="5D7680"/>
                </a:solidFill>
                <a:latin typeface="Open Sans"/>
              </a:rPr>
              <a:t>Perkins (2026)</a:t>
            </a:r>
          </a:p>
        </p:txBody>
      </p:sp>
      <p:sp>
        <p:nvSpPr>
          <p:cNvPr id="7" name="TextBox 6"/>
          <p:cNvSpPr txBox="1"/>
          <p:nvPr/>
        </p:nvSpPr>
        <p:spPr>
          <a:xfrm>
            <a:off x="2194560" y="6537960"/>
            <a:ext cx="2926080" cy="274320"/>
          </a:xfrm>
          <a:prstGeom prst="rect">
            <a:avLst/>
          </a:prstGeom>
          <a:noFill/>
        </p:spPr>
        <p:txBody>
          <a:bodyPr wrap="square">
            <a:spAutoFit/>
          </a:bodyPr>
          <a:lstStyle/>
          <a:p>
            <a:pPr algn="l"/>
            <a:r>
              <a:rPr sz="900" b="0" i="0">
                <a:solidFill>
                  <a:srgbClr val="5D7680"/>
                </a:solidFill>
                <a:latin typeface="Open Sans"/>
              </a:rPr>
              <a:t>Page 7 of 39</a:t>
            </a:r>
          </a:p>
        </p:txBody>
      </p:sp>
      <p:sp>
        <p:nvSpPr>
          <p:cNvPr id="8" name="TextBox 7"/>
          <p:cNvSpPr txBox="1"/>
          <p:nvPr/>
        </p:nvSpPr>
        <p:spPr>
          <a:xfrm>
            <a:off x="5120640" y="6537960"/>
            <a:ext cx="6492240" cy="274320"/>
          </a:xfrm>
          <a:prstGeom prst="rect">
            <a:avLst/>
          </a:prstGeom>
          <a:noFill/>
        </p:spPr>
        <p:txBody>
          <a:bodyPr wrap="square">
            <a:spAutoFit/>
          </a:bodyPr>
          <a:lstStyle/>
          <a:p>
            <a:pPr algn="r"/>
            <a:r>
              <a:rPr sz="900" b="0" i="0">
                <a:solidFill>
                  <a:srgbClr val="5D7680"/>
                </a:solidFill>
                <a:latin typeface="Open Sans"/>
              </a:rPr>
              <a:t>Landforms and Landscapes  |  Stage 4 Geography  |  REVISION deck</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03146"/>
        </a:solidFill>
        <a:effectLst/>
      </p:bgPr>
    </p:bg>
    <p:spTree>
      <p:nvGrpSpPr>
        <p:cNvPr id="1" name=""/>
        <p:cNvGrpSpPr/>
        <p:nvPr/>
      </p:nvGrpSpPr>
      <p:grpSpPr/>
      <p:pic>
        <p:nvPicPr>
          <p:cNvPr id="2" name="Picture 1" descr="nile_riverine.jpg"/>
          <p:cNvPicPr>
            <a:picLocks noChangeAspect="1"/>
          </p:cNvPicPr>
          <p:nvPr/>
        </p:nvPicPr>
        <p:blipFill>
          <a:blip r:embed="rId2"/>
          <a:srcRect l="13009" r="13009"/>
          <a:stretch>
            <a:fillRect/>
          </a:stretch>
        </p:blipFill>
        <p:spPr>
          <a:xfrm>
            <a:off x="0" y="0"/>
            <a:ext cx="7589520" cy="6858000"/>
          </a:xfrm>
          <a:prstGeom prst="rect">
            <a:avLst/>
          </a:prstGeom>
        </p:spPr>
      </p:pic>
      <p:sp>
        <p:nvSpPr>
          <p:cNvPr id="3" name="TextBox 2"/>
          <p:cNvSpPr txBox="1"/>
          <p:nvPr/>
        </p:nvSpPr>
        <p:spPr>
          <a:xfrm>
            <a:off x="7955280" y="2377440"/>
            <a:ext cx="3870655" cy="457200"/>
          </a:xfrm>
          <a:prstGeom prst="rect">
            <a:avLst/>
          </a:prstGeom>
          <a:noFill/>
        </p:spPr>
        <p:txBody>
          <a:bodyPr wrap="square">
            <a:spAutoFit/>
          </a:bodyPr>
          <a:lstStyle/>
          <a:p>
            <a:pPr algn="l"/>
            <a:r>
              <a:rPr sz="1600" b="1" i="0">
                <a:solidFill>
                  <a:srgbClr val="FFC20E"/>
                </a:solidFill>
                <a:latin typeface="Open Sans"/>
              </a:rPr>
              <a:t>RIVERINE LANDSCAPE</a:t>
            </a:r>
          </a:p>
        </p:txBody>
      </p:sp>
      <p:sp>
        <p:nvSpPr>
          <p:cNvPr id="4" name="TextBox 3"/>
          <p:cNvSpPr txBox="1"/>
          <p:nvPr/>
        </p:nvSpPr>
        <p:spPr>
          <a:xfrm>
            <a:off x="7955280" y="2834640"/>
            <a:ext cx="3870655" cy="1463040"/>
          </a:xfrm>
          <a:prstGeom prst="rect">
            <a:avLst/>
          </a:prstGeom>
          <a:noFill/>
        </p:spPr>
        <p:txBody>
          <a:bodyPr wrap="square">
            <a:spAutoFit/>
          </a:bodyPr>
          <a:lstStyle/>
          <a:p>
            <a:pPr algn="l"/>
            <a:r>
              <a:rPr sz="3200" b="1" i="0">
                <a:solidFill>
                  <a:srgbClr val="FFFFFF"/>
                </a:solidFill>
                <a:latin typeface="Merriweather"/>
              </a:rPr>
              <a:t>The Nile, Egypt</a:t>
            </a:r>
          </a:p>
        </p:txBody>
      </p:sp>
      <p:sp>
        <p:nvSpPr>
          <p:cNvPr id="5" name="TextBox 4"/>
          <p:cNvSpPr txBox="1"/>
          <p:nvPr/>
        </p:nvSpPr>
        <p:spPr>
          <a:xfrm>
            <a:off x="7955280" y="5943600"/>
            <a:ext cx="3870655" cy="457200"/>
          </a:xfrm>
          <a:prstGeom prst="rect">
            <a:avLst/>
          </a:prstGeom>
          <a:noFill/>
        </p:spPr>
        <p:txBody>
          <a:bodyPr wrap="square">
            <a:spAutoFit/>
          </a:bodyPr>
          <a:lstStyle/>
          <a:p>
            <a:pPr algn="l"/>
            <a:r>
              <a:rPr sz="950" b="0" i="1">
                <a:solidFill>
                  <a:srgbClr val="8AC5CF"/>
                </a:solidFill>
                <a:latin typeface="Open Sans"/>
              </a:rPr>
              <a:t>Image: original resource, source listed in references.</a:t>
            </a:r>
          </a:p>
        </p:txBody>
      </p:sp>
      <p:sp>
        <p:nvSpPr>
          <p:cNvPr id="6" name="TextBox 5"/>
          <p:cNvSpPr txBox="1"/>
          <p:nvPr/>
        </p:nvSpPr>
        <p:spPr>
          <a:xfrm>
            <a:off x="548640" y="6537960"/>
            <a:ext cx="1645920" cy="274320"/>
          </a:xfrm>
          <a:prstGeom prst="rect">
            <a:avLst/>
          </a:prstGeom>
          <a:noFill/>
        </p:spPr>
        <p:txBody>
          <a:bodyPr wrap="square">
            <a:spAutoFit/>
          </a:bodyPr>
          <a:lstStyle/>
          <a:p>
            <a:pPr algn="l"/>
            <a:r>
              <a:rPr sz="900" b="0" i="1">
                <a:solidFill>
                  <a:srgbClr val="5D7680"/>
                </a:solidFill>
                <a:latin typeface="Open Sans"/>
              </a:rPr>
              <a:t>Perkins (2026)</a:t>
            </a:r>
          </a:p>
        </p:txBody>
      </p:sp>
      <p:sp>
        <p:nvSpPr>
          <p:cNvPr id="7" name="TextBox 6"/>
          <p:cNvSpPr txBox="1"/>
          <p:nvPr/>
        </p:nvSpPr>
        <p:spPr>
          <a:xfrm>
            <a:off x="2194560" y="6537960"/>
            <a:ext cx="2926080" cy="274320"/>
          </a:xfrm>
          <a:prstGeom prst="rect">
            <a:avLst/>
          </a:prstGeom>
          <a:noFill/>
        </p:spPr>
        <p:txBody>
          <a:bodyPr wrap="square">
            <a:spAutoFit/>
          </a:bodyPr>
          <a:lstStyle/>
          <a:p>
            <a:pPr algn="l"/>
            <a:r>
              <a:rPr sz="900" b="0" i="0">
                <a:solidFill>
                  <a:srgbClr val="5D7680"/>
                </a:solidFill>
                <a:latin typeface="Open Sans"/>
              </a:rPr>
              <a:t>Page 8 of 39</a:t>
            </a:r>
          </a:p>
        </p:txBody>
      </p:sp>
      <p:sp>
        <p:nvSpPr>
          <p:cNvPr id="8" name="TextBox 7"/>
          <p:cNvSpPr txBox="1"/>
          <p:nvPr/>
        </p:nvSpPr>
        <p:spPr>
          <a:xfrm>
            <a:off x="5120640" y="6537960"/>
            <a:ext cx="6492240" cy="274320"/>
          </a:xfrm>
          <a:prstGeom prst="rect">
            <a:avLst/>
          </a:prstGeom>
          <a:noFill/>
        </p:spPr>
        <p:txBody>
          <a:bodyPr wrap="square">
            <a:spAutoFit/>
          </a:bodyPr>
          <a:lstStyle/>
          <a:p>
            <a:pPr algn="r"/>
            <a:r>
              <a:rPr sz="900" b="0" i="0">
                <a:solidFill>
                  <a:srgbClr val="5D7680"/>
                </a:solidFill>
                <a:latin typeface="Open Sans"/>
              </a:rPr>
              <a:t>Landforms and Landscapes  |  Stage 4 Geography  |  REVISION deck</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03146"/>
        </a:solidFill>
        <a:effectLst/>
      </p:bgPr>
    </p:bg>
    <p:spTree>
      <p:nvGrpSpPr>
        <p:cNvPr id="1" name=""/>
        <p:cNvGrpSpPr/>
        <p:nvPr/>
      </p:nvGrpSpPr>
      <p:grpSpPr/>
      <p:pic>
        <p:nvPicPr>
          <p:cNvPr id="2" name="Picture 1" descr="south_china_karst.jpg"/>
          <p:cNvPicPr>
            <a:picLocks noChangeAspect="1"/>
          </p:cNvPicPr>
          <p:nvPr/>
        </p:nvPicPr>
        <p:blipFill>
          <a:blip r:embed="rId2"/>
          <a:srcRect l="8488" r="8488"/>
          <a:stretch>
            <a:fillRect/>
          </a:stretch>
        </p:blipFill>
        <p:spPr>
          <a:xfrm>
            <a:off x="0" y="0"/>
            <a:ext cx="7589520" cy="6858000"/>
          </a:xfrm>
          <a:prstGeom prst="rect">
            <a:avLst/>
          </a:prstGeom>
        </p:spPr>
      </p:pic>
      <p:sp>
        <p:nvSpPr>
          <p:cNvPr id="3" name="TextBox 2"/>
          <p:cNvSpPr txBox="1"/>
          <p:nvPr/>
        </p:nvSpPr>
        <p:spPr>
          <a:xfrm>
            <a:off x="7955280" y="2377440"/>
            <a:ext cx="3870655" cy="457200"/>
          </a:xfrm>
          <a:prstGeom prst="rect">
            <a:avLst/>
          </a:prstGeom>
          <a:noFill/>
        </p:spPr>
        <p:txBody>
          <a:bodyPr wrap="square">
            <a:spAutoFit/>
          </a:bodyPr>
          <a:lstStyle/>
          <a:p>
            <a:pPr algn="l"/>
            <a:r>
              <a:rPr sz="1600" b="1" i="0">
                <a:solidFill>
                  <a:srgbClr val="FFC20E"/>
                </a:solidFill>
                <a:latin typeface="Open Sans"/>
              </a:rPr>
              <a:t>KARST LANDSCAPE</a:t>
            </a:r>
          </a:p>
        </p:txBody>
      </p:sp>
      <p:sp>
        <p:nvSpPr>
          <p:cNvPr id="4" name="TextBox 3"/>
          <p:cNvSpPr txBox="1"/>
          <p:nvPr/>
        </p:nvSpPr>
        <p:spPr>
          <a:xfrm>
            <a:off x="7955280" y="2834640"/>
            <a:ext cx="3870655" cy="1463040"/>
          </a:xfrm>
          <a:prstGeom prst="rect">
            <a:avLst/>
          </a:prstGeom>
          <a:noFill/>
        </p:spPr>
        <p:txBody>
          <a:bodyPr wrap="square">
            <a:spAutoFit/>
          </a:bodyPr>
          <a:lstStyle/>
          <a:p>
            <a:pPr algn="l"/>
            <a:r>
              <a:rPr sz="3200" b="1" i="0">
                <a:solidFill>
                  <a:srgbClr val="FFFFFF"/>
                </a:solidFill>
                <a:latin typeface="Merriweather"/>
              </a:rPr>
              <a:t>South China</a:t>
            </a:r>
          </a:p>
        </p:txBody>
      </p:sp>
      <p:sp>
        <p:nvSpPr>
          <p:cNvPr id="5" name="TextBox 4"/>
          <p:cNvSpPr txBox="1"/>
          <p:nvPr/>
        </p:nvSpPr>
        <p:spPr>
          <a:xfrm>
            <a:off x="7955280" y="5943600"/>
            <a:ext cx="3870655" cy="457200"/>
          </a:xfrm>
          <a:prstGeom prst="rect">
            <a:avLst/>
          </a:prstGeom>
          <a:noFill/>
        </p:spPr>
        <p:txBody>
          <a:bodyPr wrap="square">
            <a:spAutoFit/>
          </a:bodyPr>
          <a:lstStyle/>
          <a:p>
            <a:pPr algn="l"/>
            <a:r>
              <a:rPr sz="950" b="0" i="1">
                <a:solidFill>
                  <a:srgbClr val="8AC5CF"/>
                </a:solidFill>
                <a:latin typeface="Open Sans"/>
              </a:rPr>
              <a:t>Image: original resource, source listed in references.</a:t>
            </a:r>
          </a:p>
        </p:txBody>
      </p:sp>
      <p:sp>
        <p:nvSpPr>
          <p:cNvPr id="6" name="TextBox 5"/>
          <p:cNvSpPr txBox="1"/>
          <p:nvPr/>
        </p:nvSpPr>
        <p:spPr>
          <a:xfrm>
            <a:off x="548640" y="6537960"/>
            <a:ext cx="1645920" cy="274320"/>
          </a:xfrm>
          <a:prstGeom prst="rect">
            <a:avLst/>
          </a:prstGeom>
          <a:noFill/>
        </p:spPr>
        <p:txBody>
          <a:bodyPr wrap="square">
            <a:spAutoFit/>
          </a:bodyPr>
          <a:lstStyle/>
          <a:p>
            <a:pPr algn="l"/>
            <a:r>
              <a:rPr sz="900" b="0" i="1">
                <a:solidFill>
                  <a:srgbClr val="5D7680"/>
                </a:solidFill>
                <a:latin typeface="Open Sans"/>
              </a:rPr>
              <a:t>Perkins (2026)</a:t>
            </a:r>
          </a:p>
        </p:txBody>
      </p:sp>
      <p:sp>
        <p:nvSpPr>
          <p:cNvPr id="7" name="TextBox 6"/>
          <p:cNvSpPr txBox="1"/>
          <p:nvPr/>
        </p:nvSpPr>
        <p:spPr>
          <a:xfrm>
            <a:off x="2194560" y="6537960"/>
            <a:ext cx="2926080" cy="274320"/>
          </a:xfrm>
          <a:prstGeom prst="rect">
            <a:avLst/>
          </a:prstGeom>
          <a:noFill/>
        </p:spPr>
        <p:txBody>
          <a:bodyPr wrap="square">
            <a:spAutoFit/>
          </a:bodyPr>
          <a:lstStyle/>
          <a:p>
            <a:pPr algn="l"/>
            <a:r>
              <a:rPr sz="900" b="0" i="0">
                <a:solidFill>
                  <a:srgbClr val="5D7680"/>
                </a:solidFill>
                <a:latin typeface="Open Sans"/>
              </a:rPr>
              <a:t>Page 9 of 39</a:t>
            </a:r>
          </a:p>
        </p:txBody>
      </p:sp>
      <p:sp>
        <p:nvSpPr>
          <p:cNvPr id="8" name="TextBox 7"/>
          <p:cNvSpPr txBox="1"/>
          <p:nvPr/>
        </p:nvSpPr>
        <p:spPr>
          <a:xfrm>
            <a:off x="5120640" y="6537960"/>
            <a:ext cx="6492240" cy="274320"/>
          </a:xfrm>
          <a:prstGeom prst="rect">
            <a:avLst/>
          </a:prstGeom>
          <a:noFill/>
        </p:spPr>
        <p:txBody>
          <a:bodyPr wrap="square">
            <a:spAutoFit/>
          </a:bodyPr>
          <a:lstStyle/>
          <a:p>
            <a:pPr algn="r"/>
            <a:r>
              <a:rPr sz="900" b="0" i="0">
                <a:solidFill>
                  <a:srgbClr val="5D7680"/>
                </a:solidFill>
                <a:latin typeface="Open Sans"/>
              </a:rPr>
              <a:t>Landforms and Landscapes  |  Stage 4 Geography  |  REVISION deck</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6AA69B"/>
        </a:solidFill>
        <a:effectLst/>
      </p:bgPr>
    </p:bg>
    <p:spTree>
      <p:nvGrpSpPr>
        <p:cNvPr id="1" name=""/>
        <p:cNvGrpSpPr/>
        <p:nvPr/>
      </p:nvGrpSpPr>
      <p:grpSpPr/>
      <p:sp>
        <p:nvSpPr>
          <p:cNvPr id="2" name="TextBox 1"/>
          <p:cNvSpPr txBox="1"/>
          <p:nvPr/>
        </p:nvSpPr>
        <p:spPr>
          <a:xfrm>
            <a:off x="365760" y="2377440"/>
            <a:ext cx="11430000" cy="1188720"/>
          </a:xfrm>
          <a:prstGeom prst="rect">
            <a:avLst/>
          </a:prstGeom>
          <a:noFill/>
        </p:spPr>
        <p:txBody>
          <a:bodyPr wrap="square">
            <a:spAutoFit/>
          </a:bodyPr>
          <a:lstStyle/>
          <a:p>
            <a:pPr>
              <a:defRPr sz="5200" b="1">
                <a:solidFill>
                  <a:srgbClr val="FFFFFF"/>
                </a:solidFill>
              </a:defRPr>
            </a:pPr>
            <a:r>
              <a:t>Geomorphic processes</a:t>
            </a:r>
          </a:p>
        </p:txBody>
      </p:sp>
      <p:sp>
        <p:nvSpPr>
          <p:cNvPr id="3" name="TextBox 2"/>
          <p:cNvSpPr txBox="1"/>
          <p:nvPr/>
        </p:nvSpPr>
        <p:spPr>
          <a:xfrm>
            <a:off x="365760" y="3566160"/>
            <a:ext cx="11430000" cy="914400"/>
          </a:xfrm>
          <a:prstGeom prst="rect">
            <a:avLst/>
          </a:prstGeom>
          <a:noFill/>
        </p:spPr>
        <p:txBody>
          <a:bodyPr wrap="square">
            <a:spAutoFit/>
          </a:bodyPr>
          <a:lstStyle/>
          <a:p>
            <a:pPr>
              <a:defRPr sz="2400" b="1">
                <a:solidFill>
                  <a:srgbClr val="FFC20E"/>
                </a:solidFill>
              </a:defRPr>
            </a:pPr>
            <a:r>
              <a:t>Weathering, erosion, deposition and plate tectonics</a:t>
            </a:r>
          </a:p>
        </p:txBody>
      </p:sp>
      <p:sp>
        <p:nvSpPr>
          <p:cNvPr id="4" name="TextBox 3"/>
          <p:cNvSpPr txBox="1"/>
          <p:nvPr/>
        </p:nvSpPr>
        <p:spPr>
          <a:xfrm>
            <a:off x="548640" y="6537960"/>
            <a:ext cx="1645920" cy="274320"/>
          </a:xfrm>
          <a:prstGeom prst="rect">
            <a:avLst/>
          </a:prstGeom>
          <a:noFill/>
        </p:spPr>
        <p:txBody>
          <a:bodyPr wrap="square">
            <a:spAutoFit/>
          </a:bodyPr>
          <a:lstStyle/>
          <a:p>
            <a:pPr algn="l"/>
            <a:r>
              <a:rPr sz="900" b="0" i="1">
                <a:solidFill>
                  <a:srgbClr val="5D7680"/>
                </a:solidFill>
                <a:latin typeface="Open Sans"/>
              </a:rPr>
              <a:t>Perkins (2026)</a:t>
            </a:r>
          </a:p>
        </p:txBody>
      </p:sp>
      <p:sp>
        <p:nvSpPr>
          <p:cNvPr id="5" name="TextBox 4"/>
          <p:cNvSpPr txBox="1"/>
          <p:nvPr/>
        </p:nvSpPr>
        <p:spPr>
          <a:xfrm>
            <a:off x="2194560" y="6537960"/>
            <a:ext cx="2926080" cy="274320"/>
          </a:xfrm>
          <a:prstGeom prst="rect">
            <a:avLst/>
          </a:prstGeom>
          <a:noFill/>
        </p:spPr>
        <p:txBody>
          <a:bodyPr wrap="square">
            <a:spAutoFit/>
          </a:bodyPr>
          <a:lstStyle/>
          <a:p>
            <a:pPr algn="l"/>
            <a:r>
              <a:rPr sz="900" b="0" i="0">
                <a:solidFill>
                  <a:srgbClr val="5D7680"/>
                </a:solidFill>
                <a:latin typeface="Open Sans"/>
              </a:rPr>
              <a:t>Page 10 of 39</a:t>
            </a:r>
          </a:p>
        </p:txBody>
      </p:sp>
      <p:sp>
        <p:nvSpPr>
          <p:cNvPr id="6" name="TextBox 5"/>
          <p:cNvSpPr txBox="1"/>
          <p:nvPr/>
        </p:nvSpPr>
        <p:spPr>
          <a:xfrm>
            <a:off x="5120640" y="6537960"/>
            <a:ext cx="6492240" cy="274320"/>
          </a:xfrm>
          <a:prstGeom prst="rect">
            <a:avLst/>
          </a:prstGeom>
          <a:noFill/>
        </p:spPr>
        <p:txBody>
          <a:bodyPr wrap="square">
            <a:spAutoFit/>
          </a:bodyPr>
          <a:lstStyle/>
          <a:p>
            <a:pPr algn="r"/>
            <a:r>
              <a:rPr sz="900" b="0" i="0">
                <a:solidFill>
                  <a:srgbClr val="5D7680"/>
                </a:solidFill>
                <a:latin typeface="Open Sans"/>
              </a:rPr>
              <a:t>Landforms and Landscapes  |  Stage 4 Geography  |  REVISION deck</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320040"/>
            <a:ext cx="11064240" cy="594360"/>
          </a:xfrm>
          <a:prstGeom prst="rect">
            <a:avLst/>
          </a:prstGeom>
          <a:noFill/>
        </p:spPr>
        <p:txBody>
          <a:bodyPr wrap="square">
            <a:spAutoFit/>
          </a:bodyPr>
          <a:lstStyle/>
          <a:p>
            <a:pPr algn="l"/>
            <a:r>
              <a:rPr sz="2800" b="1" i="0">
                <a:solidFill>
                  <a:srgbClr val="003146"/>
                </a:solidFill>
                <a:latin typeface="Merriweather"/>
              </a:rPr>
              <a:t>The processes that create landforms</a:t>
            </a:r>
          </a:p>
        </p:txBody>
      </p:sp>
      <p:sp>
        <p:nvSpPr>
          <p:cNvPr id="3" name="Rounded Rectangle 2"/>
          <p:cNvSpPr/>
          <p:nvPr/>
        </p:nvSpPr>
        <p:spPr>
          <a:xfrm>
            <a:off x="548640" y="1051560"/>
            <a:ext cx="11064240" cy="777240"/>
          </a:xfrm>
          <a:prstGeom prst="roundRect">
            <a:avLst>
              <a:gd name="adj" fmla="val 12000"/>
            </a:avLst>
          </a:prstGeom>
          <a:solidFill>
            <a:srgbClr val="00314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1005840" y="1051560"/>
            <a:ext cx="10149840" cy="777240"/>
          </a:xfrm>
          <a:prstGeom prst="rect">
            <a:avLst/>
          </a:prstGeom>
          <a:noFill/>
        </p:spPr>
        <p:txBody>
          <a:bodyPr wrap="square" anchor="ctr">
            <a:spAutoFit/>
          </a:bodyPr>
          <a:lstStyle/>
          <a:p>
            <a:pPr algn="ctr"/>
            <a:r>
              <a:rPr sz="1600" b="1" i="0">
                <a:solidFill>
                  <a:srgbClr val="FFFFFF"/>
                </a:solidFill>
                <a:latin typeface="Merriweather"/>
              </a:rPr>
              <a:t>Geomorphic processes are natural processes that transform the lithosphere to create distinctive landscapes and landforms.</a:t>
            </a:r>
          </a:p>
        </p:txBody>
      </p:sp>
      <p:sp>
        <p:nvSpPr>
          <p:cNvPr id="5" name="Rounded Rectangle 4"/>
          <p:cNvSpPr/>
          <p:nvPr/>
        </p:nvSpPr>
        <p:spPr>
          <a:xfrm>
            <a:off x="548640" y="2103120"/>
            <a:ext cx="2663190" cy="4114800"/>
          </a:xfrm>
          <a:prstGeom prst="roundRect">
            <a:avLst>
              <a:gd name="adj" fmla="val 5000"/>
            </a:avLst>
          </a:prstGeom>
          <a:solidFill>
            <a:srgbClr val="F7EEE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Oval 5"/>
          <p:cNvSpPr/>
          <p:nvPr/>
        </p:nvSpPr>
        <p:spPr>
          <a:xfrm>
            <a:off x="777240" y="2331720"/>
            <a:ext cx="457200" cy="457200"/>
          </a:xfrm>
          <a:prstGeom prst="ellipse">
            <a:avLst/>
          </a:prstGeom>
          <a:solidFill>
            <a:srgbClr val="FFC20E"/>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600" b="1">
                <a:solidFill>
                  <a:srgbClr val="003146"/>
                </a:solidFill>
              </a:rPr>
              <a:t>1</a:t>
            </a:r>
          </a:p>
        </p:txBody>
      </p:sp>
      <p:sp>
        <p:nvSpPr>
          <p:cNvPr id="7" name="TextBox 6"/>
          <p:cNvSpPr txBox="1"/>
          <p:nvPr/>
        </p:nvSpPr>
        <p:spPr>
          <a:xfrm>
            <a:off x="685800" y="2926079"/>
            <a:ext cx="2388870" cy="457200"/>
          </a:xfrm>
          <a:prstGeom prst="rect">
            <a:avLst/>
          </a:prstGeom>
          <a:noFill/>
        </p:spPr>
        <p:txBody>
          <a:bodyPr wrap="square">
            <a:spAutoFit/>
          </a:bodyPr>
          <a:lstStyle/>
          <a:p>
            <a:pPr algn="l"/>
            <a:r>
              <a:rPr sz="1600" b="1" i="0">
                <a:solidFill>
                  <a:srgbClr val="003146"/>
                </a:solidFill>
                <a:latin typeface="Open Sans"/>
              </a:rPr>
              <a:t>WEATHERING</a:t>
            </a:r>
          </a:p>
        </p:txBody>
      </p:sp>
      <p:sp>
        <p:nvSpPr>
          <p:cNvPr id="8" name="TextBox 7"/>
          <p:cNvSpPr txBox="1"/>
          <p:nvPr/>
        </p:nvSpPr>
        <p:spPr>
          <a:xfrm>
            <a:off x="685800" y="3383279"/>
            <a:ext cx="2388870" cy="2651760"/>
          </a:xfrm>
          <a:prstGeom prst="rect">
            <a:avLst/>
          </a:prstGeom>
          <a:noFill/>
        </p:spPr>
        <p:txBody>
          <a:bodyPr wrap="square">
            <a:spAutoFit/>
          </a:bodyPr>
          <a:lstStyle/>
          <a:p>
            <a:pPr algn="l"/>
            <a:r>
              <a:rPr sz="1400" b="0" i="0">
                <a:solidFill>
                  <a:srgbClr val="33424B"/>
                </a:solidFill>
                <a:latin typeface="Open Sans"/>
              </a:rPr>
              <a:t>The breakdown of rocks and sediments into smaller particles or a solution. Occurs in a range of landscapes, e.g. coastlines and mountains.</a:t>
            </a:r>
          </a:p>
        </p:txBody>
      </p:sp>
      <p:sp>
        <p:nvSpPr>
          <p:cNvPr id="9" name="Rounded Rectangle 8"/>
          <p:cNvSpPr/>
          <p:nvPr/>
        </p:nvSpPr>
        <p:spPr>
          <a:xfrm>
            <a:off x="3348990" y="2103120"/>
            <a:ext cx="2663190" cy="4114800"/>
          </a:xfrm>
          <a:prstGeom prst="roundRect">
            <a:avLst>
              <a:gd name="adj" fmla="val 5000"/>
            </a:avLst>
          </a:prstGeom>
          <a:solidFill>
            <a:srgbClr val="F7EEE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Oval 9"/>
          <p:cNvSpPr/>
          <p:nvPr/>
        </p:nvSpPr>
        <p:spPr>
          <a:xfrm>
            <a:off x="3577590" y="2331720"/>
            <a:ext cx="457200" cy="457200"/>
          </a:xfrm>
          <a:prstGeom prst="ellipse">
            <a:avLst/>
          </a:prstGeom>
          <a:solidFill>
            <a:srgbClr val="FFC20E"/>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600" b="1">
                <a:solidFill>
                  <a:srgbClr val="003146"/>
                </a:solidFill>
              </a:rPr>
              <a:t>2</a:t>
            </a:r>
          </a:p>
        </p:txBody>
      </p:sp>
      <p:sp>
        <p:nvSpPr>
          <p:cNvPr id="11" name="TextBox 10"/>
          <p:cNvSpPr txBox="1"/>
          <p:nvPr/>
        </p:nvSpPr>
        <p:spPr>
          <a:xfrm>
            <a:off x="3486150" y="2926079"/>
            <a:ext cx="2388870" cy="457200"/>
          </a:xfrm>
          <a:prstGeom prst="rect">
            <a:avLst/>
          </a:prstGeom>
          <a:noFill/>
        </p:spPr>
        <p:txBody>
          <a:bodyPr wrap="square">
            <a:spAutoFit/>
          </a:bodyPr>
          <a:lstStyle/>
          <a:p>
            <a:pPr algn="l"/>
            <a:r>
              <a:rPr sz="1600" b="1" i="0">
                <a:solidFill>
                  <a:srgbClr val="003146"/>
                </a:solidFill>
                <a:latin typeface="Open Sans"/>
              </a:rPr>
              <a:t>EROSION</a:t>
            </a:r>
          </a:p>
        </p:txBody>
      </p:sp>
      <p:sp>
        <p:nvSpPr>
          <p:cNvPr id="12" name="TextBox 11"/>
          <p:cNvSpPr txBox="1"/>
          <p:nvPr/>
        </p:nvSpPr>
        <p:spPr>
          <a:xfrm>
            <a:off x="3486150" y="3383279"/>
            <a:ext cx="2388870" cy="2651760"/>
          </a:xfrm>
          <a:prstGeom prst="rect">
            <a:avLst/>
          </a:prstGeom>
          <a:noFill/>
        </p:spPr>
        <p:txBody>
          <a:bodyPr wrap="square">
            <a:spAutoFit/>
          </a:bodyPr>
          <a:lstStyle/>
          <a:p>
            <a:pPr algn="l"/>
            <a:r>
              <a:rPr sz="1400" b="0" i="0">
                <a:solidFill>
                  <a:srgbClr val="33424B"/>
                </a:solidFill>
                <a:latin typeface="Open Sans"/>
              </a:rPr>
              <a:t>The wearing away of the earth's surface, after weathering. Affected by the actions of wind and water.</a:t>
            </a:r>
          </a:p>
        </p:txBody>
      </p:sp>
      <p:sp>
        <p:nvSpPr>
          <p:cNvPr id="13" name="Rounded Rectangle 12"/>
          <p:cNvSpPr/>
          <p:nvPr/>
        </p:nvSpPr>
        <p:spPr>
          <a:xfrm>
            <a:off x="6149340" y="2103120"/>
            <a:ext cx="2663190" cy="4114800"/>
          </a:xfrm>
          <a:prstGeom prst="roundRect">
            <a:avLst>
              <a:gd name="adj" fmla="val 5000"/>
            </a:avLst>
          </a:prstGeom>
          <a:solidFill>
            <a:srgbClr val="F7EEE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377940" y="2331720"/>
            <a:ext cx="457200" cy="457200"/>
          </a:xfrm>
          <a:prstGeom prst="ellipse">
            <a:avLst/>
          </a:prstGeom>
          <a:solidFill>
            <a:srgbClr val="FFC20E"/>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600" b="1">
                <a:solidFill>
                  <a:srgbClr val="003146"/>
                </a:solidFill>
              </a:rPr>
              <a:t>3</a:t>
            </a:r>
          </a:p>
        </p:txBody>
      </p:sp>
      <p:sp>
        <p:nvSpPr>
          <p:cNvPr id="15" name="TextBox 14"/>
          <p:cNvSpPr txBox="1"/>
          <p:nvPr/>
        </p:nvSpPr>
        <p:spPr>
          <a:xfrm>
            <a:off x="6286500" y="2926079"/>
            <a:ext cx="2388870" cy="457200"/>
          </a:xfrm>
          <a:prstGeom prst="rect">
            <a:avLst/>
          </a:prstGeom>
          <a:noFill/>
        </p:spPr>
        <p:txBody>
          <a:bodyPr wrap="square">
            <a:spAutoFit/>
          </a:bodyPr>
          <a:lstStyle/>
          <a:p>
            <a:pPr algn="l"/>
            <a:r>
              <a:rPr sz="1600" b="1" i="0">
                <a:solidFill>
                  <a:srgbClr val="003146"/>
                </a:solidFill>
                <a:latin typeface="Open Sans"/>
              </a:rPr>
              <a:t>DEPOSITION</a:t>
            </a:r>
          </a:p>
        </p:txBody>
      </p:sp>
      <p:sp>
        <p:nvSpPr>
          <p:cNvPr id="16" name="TextBox 15"/>
          <p:cNvSpPr txBox="1"/>
          <p:nvPr/>
        </p:nvSpPr>
        <p:spPr>
          <a:xfrm>
            <a:off x="6286500" y="3383279"/>
            <a:ext cx="2388870" cy="2651760"/>
          </a:xfrm>
          <a:prstGeom prst="rect">
            <a:avLst/>
          </a:prstGeom>
          <a:noFill/>
        </p:spPr>
        <p:txBody>
          <a:bodyPr wrap="square">
            <a:spAutoFit/>
          </a:bodyPr>
          <a:lstStyle/>
          <a:p>
            <a:pPr algn="l"/>
            <a:r>
              <a:rPr sz="1400" b="0" i="0">
                <a:solidFill>
                  <a:srgbClr val="33424B"/>
                </a:solidFill>
                <a:latin typeface="Open Sans"/>
              </a:rPr>
              <a:t>The relocation of eroded matter into a new location. Rivers and coastline landscapes have a large amount of deposition.</a:t>
            </a:r>
          </a:p>
        </p:txBody>
      </p:sp>
      <p:sp>
        <p:nvSpPr>
          <p:cNvPr id="17" name="Rounded Rectangle 16"/>
          <p:cNvSpPr/>
          <p:nvPr/>
        </p:nvSpPr>
        <p:spPr>
          <a:xfrm>
            <a:off x="8949690" y="2103120"/>
            <a:ext cx="2663190" cy="4114800"/>
          </a:xfrm>
          <a:prstGeom prst="roundRect">
            <a:avLst>
              <a:gd name="adj" fmla="val 5000"/>
            </a:avLst>
          </a:prstGeom>
          <a:solidFill>
            <a:srgbClr val="F7EEE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Oval 17"/>
          <p:cNvSpPr/>
          <p:nvPr/>
        </p:nvSpPr>
        <p:spPr>
          <a:xfrm>
            <a:off x="9178290" y="2331720"/>
            <a:ext cx="457200" cy="457200"/>
          </a:xfrm>
          <a:prstGeom prst="ellipse">
            <a:avLst/>
          </a:prstGeom>
          <a:solidFill>
            <a:srgbClr val="FFC20E"/>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600" b="1">
                <a:solidFill>
                  <a:srgbClr val="003146"/>
                </a:solidFill>
              </a:rPr>
              <a:t>4</a:t>
            </a:r>
          </a:p>
        </p:txBody>
      </p:sp>
      <p:sp>
        <p:nvSpPr>
          <p:cNvPr id="19" name="TextBox 18"/>
          <p:cNvSpPr txBox="1"/>
          <p:nvPr/>
        </p:nvSpPr>
        <p:spPr>
          <a:xfrm>
            <a:off x="9086850" y="2926079"/>
            <a:ext cx="2388870" cy="457200"/>
          </a:xfrm>
          <a:prstGeom prst="rect">
            <a:avLst/>
          </a:prstGeom>
          <a:noFill/>
        </p:spPr>
        <p:txBody>
          <a:bodyPr wrap="square">
            <a:spAutoFit/>
          </a:bodyPr>
          <a:lstStyle/>
          <a:p>
            <a:pPr algn="l"/>
            <a:r>
              <a:rPr sz="1600" b="1" i="0">
                <a:solidFill>
                  <a:srgbClr val="003146"/>
                </a:solidFill>
                <a:latin typeface="Open Sans"/>
              </a:rPr>
              <a:t>PLATE TECTONICS</a:t>
            </a:r>
          </a:p>
        </p:txBody>
      </p:sp>
      <p:sp>
        <p:nvSpPr>
          <p:cNvPr id="20" name="TextBox 19"/>
          <p:cNvSpPr txBox="1"/>
          <p:nvPr/>
        </p:nvSpPr>
        <p:spPr>
          <a:xfrm>
            <a:off x="9086850" y="3383279"/>
            <a:ext cx="2388870" cy="2651760"/>
          </a:xfrm>
          <a:prstGeom prst="rect">
            <a:avLst/>
          </a:prstGeom>
          <a:noFill/>
        </p:spPr>
        <p:txBody>
          <a:bodyPr wrap="square">
            <a:spAutoFit/>
          </a:bodyPr>
          <a:lstStyle/>
          <a:p>
            <a:pPr algn="l"/>
            <a:r>
              <a:rPr sz="1400" b="0" i="0">
                <a:solidFill>
                  <a:srgbClr val="33424B"/>
                </a:solidFill>
                <a:latin typeface="Open Sans"/>
              </a:rPr>
              <a:t>The movement of the major plates that make up the earth's crust, between continents and the ocean floor. Types: divergent, collision, convergent or transform.</a:t>
            </a:r>
          </a:p>
        </p:txBody>
      </p:sp>
      <p:sp>
        <p:nvSpPr>
          <p:cNvPr id="21" name="TextBox 20"/>
          <p:cNvSpPr txBox="1"/>
          <p:nvPr/>
        </p:nvSpPr>
        <p:spPr>
          <a:xfrm>
            <a:off x="548640" y="6537960"/>
            <a:ext cx="1645920" cy="274320"/>
          </a:xfrm>
          <a:prstGeom prst="rect">
            <a:avLst/>
          </a:prstGeom>
          <a:noFill/>
        </p:spPr>
        <p:txBody>
          <a:bodyPr wrap="square">
            <a:spAutoFit/>
          </a:bodyPr>
          <a:lstStyle/>
          <a:p>
            <a:pPr algn="l"/>
            <a:r>
              <a:rPr sz="900" b="0" i="1">
                <a:solidFill>
                  <a:srgbClr val="5D7680"/>
                </a:solidFill>
                <a:latin typeface="Open Sans"/>
              </a:rPr>
              <a:t>Perkins (2026)</a:t>
            </a:r>
          </a:p>
        </p:txBody>
      </p:sp>
      <p:sp>
        <p:nvSpPr>
          <p:cNvPr id="22" name="TextBox 21"/>
          <p:cNvSpPr txBox="1"/>
          <p:nvPr/>
        </p:nvSpPr>
        <p:spPr>
          <a:xfrm>
            <a:off x="2194560" y="6537960"/>
            <a:ext cx="2926080" cy="274320"/>
          </a:xfrm>
          <a:prstGeom prst="rect">
            <a:avLst/>
          </a:prstGeom>
          <a:noFill/>
        </p:spPr>
        <p:txBody>
          <a:bodyPr wrap="square">
            <a:spAutoFit/>
          </a:bodyPr>
          <a:lstStyle/>
          <a:p>
            <a:pPr algn="l"/>
            <a:r>
              <a:rPr sz="900" b="0" i="0">
                <a:solidFill>
                  <a:srgbClr val="5D7680"/>
                </a:solidFill>
                <a:latin typeface="Open Sans"/>
              </a:rPr>
              <a:t>Page 11 of 39</a:t>
            </a:r>
          </a:p>
        </p:txBody>
      </p:sp>
      <p:sp>
        <p:nvSpPr>
          <p:cNvPr id="23" name="TextBox 22"/>
          <p:cNvSpPr txBox="1"/>
          <p:nvPr/>
        </p:nvSpPr>
        <p:spPr>
          <a:xfrm>
            <a:off x="5120640" y="6537960"/>
            <a:ext cx="6492240" cy="274320"/>
          </a:xfrm>
          <a:prstGeom prst="rect">
            <a:avLst/>
          </a:prstGeom>
          <a:noFill/>
        </p:spPr>
        <p:txBody>
          <a:bodyPr wrap="square">
            <a:spAutoFit/>
          </a:bodyPr>
          <a:lstStyle/>
          <a:p>
            <a:pPr algn="r"/>
            <a:r>
              <a:rPr sz="900" b="0" i="0">
                <a:solidFill>
                  <a:srgbClr val="5D7680"/>
                </a:solidFill>
                <a:latin typeface="Open Sans"/>
              </a:rPr>
              <a:t>Landforms and Landscapes  |  Stage 4 Geography  |  REVISION deck</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182880"/>
          </a:xfrm>
          <a:prstGeom prst="rect">
            <a:avLst/>
          </a:prstGeom>
          <a:solidFill>
            <a:srgbClr val="6AA69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365760" y="365760"/>
            <a:ext cx="11430000" cy="1188720"/>
          </a:xfrm>
          <a:prstGeom prst="rect">
            <a:avLst/>
          </a:prstGeom>
          <a:noFill/>
        </p:spPr>
        <p:txBody>
          <a:bodyPr wrap="square">
            <a:spAutoFit/>
          </a:bodyPr>
          <a:lstStyle/>
          <a:p>
            <a:pPr>
              <a:defRPr sz="2800" b="1">
                <a:solidFill>
                  <a:srgbClr val="003146"/>
                </a:solidFill>
              </a:defRPr>
            </a:pPr>
            <a:r>
              <a:t>Erosion in action: a house on the edge</a:t>
            </a:r>
          </a:p>
        </p:txBody>
      </p:sp>
      <p:sp>
        <p:nvSpPr>
          <p:cNvPr id="4" name="TextBox 3"/>
          <p:cNvSpPr txBox="1"/>
          <p:nvPr/>
        </p:nvSpPr>
        <p:spPr>
          <a:xfrm>
            <a:off x="548640" y="1554480"/>
            <a:ext cx="6126480" cy="4937760"/>
          </a:xfrm>
          <a:prstGeom prst="rect">
            <a:avLst/>
          </a:prstGeom>
          <a:noFill/>
        </p:spPr>
        <p:txBody>
          <a:bodyPr wrap="square">
            <a:spAutoFit/>
          </a:bodyPr>
          <a:lstStyle/>
          <a:p>
            <a:pPr algn="l">
              <a:spcAft>
                <a:spcPts val="9000"/>
              </a:spcAft>
              <a:defRPr sz="1800" b="1">
                <a:solidFill>
                  <a:srgbClr val="222630"/>
                </a:solidFill>
              </a:defRPr>
            </a:pPr>
            <a:r>
              <a:t>•  This house shows what erosion looks like when it is left unmanaged.</a:t>
            </a:r>
          </a:p>
          <a:p>
            <a:pPr algn="l">
              <a:spcAft>
                <a:spcPts val="9000"/>
              </a:spcAft>
              <a:defRPr sz="1800" b="1">
                <a:solidFill>
                  <a:srgbClr val="222630"/>
                </a:solidFill>
              </a:defRPr>
            </a:pPr>
            <a:r>
              <a:t>•  Wind and water have worn away the cliff underneath it over many years, and the land it once stood well back from is now gone.</a:t>
            </a:r>
          </a:p>
          <a:p>
            <a:pPr algn="l">
              <a:spcAft>
                <a:spcPts val="0"/>
              </a:spcAft>
              <a:defRPr sz="1800" b="1">
                <a:solidFill>
                  <a:srgbClr val="222630"/>
                </a:solidFill>
              </a:defRPr>
            </a:pPr>
            <a:r>
              <a:t>•  This is also a liveability and planning issue - not just a geomorphic one.</a:t>
            </a:r>
          </a:p>
        </p:txBody>
      </p:sp>
      <p:pic>
        <p:nvPicPr>
          <p:cNvPr id="5" name="Picture 4" descr="erosion_house_cliff.jpg"/>
          <p:cNvPicPr>
            <a:picLocks noChangeAspect="1"/>
          </p:cNvPicPr>
          <p:nvPr/>
        </p:nvPicPr>
        <p:blipFill>
          <a:blip r:embed="rId2"/>
          <a:srcRect l="13799" r="13799"/>
          <a:stretch>
            <a:fillRect/>
          </a:stretch>
        </p:blipFill>
        <p:spPr>
          <a:xfrm>
            <a:off x="6949440" y="1554480"/>
            <a:ext cx="4846320" cy="4480560"/>
          </a:xfrm>
          <a:prstGeom prst="rect">
            <a:avLst/>
          </a:prstGeom>
        </p:spPr>
      </p:pic>
      <p:sp>
        <p:nvSpPr>
          <p:cNvPr id="6" name="TextBox 5"/>
          <p:cNvSpPr txBox="1"/>
          <p:nvPr/>
        </p:nvSpPr>
        <p:spPr>
          <a:xfrm>
            <a:off x="6949440" y="6080760"/>
            <a:ext cx="4846320" cy="274320"/>
          </a:xfrm>
          <a:prstGeom prst="rect">
            <a:avLst/>
          </a:prstGeom>
          <a:noFill/>
        </p:spPr>
        <p:txBody>
          <a:bodyPr wrap="square">
            <a:spAutoFit/>
          </a:bodyPr>
          <a:lstStyle/>
          <a:p>
            <a:pPr algn="l"/>
            <a:r>
              <a:rPr sz="900" b="0" i="1">
                <a:solidFill>
                  <a:srgbClr val="5D7680"/>
                </a:solidFill>
                <a:latin typeface="Open Sans"/>
              </a:rPr>
              <a:t>Image: original resource, source listed in references.</a:t>
            </a:r>
          </a:p>
        </p:txBody>
      </p:sp>
      <p:sp>
        <p:nvSpPr>
          <p:cNvPr id="7" name="TextBox 6"/>
          <p:cNvSpPr txBox="1"/>
          <p:nvPr/>
        </p:nvSpPr>
        <p:spPr>
          <a:xfrm>
            <a:off x="548640" y="6537960"/>
            <a:ext cx="1645920" cy="274320"/>
          </a:xfrm>
          <a:prstGeom prst="rect">
            <a:avLst/>
          </a:prstGeom>
          <a:noFill/>
        </p:spPr>
        <p:txBody>
          <a:bodyPr wrap="square">
            <a:spAutoFit/>
          </a:bodyPr>
          <a:lstStyle/>
          <a:p>
            <a:pPr algn="l"/>
            <a:r>
              <a:rPr sz="900" b="0" i="1">
                <a:solidFill>
                  <a:srgbClr val="5D7680"/>
                </a:solidFill>
                <a:latin typeface="Open Sans"/>
              </a:rPr>
              <a:t>Perkins (2026)</a:t>
            </a:r>
          </a:p>
        </p:txBody>
      </p:sp>
      <p:sp>
        <p:nvSpPr>
          <p:cNvPr id="8" name="TextBox 7"/>
          <p:cNvSpPr txBox="1"/>
          <p:nvPr/>
        </p:nvSpPr>
        <p:spPr>
          <a:xfrm>
            <a:off x="2194560" y="6537960"/>
            <a:ext cx="2926080" cy="274320"/>
          </a:xfrm>
          <a:prstGeom prst="rect">
            <a:avLst/>
          </a:prstGeom>
          <a:noFill/>
        </p:spPr>
        <p:txBody>
          <a:bodyPr wrap="square">
            <a:spAutoFit/>
          </a:bodyPr>
          <a:lstStyle/>
          <a:p>
            <a:pPr algn="l"/>
            <a:r>
              <a:rPr sz="900" b="0" i="0">
                <a:solidFill>
                  <a:srgbClr val="5D7680"/>
                </a:solidFill>
                <a:latin typeface="Open Sans"/>
              </a:rPr>
              <a:t>Page 12 of 39</a:t>
            </a:r>
          </a:p>
        </p:txBody>
      </p:sp>
      <p:sp>
        <p:nvSpPr>
          <p:cNvPr id="9" name="TextBox 8"/>
          <p:cNvSpPr txBox="1"/>
          <p:nvPr/>
        </p:nvSpPr>
        <p:spPr>
          <a:xfrm>
            <a:off x="5120640" y="6537960"/>
            <a:ext cx="6492240" cy="274320"/>
          </a:xfrm>
          <a:prstGeom prst="rect">
            <a:avLst/>
          </a:prstGeom>
          <a:noFill/>
        </p:spPr>
        <p:txBody>
          <a:bodyPr wrap="square">
            <a:spAutoFit/>
          </a:bodyPr>
          <a:lstStyle/>
          <a:p>
            <a:pPr algn="r"/>
            <a:r>
              <a:rPr sz="900" b="0" i="0">
                <a:solidFill>
                  <a:srgbClr val="5D7680"/>
                </a:solidFill>
                <a:latin typeface="Open Sans"/>
              </a:rPr>
              <a:t>Landforms and Landscapes  |  Stage 4 Geography  |  REVISION deck</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365760" y="365760"/>
            <a:ext cx="11430000" cy="1188720"/>
          </a:xfrm>
          <a:prstGeom prst="rect">
            <a:avLst/>
          </a:prstGeom>
          <a:noFill/>
        </p:spPr>
        <p:txBody>
          <a:bodyPr wrap="square">
            <a:spAutoFit/>
          </a:bodyPr>
          <a:lstStyle/>
          <a:p>
            <a:pPr>
              <a:defRPr sz="2600" b="1">
                <a:solidFill>
                  <a:srgbClr val="003146"/>
                </a:solidFill>
              </a:defRPr>
            </a:pPr>
            <a:r>
              <a:t>Over to you</a:t>
            </a:r>
          </a:p>
        </p:txBody>
      </p:sp>
      <p:sp>
        <p:nvSpPr>
          <p:cNvPr id="3" name="Rounded Rectangle 2"/>
          <p:cNvSpPr/>
          <p:nvPr/>
        </p:nvSpPr>
        <p:spPr>
          <a:xfrm>
            <a:off x="548640" y="1051560"/>
            <a:ext cx="11064240" cy="1188720"/>
          </a:xfrm>
          <a:prstGeom prst="roundRect">
            <a:avLst>
              <a:gd name="adj" fmla="val 8000"/>
            </a:avLst>
          </a:prstGeom>
          <a:solidFill>
            <a:srgbClr val="F7EEE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868680" y="1188720"/>
            <a:ext cx="10424160" cy="914400"/>
          </a:xfrm>
          <a:prstGeom prst="rect">
            <a:avLst/>
          </a:prstGeom>
          <a:noFill/>
        </p:spPr>
        <p:txBody>
          <a:bodyPr wrap="square">
            <a:spAutoFit/>
          </a:bodyPr>
          <a:lstStyle/>
          <a:p>
            <a:pPr algn="l"/>
            <a:r>
              <a:rPr sz="1700" b="0" i="0">
                <a:solidFill>
                  <a:srgbClr val="33424B"/>
                </a:solidFill>
                <a:latin typeface="Open Sans"/>
              </a:rPr>
              <a:t>Look at the diagram below. List the processes that are occurring on this coastline.</a:t>
            </a:r>
          </a:p>
        </p:txBody>
      </p:sp>
      <p:pic>
        <p:nvPicPr>
          <p:cNvPr id="5" name="Picture 4" descr="coastal_erosion_diagram.jpg"/>
          <p:cNvPicPr>
            <a:picLocks noChangeAspect="1"/>
          </p:cNvPicPr>
          <p:nvPr/>
        </p:nvPicPr>
        <p:blipFill>
          <a:blip r:embed="rId2"/>
          <a:srcRect t="7145" b="7145"/>
          <a:stretch>
            <a:fillRect/>
          </a:stretch>
        </p:blipFill>
        <p:spPr>
          <a:xfrm>
            <a:off x="2666847" y="2468880"/>
            <a:ext cx="6858000" cy="3566160"/>
          </a:xfrm>
          <a:prstGeom prst="rect">
            <a:avLst/>
          </a:prstGeom>
        </p:spPr>
      </p:pic>
      <p:sp>
        <p:nvSpPr>
          <p:cNvPr id="6" name="TextBox 5"/>
          <p:cNvSpPr txBox="1"/>
          <p:nvPr/>
        </p:nvSpPr>
        <p:spPr>
          <a:xfrm>
            <a:off x="2666847" y="6080759"/>
            <a:ext cx="6858000" cy="274320"/>
          </a:xfrm>
          <a:prstGeom prst="rect">
            <a:avLst/>
          </a:prstGeom>
          <a:noFill/>
        </p:spPr>
        <p:txBody>
          <a:bodyPr wrap="square">
            <a:spAutoFit/>
          </a:bodyPr>
          <a:lstStyle/>
          <a:p>
            <a:pPr algn="ctr"/>
            <a:r>
              <a:rPr sz="900" b="0" i="1">
                <a:solidFill>
                  <a:srgbClr val="5D7680"/>
                </a:solidFill>
                <a:latin typeface="Open Sans"/>
              </a:rPr>
              <a:t>Diagram: features of coasts caused by erosion - original resource, source listed in references.</a:t>
            </a:r>
          </a:p>
        </p:txBody>
      </p:sp>
      <p:sp>
        <p:nvSpPr>
          <p:cNvPr id="7" name="TextBox 6"/>
          <p:cNvSpPr txBox="1"/>
          <p:nvPr/>
        </p:nvSpPr>
        <p:spPr>
          <a:xfrm>
            <a:off x="548640" y="6172200"/>
            <a:ext cx="11064240" cy="320040"/>
          </a:xfrm>
          <a:prstGeom prst="rect">
            <a:avLst/>
          </a:prstGeom>
          <a:noFill/>
        </p:spPr>
        <p:txBody>
          <a:bodyPr wrap="square">
            <a:spAutoFit/>
          </a:bodyPr>
          <a:lstStyle/>
          <a:p>
            <a:pPr algn="l"/>
            <a:r>
              <a:rPr sz="1300" b="0" i="1">
                <a:solidFill>
                  <a:srgbClr val="6AA69B"/>
                </a:solidFill>
                <a:latin typeface="Open Sans"/>
              </a:rPr>
              <a:t>Think about headlands, bays, wave-cut platforms, blowholes and sea stacks.</a:t>
            </a:r>
          </a:p>
        </p:txBody>
      </p:sp>
      <p:sp>
        <p:nvSpPr>
          <p:cNvPr id="8" name="TextBox 7"/>
          <p:cNvSpPr txBox="1"/>
          <p:nvPr/>
        </p:nvSpPr>
        <p:spPr>
          <a:xfrm>
            <a:off x="548640" y="6537960"/>
            <a:ext cx="1645920" cy="274320"/>
          </a:xfrm>
          <a:prstGeom prst="rect">
            <a:avLst/>
          </a:prstGeom>
          <a:noFill/>
        </p:spPr>
        <p:txBody>
          <a:bodyPr wrap="square">
            <a:spAutoFit/>
          </a:bodyPr>
          <a:lstStyle/>
          <a:p>
            <a:pPr algn="l"/>
            <a:r>
              <a:rPr sz="900" b="0" i="1">
                <a:solidFill>
                  <a:srgbClr val="5D7680"/>
                </a:solidFill>
                <a:latin typeface="Open Sans"/>
              </a:rPr>
              <a:t>Perkins (2026)</a:t>
            </a:r>
          </a:p>
        </p:txBody>
      </p:sp>
      <p:sp>
        <p:nvSpPr>
          <p:cNvPr id="9" name="TextBox 8"/>
          <p:cNvSpPr txBox="1"/>
          <p:nvPr/>
        </p:nvSpPr>
        <p:spPr>
          <a:xfrm>
            <a:off x="2194560" y="6537960"/>
            <a:ext cx="2926080" cy="274320"/>
          </a:xfrm>
          <a:prstGeom prst="rect">
            <a:avLst/>
          </a:prstGeom>
          <a:noFill/>
        </p:spPr>
        <p:txBody>
          <a:bodyPr wrap="square">
            <a:spAutoFit/>
          </a:bodyPr>
          <a:lstStyle/>
          <a:p>
            <a:pPr algn="l"/>
            <a:r>
              <a:rPr sz="900" b="0" i="0">
                <a:solidFill>
                  <a:srgbClr val="5D7680"/>
                </a:solidFill>
                <a:latin typeface="Open Sans"/>
              </a:rPr>
              <a:t>Page 13 of 39</a:t>
            </a:r>
          </a:p>
        </p:txBody>
      </p:sp>
      <p:sp>
        <p:nvSpPr>
          <p:cNvPr id="10" name="TextBox 9"/>
          <p:cNvSpPr txBox="1"/>
          <p:nvPr/>
        </p:nvSpPr>
        <p:spPr>
          <a:xfrm>
            <a:off x="5120640" y="6537960"/>
            <a:ext cx="6492240" cy="274320"/>
          </a:xfrm>
          <a:prstGeom prst="rect">
            <a:avLst/>
          </a:prstGeom>
          <a:noFill/>
        </p:spPr>
        <p:txBody>
          <a:bodyPr wrap="square">
            <a:spAutoFit/>
          </a:bodyPr>
          <a:lstStyle/>
          <a:p>
            <a:pPr algn="r"/>
            <a:r>
              <a:rPr sz="900" b="0" i="0">
                <a:solidFill>
                  <a:srgbClr val="5D7680"/>
                </a:solidFill>
                <a:latin typeface="Open Sans"/>
              </a:rPr>
              <a:t>Landforms and Landscapes  |  Stage 4 Geography  |  REVISION deck</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182880"/>
          </a:xfrm>
          <a:prstGeom prst="rect">
            <a:avLst/>
          </a:prstGeom>
          <a:solidFill>
            <a:srgbClr val="6AA69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365760" y="365760"/>
            <a:ext cx="11430000" cy="1188720"/>
          </a:xfrm>
          <a:prstGeom prst="rect">
            <a:avLst/>
          </a:prstGeom>
          <a:noFill/>
        </p:spPr>
        <p:txBody>
          <a:bodyPr wrap="square">
            <a:spAutoFit/>
          </a:bodyPr>
          <a:lstStyle/>
          <a:p>
            <a:pPr>
              <a:defRPr sz="2800" b="1">
                <a:solidFill>
                  <a:srgbClr val="003146"/>
                </a:solidFill>
              </a:defRPr>
            </a:pPr>
            <a:r>
              <a:t>Deposition: building new land</a:t>
            </a:r>
          </a:p>
        </p:txBody>
      </p:sp>
      <p:sp>
        <p:nvSpPr>
          <p:cNvPr id="4" name="TextBox 3"/>
          <p:cNvSpPr txBox="1"/>
          <p:nvPr/>
        </p:nvSpPr>
        <p:spPr>
          <a:xfrm>
            <a:off x="548640" y="2798063"/>
            <a:ext cx="6126480" cy="4937760"/>
          </a:xfrm>
          <a:prstGeom prst="rect">
            <a:avLst/>
          </a:prstGeom>
          <a:noFill/>
        </p:spPr>
        <p:txBody>
          <a:bodyPr wrap="square">
            <a:spAutoFit/>
          </a:bodyPr>
          <a:lstStyle/>
          <a:p>
            <a:pPr algn="l">
              <a:spcAft>
                <a:spcPts val="1620"/>
              </a:spcAft>
              <a:defRPr sz="1800" b="1">
                <a:solidFill>
                  <a:srgbClr val="222630"/>
                </a:solidFill>
              </a:defRPr>
            </a:pPr>
            <a:r>
              <a:t>•  Deposition is the relocation of eroded matter into a new location.</a:t>
            </a:r>
          </a:p>
          <a:p>
            <a:pPr algn="l">
              <a:spcAft>
                <a:spcPts val="0"/>
              </a:spcAft>
              <a:defRPr sz="1800" b="1">
                <a:solidFill>
                  <a:srgbClr val="222630"/>
                </a:solidFill>
              </a:defRPr>
            </a:pPr>
            <a:r>
              <a:t>•  Rivers and coastline landscapes have a large amount of deposition - this river delta shows sediment building up new land where the river meets the sea.</a:t>
            </a:r>
          </a:p>
        </p:txBody>
      </p:sp>
      <p:pic>
        <p:nvPicPr>
          <p:cNvPr id="5" name="Picture 4" descr="deposition_river_delta.jpg"/>
          <p:cNvPicPr>
            <a:picLocks noChangeAspect="1"/>
          </p:cNvPicPr>
          <p:nvPr/>
        </p:nvPicPr>
        <p:blipFill>
          <a:blip r:embed="rId2"/>
          <a:srcRect l="16093" r="16093"/>
          <a:stretch>
            <a:fillRect/>
          </a:stretch>
        </p:blipFill>
        <p:spPr>
          <a:xfrm>
            <a:off x="6949440" y="1554480"/>
            <a:ext cx="4846320" cy="4480560"/>
          </a:xfrm>
          <a:prstGeom prst="rect">
            <a:avLst/>
          </a:prstGeom>
        </p:spPr>
      </p:pic>
      <p:sp>
        <p:nvSpPr>
          <p:cNvPr id="6" name="TextBox 5"/>
          <p:cNvSpPr txBox="1"/>
          <p:nvPr/>
        </p:nvSpPr>
        <p:spPr>
          <a:xfrm>
            <a:off x="6949440" y="6080760"/>
            <a:ext cx="4846320" cy="274320"/>
          </a:xfrm>
          <a:prstGeom prst="rect">
            <a:avLst/>
          </a:prstGeom>
          <a:noFill/>
        </p:spPr>
        <p:txBody>
          <a:bodyPr wrap="square">
            <a:spAutoFit/>
          </a:bodyPr>
          <a:lstStyle/>
          <a:p>
            <a:pPr algn="l"/>
            <a:r>
              <a:rPr sz="900" b="0" i="1">
                <a:solidFill>
                  <a:srgbClr val="5D7680"/>
                </a:solidFill>
                <a:latin typeface="Open Sans"/>
              </a:rPr>
              <a:t>Image: original resource, source listed in references.</a:t>
            </a:r>
          </a:p>
        </p:txBody>
      </p:sp>
      <p:sp>
        <p:nvSpPr>
          <p:cNvPr id="7" name="TextBox 6"/>
          <p:cNvSpPr txBox="1"/>
          <p:nvPr/>
        </p:nvSpPr>
        <p:spPr>
          <a:xfrm>
            <a:off x="548640" y="6537960"/>
            <a:ext cx="1645920" cy="274320"/>
          </a:xfrm>
          <a:prstGeom prst="rect">
            <a:avLst/>
          </a:prstGeom>
          <a:noFill/>
        </p:spPr>
        <p:txBody>
          <a:bodyPr wrap="square">
            <a:spAutoFit/>
          </a:bodyPr>
          <a:lstStyle/>
          <a:p>
            <a:pPr algn="l"/>
            <a:r>
              <a:rPr sz="900" b="0" i="1">
                <a:solidFill>
                  <a:srgbClr val="5D7680"/>
                </a:solidFill>
                <a:latin typeface="Open Sans"/>
              </a:rPr>
              <a:t>Perkins (2026)</a:t>
            </a:r>
          </a:p>
        </p:txBody>
      </p:sp>
      <p:sp>
        <p:nvSpPr>
          <p:cNvPr id="8" name="TextBox 7"/>
          <p:cNvSpPr txBox="1"/>
          <p:nvPr/>
        </p:nvSpPr>
        <p:spPr>
          <a:xfrm>
            <a:off x="2194560" y="6537960"/>
            <a:ext cx="2926080" cy="274320"/>
          </a:xfrm>
          <a:prstGeom prst="rect">
            <a:avLst/>
          </a:prstGeom>
          <a:noFill/>
        </p:spPr>
        <p:txBody>
          <a:bodyPr wrap="square">
            <a:spAutoFit/>
          </a:bodyPr>
          <a:lstStyle/>
          <a:p>
            <a:pPr algn="l"/>
            <a:r>
              <a:rPr sz="900" b="0" i="0">
                <a:solidFill>
                  <a:srgbClr val="5D7680"/>
                </a:solidFill>
                <a:latin typeface="Open Sans"/>
              </a:rPr>
              <a:t>Page 14 of 39</a:t>
            </a:r>
          </a:p>
        </p:txBody>
      </p:sp>
      <p:sp>
        <p:nvSpPr>
          <p:cNvPr id="9" name="TextBox 8"/>
          <p:cNvSpPr txBox="1"/>
          <p:nvPr/>
        </p:nvSpPr>
        <p:spPr>
          <a:xfrm>
            <a:off x="5120640" y="6537960"/>
            <a:ext cx="6492240" cy="274320"/>
          </a:xfrm>
          <a:prstGeom prst="rect">
            <a:avLst/>
          </a:prstGeom>
          <a:noFill/>
        </p:spPr>
        <p:txBody>
          <a:bodyPr wrap="square">
            <a:spAutoFit/>
          </a:bodyPr>
          <a:lstStyle/>
          <a:p>
            <a:pPr algn="r"/>
            <a:r>
              <a:rPr sz="900" b="0" i="0">
                <a:solidFill>
                  <a:srgbClr val="5D7680"/>
                </a:solidFill>
                <a:latin typeface="Open Sans"/>
              </a:rPr>
              <a:t>Landforms and Landscapes  |  Stage 4 Geography  |  REVISION deck</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365760" y="365760"/>
            <a:ext cx="11430000" cy="1188720"/>
          </a:xfrm>
          <a:prstGeom prst="rect">
            <a:avLst/>
          </a:prstGeom>
          <a:noFill/>
        </p:spPr>
        <p:txBody>
          <a:bodyPr wrap="square">
            <a:spAutoFit/>
          </a:bodyPr>
          <a:lstStyle/>
          <a:p>
            <a:pPr>
              <a:defRPr sz="2600" b="1">
                <a:solidFill>
                  <a:srgbClr val="003146"/>
                </a:solidFill>
              </a:defRPr>
            </a:pPr>
            <a:r>
              <a:t>Over to you</a:t>
            </a:r>
          </a:p>
        </p:txBody>
      </p:sp>
      <p:sp>
        <p:nvSpPr>
          <p:cNvPr id="3" name="Rounded Rectangle 2"/>
          <p:cNvSpPr/>
          <p:nvPr/>
        </p:nvSpPr>
        <p:spPr>
          <a:xfrm>
            <a:off x="548640" y="1051560"/>
            <a:ext cx="11064240" cy="1188720"/>
          </a:xfrm>
          <a:prstGeom prst="roundRect">
            <a:avLst>
              <a:gd name="adj" fmla="val 8000"/>
            </a:avLst>
          </a:prstGeom>
          <a:solidFill>
            <a:srgbClr val="F7EEE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868680" y="1188720"/>
            <a:ext cx="10424160" cy="914400"/>
          </a:xfrm>
          <a:prstGeom prst="rect">
            <a:avLst/>
          </a:prstGeom>
          <a:noFill/>
        </p:spPr>
        <p:txBody>
          <a:bodyPr wrap="square">
            <a:spAutoFit/>
          </a:bodyPr>
          <a:lstStyle/>
          <a:p>
            <a:pPr algn="l"/>
            <a:r>
              <a:rPr sz="1700" b="0" i="0">
                <a:solidFill>
                  <a:srgbClr val="33424B"/>
                </a:solidFill>
                <a:latin typeface="Open Sans"/>
              </a:rPr>
              <a:t>Using Google Maps on Google Drive, make a map of the major rivers in NSW that flow to the Pacific Ocean. Your map needs a title, labels of the rivers you find, and you need to measure one river.</a:t>
            </a:r>
          </a:p>
        </p:txBody>
      </p:sp>
      <p:pic>
        <p:nvPicPr>
          <p:cNvPr id="5" name="Picture 4" descr="nsw_rivers_map.jpg"/>
          <p:cNvPicPr>
            <a:picLocks noChangeAspect="1"/>
          </p:cNvPicPr>
          <p:nvPr/>
        </p:nvPicPr>
        <p:blipFill>
          <a:blip r:embed="rId2"/>
          <a:srcRect t="16932" b="16932"/>
          <a:stretch>
            <a:fillRect/>
          </a:stretch>
        </p:blipFill>
        <p:spPr>
          <a:xfrm>
            <a:off x="2666847" y="2468880"/>
            <a:ext cx="6858000" cy="3566160"/>
          </a:xfrm>
          <a:prstGeom prst="rect">
            <a:avLst/>
          </a:prstGeom>
        </p:spPr>
      </p:pic>
      <p:sp>
        <p:nvSpPr>
          <p:cNvPr id="6" name="TextBox 5"/>
          <p:cNvSpPr txBox="1"/>
          <p:nvPr/>
        </p:nvSpPr>
        <p:spPr>
          <a:xfrm>
            <a:off x="2666847" y="6080759"/>
            <a:ext cx="6858000" cy="274320"/>
          </a:xfrm>
          <a:prstGeom prst="rect">
            <a:avLst/>
          </a:prstGeom>
          <a:noFill/>
        </p:spPr>
        <p:txBody>
          <a:bodyPr wrap="square">
            <a:spAutoFit/>
          </a:bodyPr>
          <a:lstStyle/>
          <a:p>
            <a:pPr algn="ctr"/>
            <a:r>
              <a:rPr sz="900" b="0" i="1">
                <a:solidFill>
                  <a:srgbClr val="5D7680"/>
                </a:solidFill>
                <a:latin typeface="Open Sans"/>
              </a:rPr>
              <a:t>Map: mapsofworld.com - original resource, source listed in references.</a:t>
            </a:r>
          </a:p>
        </p:txBody>
      </p:sp>
      <p:sp>
        <p:nvSpPr>
          <p:cNvPr id="7" name="TextBox 6"/>
          <p:cNvSpPr txBox="1"/>
          <p:nvPr/>
        </p:nvSpPr>
        <p:spPr>
          <a:xfrm>
            <a:off x="548640" y="6537960"/>
            <a:ext cx="1645920" cy="274320"/>
          </a:xfrm>
          <a:prstGeom prst="rect">
            <a:avLst/>
          </a:prstGeom>
          <a:noFill/>
        </p:spPr>
        <p:txBody>
          <a:bodyPr wrap="square">
            <a:spAutoFit/>
          </a:bodyPr>
          <a:lstStyle/>
          <a:p>
            <a:pPr algn="l"/>
            <a:r>
              <a:rPr sz="900" b="0" i="1">
                <a:solidFill>
                  <a:srgbClr val="5D7680"/>
                </a:solidFill>
                <a:latin typeface="Open Sans"/>
              </a:rPr>
              <a:t>Perkins (2026)</a:t>
            </a:r>
          </a:p>
        </p:txBody>
      </p:sp>
      <p:sp>
        <p:nvSpPr>
          <p:cNvPr id="8" name="TextBox 7"/>
          <p:cNvSpPr txBox="1"/>
          <p:nvPr/>
        </p:nvSpPr>
        <p:spPr>
          <a:xfrm>
            <a:off x="2194560" y="6537960"/>
            <a:ext cx="2926080" cy="274320"/>
          </a:xfrm>
          <a:prstGeom prst="rect">
            <a:avLst/>
          </a:prstGeom>
          <a:noFill/>
        </p:spPr>
        <p:txBody>
          <a:bodyPr wrap="square">
            <a:spAutoFit/>
          </a:bodyPr>
          <a:lstStyle/>
          <a:p>
            <a:pPr algn="l"/>
            <a:r>
              <a:rPr sz="900" b="0" i="0">
                <a:solidFill>
                  <a:srgbClr val="5D7680"/>
                </a:solidFill>
                <a:latin typeface="Open Sans"/>
              </a:rPr>
              <a:t>Page 15 of 39</a:t>
            </a:r>
          </a:p>
        </p:txBody>
      </p:sp>
      <p:sp>
        <p:nvSpPr>
          <p:cNvPr id="9" name="TextBox 8"/>
          <p:cNvSpPr txBox="1"/>
          <p:nvPr/>
        </p:nvSpPr>
        <p:spPr>
          <a:xfrm>
            <a:off x="5120640" y="6537960"/>
            <a:ext cx="6492240" cy="274320"/>
          </a:xfrm>
          <a:prstGeom prst="rect">
            <a:avLst/>
          </a:prstGeom>
          <a:noFill/>
        </p:spPr>
        <p:txBody>
          <a:bodyPr wrap="square">
            <a:spAutoFit/>
          </a:bodyPr>
          <a:lstStyle/>
          <a:p>
            <a:pPr algn="r"/>
            <a:r>
              <a:rPr sz="900" b="0" i="0">
                <a:solidFill>
                  <a:srgbClr val="5D7680"/>
                </a:solidFill>
                <a:latin typeface="Open Sans"/>
              </a:rPr>
              <a:t>Landforms and Landscapes  |  Stage 4 Geography  |  REVISION deck</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182880"/>
          </a:xfrm>
          <a:prstGeom prst="rect">
            <a:avLst/>
          </a:prstGeom>
          <a:solidFill>
            <a:srgbClr val="6AA69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365760" y="365760"/>
            <a:ext cx="11430000" cy="1188720"/>
          </a:xfrm>
          <a:prstGeom prst="rect">
            <a:avLst/>
          </a:prstGeom>
          <a:noFill/>
        </p:spPr>
        <p:txBody>
          <a:bodyPr wrap="square">
            <a:spAutoFit/>
          </a:bodyPr>
          <a:lstStyle/>
          <a:p>
            <a:pPr>
              <a:defRPr sz="2800" b="1">
                <a:solidFill>
                  <a:srgbClr val="003146"/>
                </a:solidFill>
              </a:defRPr>
            </a:pPr>
            <a:r>
              <a:t>Plate tectonics</a:t>
            </a:r>
          </a:p>
        </p:txBody>
      </p:sp>
      <p:sp>
        <p:nvSpPr>
          <p:cNvPr id="4" name="TextBox 3"/>
          <p:cNvSpPr txBox="1"/>
          <p:nvPr/>
        </p:nvSpPr>
        <p:spPr>
          <a:xfrm>
            <a:off x="548640" y="1554480"/>
            <a:ext cx="6126480" cy="4937760"/>
          </a:xfrm>
          <a:prstGeom prst="rect">
            <a:avLst/>
          </a:prstGeom>
          <a:noFill/>
        </p:spPr>
        <p:txBody>
          <a:bodyPr wrap="square">
            <a:spAutoFit/>
          </a:bodyPr>
          <a:lstStyle/>
          <a:p>
            <a:pPr algn="l">
              <a:spcAft>
                <a:spcPts val="9000"/>
              </a:spcAft>
              <a:defRPr sz="1800" b="1">
                <a:solidFill>
                  <a:srgbClr val="222630"/>
                </a:solidFill>
              </a:defRPr>
            </a:pPr>
            <a:r>
              <a:t>•  The movement of the major plates that make up the earth's crust.</a:t>
            </a:r>
          </a:p>
          <a:p>
            <a:pPr algn="l">
              <a:spcAft>
                <a:spcPts val="9000"/>
              </a:spcAft>
              <a:defRPr sz="1800" b="1">
                <a:solidFill>
                  <a:srgbClr val="222630"/>
                </a:solidFill>
              </a:defRPr>
            </a:pPr>
            <a:r>
              <a:t>•  These movements occur between continents and the ocean floor.</a:t>
            </a:r>
          </a:p>
          <a:p>
            <a:pPr algn="l">
              <a:spcAft>
                <a:spcPts val="0"/>
              </a:spcAft>
              <a:defRPr sz="1800" b="1">
                <a:solidFill>
                  <a:srgbClr val="222630"/>
                </a:solidFill>
              </a:defRPr>
            </a:pPr>
            <a:r>
              <a:t>•  Types of processes: divergent, collision, convergent or transform boundaries.</a:t>
            </a:r>
          </a:p>
        </p:txBody>
      </p:sp>
      <p:pic>
        <p:nvPicPr>
          <p:cNvPr id="5" name="Picture 4" descr="tectonic_map_nasa.jpg"/>
          <p:cNvPicPr>
            <a:picLocks noChangeAspect="1"/>
          </p:cNvPicPr>
          <p:nvPr/>
        </p:nvPicPr>
        <p:blipFill>
          <a:blip r:embed="rId2"/>
          <a:srcRect l="14593" r="14593"/>
          <a:stretch>
            <a:fillRect/>
          </a:stretch>
        </p:blipFill>
        <p:spPr>
          <a:xfrm>
            <a:off x="6949440" y="1554480"/>
            <a:ext cx="4846320" cy="4480560"/>
          </a:xfrm>
          <a:prstGeom prst="rect">
            <a:avLst/>
          </a:prstGeom>
        </p:spPr>
      </p:pic>
      <p:sp>
        <p:nvSpPr>
          <p:cNvPr id="6" name="TextBox 5"/>
          <p:cNvSpPr txBox="1"/>
          <p:nvPr/>
        </p:nvSpPr>
        <p:spPr>
          <a:xfrm>
            <a:off x="6949440" y="6080760"/>
            <a:ext cx="4846320" cy="274320"/>
          </a:xfrm>
          <a:prstGeom prst="rect">
            <a:avLst/>
          </a:prstGeom>
          <a:noFill/>
        </p:spPr>
        <p:txBody>
          <a:bodyPr wrap="square">
            <a:spAutoFit/>
          </a:bodyPr>
          <a:lstStyle/>
          <a:p>
            <a:pPr algn="l"/>
            <a:r>
              <a:rPr sz="900" b="0" i="1">
                <a:solidFill>
                  <a:srgbClr val="5D7680"/>
                </a:solidFill>
                <a:latin typeface="Open Sans"/>
              </a:rPr>
              <a:t>Map: NASA Goddard Space Flight Center, Digital Tectonic Activity Map of the Earth.</a:t>
            </a:r>
          </a:p>
        </p:txBody>
      </p:sp>
      <p:sp>
        <p:nvSpPr>
          <p:cNvPr id="7" name="TextBox 6"/>
          <p:cNvSpPr txBox="1"/>
          <p:nvPr/>
        </p:nvSpPr>
        <p:spPr>
          <a:xfrm>
            <a:off x="548640" y="6537960"/>
            <a:ext cx="1645920" cy="274320"/>
          </a:xfrm>
          <a:prstGeom prst="rect">
            <a:avLst/>
          </a:prstGeom>
          <a:noFill/>
        </p:spPr>
        <p:txBody>
          <a:bodyPr wrap="square">
            <a:spAutoFit/>
          </a:bodyPr>
          <a:lstStyle/>
          <a:p>
            <a:pPr algn="l"/>
            <a:r>
              <a:rPr sz="900" b="0" i="1">
                <a:solidFill>
                  <a:srgbClr val="5D7680"/>
                </a:solidFill>
                <a:latin typeface="Open Sans"/>
              </a:rPr>
              <a:t>Perkins (2026)</a:t>
            </a:r>
          </a:p>
        </p:txBody>
      </p:sp>
      <p:sp>
        <p:nvSpPr>
          <p:cNvPr id="8" name="TextBox 7"/>
          <p:cNvSpPr txBox="1"/>
          <p:nvPr/>
        </p:nvSpPr>
        <p:spPr>
          <a:xfrm>
            <a:off x="2194560" y="6537960"/>
            <a:ext cx="2926080" cy="274320"/>
          </a:xfrm>
          <a:prstGeom prst="rect">
            <a:avLst/>
          </a:prstGeom>
          <a:noFill/>
        </p:spPr>
        <p:txBody>
          <a:bodyPr wrap="square">
            <a:spAutoFit/>
          </a:bodyPr>
          <a:lstStyle/>
          <a:p>
            <a:pPr algn="l"/>
            <a:r>
              <a:rPr sz="900" b="0" i="0">
                <a:solidFill>
                  <a:srgbClr val="5D7680"/>
                </a:solidFill>
                <a:latin typeface="Open Sans"/>
              </a:rPr>
              <a:t>Page 16 of 39</a:t>
            </a:r>
          </a:p>
        </p:txBody>
      </p:sp>
      <p:sp>
        <p:nvSpPr>
          <p:cNvPr id="9" name="TextBox 8"/>
          <p:cNvSpPr txBox="1"/>
          <p:nvPr/>
        </p:nvSpPr>
        <p:spPr>
          <a:xfrm>
            <a:off x="5120640" y="6537960"/>
            <a:ext cx="6492240" cy="274320"/>
          </a:xfrm>
          <a:prstGeom prst="rect">
            <a:avLst/>
          </a:prstGeom>
          <a:noFill/>
        </p:spPr>
        <p:txBody>
          <a:bodyPr wrap="square">
            <a:spAutoFit/>
          </a:bodyPr>
          <a:lstStyle/>
          <a:p>
            <a:pPr algn="r"/>
            <a:r>
              <a:rPr sz="900" b="0" i="0">
                <a:solidFill>
                  <a:srgbClr val="5D7680"/>
                </a:solidFill>
                <a:latin typeface="Open Sans"/>
              </a:rPr>
              <a:t>Landforms and Landscapes  |  Stage 4 Geography  |  REVISION deck</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182880"/>
          </a:xfrm>
          <a:prstGeom prst="rect">
            <a:avLst/>
          </a:prstGeom>
          <a:solidFill>
            <a:srgbClr val="6AA69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365760" y="365760"/>
            <a:ext cx="11430000" cy="1188720"/>
          </a:xfrm>
          <a:prstGeom prst="rect">
            <a:avLst/>
          </a:prstGeom>
          <a:noFill/>
        </p:spPr>
        <p:txBody>
          <a:bodyPr wrap="square">
            <a:spAutoFit/>
          </a:bodyPr>
          <a:lstStyle/>
          <a:p>
            <a:pPr>
              <a:defRPr sz="2800" b="1">
                <a:solidFill>
                  <a:srgbClr val="003146"/>
                </a:solidFill>
              </a:defRPr>
            </a:pPr>
            <a:r>
              <a:t>How plate boundaries move</a:t>
            </a:r>
          </a:p>
        </p:txBody>
      </p:sp>
      <p:pic>
        <p:nvPicPr>
          <p:cNvPr id="4" name="Picture 3" descr="plate_tectonics_diagram.png"/>
          <p:cNvPicPr>
            <a:picLocks noChangeAspect="1"/>
          </p:cNvPicPr>
          <p:nvPr/>
        </p:nvPicPr>
        <p:blipFill>
          <a:blip r:embed="rId2"/>
          <a:stretch>
            <a:fillRect/>
          </a:stretch>
        </p:blipFill>
        <p:spPr>
          <a:xfrm>
            <a:off x="1947777" y="1371600"/>
            <a:ext cx="8296140" cy="4572000"/>
          </a:xfrm>
          <a:prstGeom prst="rect">
            <a:avLst/>
          </a:prstGeom>
        </p:spPr>
      </p:pic>
      <p:sp>
        <p:nvSpPr>
          <p:cNvPr id="5" name="TextBox 4"/>
          <p:cNvSpPr txBox="1"/>
          <p:nvPr/>
        </p:nvSpPr>
        <p:spPr>
          <a:xfrm>
            <a:off x="548640" y="5989320"/>
            <a:ext cx="11064240" cy="274320"/>
          </a:xfrm>
          <a:prstGeom prst="rect">
            <a:avLst/>
          </a:prstGeom>
          <a:noFill/>
        </p:spPr>
        <p:txBody>
          <a:bodyPr wrap="square">
            <a:spAutoFit/>
          </a:bodyPr>
          <a:lstStyle/>
          <a:p>
            <a:pPr algn="ctr"/>
            <a:r>
              <a:rPr sz="1200" b="0" i="1">
                <a:solidFill>
                  <a:srgbClr val="33424B"/>
                </a:solidFill>
                <a:latin typeface="Open Sans"/>
              </a:rPr>
              <a:t>Convergent, divergent and transform plate boundaries.</a:t>
            </a:r>
          </a:p>
        </p:txBody>
      </p:sp>
      <p:sp>
        <p:nvSpPr>
          <p:cNvPr id="6" name="TextBox 5"/>
          <p:cNvSpPr txBox="1"/>
          <p:nvPr/>
        </p:nvSpPr>
        <p:spPr>
          <a:xfrm>
            <a:off x="548640" y="6263640"/>
            <a:ext cx="11064240" cy="228600"/>
          </a:xfrm>
          <a:prstGeom prst="rect">
            <a:avLst/>
          </a:prstGeom>
          <a:noFill/>
        </p:spPr>
        <p:txBody>
          <a:bodyPr wrap="square">
            <a:spAutoFit/>
          </a:bodyPr>
          <a:lstStyle/>
          <a:p>
            <a:pPr algn="ctr"/>
            <a:r>
              <a:rPr sz="900" b="0" i="1">
                <a:solidFill>
                  <a:srgbClr val="5D7680"/>
                </a:solidFill>
                <a:latin typeface="Open Sans"/>
              </a:rPr>
              <a:t>Diagram: original resource, source listed in references.</a:t>
            </a:r>
          </a:p>
        </p:txBody>
      </p:sp>
      <p:sp>
        <p:nvSpPr>
          <p:cNvPr id="7" name="TextBox 6"/>
          <p:cNvSpPr txBox="1"/>
          <p:nvPr/>
        </p:nvSpPr>
        <p:spPr>
          <a:xfrm>
            <a:off x="548640" y="6537960"/>
            <a:ext cx="1645920" cy="274320"/>
          </a:xfrm>
          <a:prstGeom prst="rect">
            <a:avLst/>
          </a:prstGeom>
          <a:noFill/>
        </p:spPr>
        <p:txBody>
          <a:bodyPr wrap="square">
            <a:spAutoFit/>
          </a:bodyPr>
          <a:lstStyle/>
          <a:p>
            <a:pPr algn="l"/>
            <a:r>
              <a:rPr sz="900" b="0" i="1">
                <a:solidFill>
                  <a:srgbClr val="5D7680"/>
                </a:solidFill>
                <a:latin typeface="Open Sans"/>
              </a:rPr>
              <a:t>Perkins (2026)</a:t>
            </a:r>
          </a:p>
        </p:txBody>
      </p:sp>
      <p:sp>
        <p:nvSpPr>
          <p:cNvPr id="8" name="TextBox 7"/>
          <p:cNvSpPr txBox="1"/>
          <p:nvPr/>
        </p:nvSpPr>
        <p:spPr>
          <a:xfrm>
            <a:off x="2194560" y="6537960"/>
            <a:ext cx="2926080" cy="274320"/>
          </a:xfrm>
          <a:prstGeom prst="rect">
            <a:avLst/>
          </a:prstGeom>
          <a:noFill/>
        </p:spPr>
        <p:txBody>
          <a:bodyPr wrap="square">
            <a:spAutoFit/>
          </a:bodyPr>
          <a:lstStyle/>
          <a:p>
            <a:pPr algn="l"/>
            <a:r>
              <a:rPr sz="900" b="0" i="0">
                <a:solidFill>
                  <a:srgbClr val="5D7680"/>
                </a:solidFill>
                <a:latin typeface="Open Sans"/>
              </a:rPr>
              <a:t>Page 17 of 39</a:t>
            </a:r>
          </a:p>
        </p:txBody>
      </p:sp>
      <p:sp>
        <p:nvSpPr>
          <p:cNvPr id="9" name="TextBox 8"/>
          <p:cNvSpPr txBox="1"/>
          <p:nvPr/>
        </p:nvSpPr>
        <p:spPr>
          <a:xfrm>
            <a:off x="5120640" y="6537960"/>
            <a:ext cx="6492240" cy="274320"/>
          </a:xfrm>
          <a:prstGeom prst="rect">
            <a:avLst/>
          </a:prstGeom>
          <a:noFill/>
        </p:spPr>
        <p:txBody>
          <a:bodyPr wrap="square">
            <a:spAutoFit/>
          </a:bodyPr>
          <a:lstStyle/>
          <a:p>
            <a:pPr algn="r"/>
            <a:r>
              <a:rPr sz="900" b="0" i="0">
                <a:solidFill>
                  <a:srgbClr val="5D7680"/>
                </a:solidFill>
                <a:latin typeface="Open Sans"/>
              </a:rPr>
              <a:t>Landforms and Landscapes  |  Stage 4 Geography  |  REVISION deck</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bg>
      <p:bgPr>
        <a:solidFill>
          <a:srgbClr val="ECF4F2"/>
        </a:solidFill>
        <a:effectLst/>
      </p:bgPr>
    </p:bg>
    <p:spTree>
      <p:nvGrpSpPr>
        <p:cNvPr id="1" name=""/>
        <p:cNvGrpSpPr/>
        <p:nvPr/>
      </p:nvGrpSpPr>
      <p:grpSpPr/>
      <p:sp>
        <p:nvSpPr>
          <p:cNvPr id="2" name="Rectangle 1"/>
          <p:cNvSpPr/>
          <p:nvPr/>
        </p:nvSpPr>
        <p:spPr>
          <a:xfrm>
            <a:off x="0" y="0"/>
            <a:ext cx="12191695" cy="182880"/>
          </a:xfrm>
          <a:prstGeom prst="rect">
            <a:avLst/>
          </a:prstGeom>
          <a:solidFill>
            <a:srgbClr val="6AA69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365760" y="365760"/>
            <a:ext cx="11430000" cy="1188720"/>
          </a:xfrm>
          <a:prstGeom prst="rect">
            <a:avLst/>
          </a:prstGeom>
          <a:noFill/>
        </p:spPr>
        <p:txBody>
          <a:bodyPr wrap="square">
            <a:spAutoFit/>
          </a:bodyPr>
          <a:lstStyle/>
          <a:p>
            <a:pPr>
              <a:defRPr sz="3200" b="1">
                <a:solidFill>
                  <a:srgbClr val="003146"/>
                </a:solidFill>
              </a:defRPr>
            </a:pPr>
            <a:r>
              <a:t>Watch: landscapes shaped by weathering and erosion</a:t>
            </a:r>
          </a:p>
        </p:txBody>
      </p:sp>
      <p:sp>
        <p:nvSpPr>
          <p:cNvPr id="4" name="Rounded Rectangle 3"/>
          <p:cNvSpPr/>
          <p:nvPr/>
        </p:nvSpPr>
        <p:spPr>
          <a:xfrm>
            <a:off x="548640" y="3108960"/>
            <a:ext cx="11155680" cy="1737360"/>
          </a:xfrm>
          <a:prstGeom prst="roundRect">
            <a:avLst/>
          </a:prstGeom>
          <a:solidFill>
            <a:srgbClr val="6AA69B"/>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2000" b="1" u="sng">
                <a:solidFill>
                  <a:srgbClr val="003146"/>
                </a:solidFill>
                <a:hlinkClick r:id="rId2"/>
              </a:rPr>
              <a:t>Watch: Landscapes and Landforms: Coastal landscapes (ABC Education)</a:t>
            </a:r>
          </a:p>
        </p:txBody>
      </p:sp>
      <p:sp>
        <p:nvSpPr>
          <p:cNvPr id="5" name="TextBox 4"/>
          <p:cNvSpPr txBox="1"/>
          <p:nvPr/>
        </p:nvSpPr>
        <p:spPr>
          <a:xfrm>
            <a:off x="365760" y="6309360"/>
            <a:ext cx="8229600" cy="365760"/>
          </a:xfrm>
          <a:prstGeom prst="rect">
            <a:avLst/>
          </a:prstGeom>
          <a:noFill/>
        </p:spPr>
        <p:txBody>
          <a:bodyPr wrap="square">
            <a:spAutoFit/>
          </a:bodyPr>
          <a:lstStyle/>
          <a:p>
            <a:pPr>
              <a:defRPr sz="1000" i="1">
                <a:solidFill>
                  <a:srgbClr val="707070"/>
                </a:solidFill>
              </a:defRPr>
            </a:pPr>
            <a:r>
              <a:t>ABC Education, "Landscapes and Landforms: Coastal landscapes".</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bg>
      <p:bgPr>
        <a:solidFill>
          <a:srgbClr val="ECF4F2"/>
        </a:solidFill>
        <a:effectLst/>
      </p:bgPr>
    </p:bg>
    <p:spTree>
      <p:nvGrpSpPr>
        <p:cNvPr id="1" name=""/>
        <p:cNvGrpSpPr/>
        <p:nvPr/>
      </p:nvGrpSpPr>
      <p:grpSpPr/>
      <p:sp>
        <p:nvSpPr>
          <p:cNvPr id="2" name="Rectangle 1"/>
          <p:cNvSpPr/>
          <p:nvPr/>
        </p:nvSpPr>
        <p:spPr>
          <a:xfrm>
            <a:off x="0" y="0"/>
            <a:ext cx="12191695" cy="182880"/>
          </a:xfrm>
          <a:prstGeom prst="rect">
            <a:avLst/>
          </a:prstGeom>
          <a:solidFill>
            <a:srgbClr val="6AA69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365760" y="365760"/>
            <a:ext cx="11430000" cy="1188720"/>
          </a:xfrm>
          <a:prstGeom prst="rect">
            <a:avLst/>
          </a:prstGeom>
          <a:noFill/>
        </p:spPr>
        <p:txBody>
          <a:bodyPr wrap="square">
            <a:spAutoFit/>
          </a:bodyPr>
          <a:lstStyle/>
          <a:p>
            <a:pPr>
              <a:defRPr sz="3200" b="1">
                <a:solidFill>
                  <a:srgbClr val="003146"/>
                </a:solidFill>
              </a:defRPr>
            </a:pPr>
            <a:r>
              <a:t>Watch: an introduction to plate tectonics</a:t>
            </a:r>
          </a:p>
        </p:txBody>
      </p:sp>
      <p:sp>
        <p:nvSpPr>
          <p:cNvPr id="4" name="Rounded Rectangle 3"/>
          <p:cNvSpPr/>
          <p:nvPr/>
        </p:nvSpPr>
        <p:spPr>
          <a:xfrm>
            <a:off x="548640" y="3108960"/>
            <a:ext cx="11155680" cy="1737360"/>
          </a:xfrm>
          <a:prstGeom prst="roundRect">
            <a:avLst/>
          </a:prstGeom>
          <a:solidFill>
            <a:srgbClr val="6AA69B"/>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2000" b="1" u="sng">
                <a:solidFill>
                  <a:srgbClr val="003146"/>
                </a:solidFill>
                <a:hlinkClick r:id="rId2"/>
              </a:rPr>
              <a:t>Watch: Introduction to plate tectonics (Khan Academy)</a:t>
            </a:r>
          </a:p>
        </p:txBody>
      </p:sp>
      <p:sp>
        <p:nvSpPr>
          <p:cNvPr id="5" name="TextBox 4"/>
          <p:cNvSpPr txBox="1"/>
          <p:nvPr/>
        </p:nvSpPr>
        <p:spPr>
          <a:xfrm>
            <a:off x="365760" y="6309360"/>
            <a:ext cx="8229600" cy="365760"/>
          </a:xfrm>
          <a:prstGeom prst="rect">
            <a:avLst/>
          </a:prstGeom>
          <a:noFill/>
        </p:spPr>
        <p:txBody>
          <a:bodyPr wrap="square">
            <a:spAutoFit/>
          </a:bodyPr>
          <a:lstStyle/>
          <a:p>
            <a:pPr>
              <a:defRPr sz="1000" i="1">
                <a:solidFill>
                  <a:srgbClr val="707070"/>
                </a:solidFill>
              </a:defRPr>
            </a:pPr>
            <a:r>
              <a:t>Khan Academy, "Introduction to plate tectonics".</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bg>
      <p:bgPr>
        <a:solidFill>
          <a:srgbClr val="6AA69B"/>
        </a:solidFill>
        <a:effectLst/>
      </p:bgPr>
    </p:bg>
    <p:spTree>
      <p:nvGrpSpPr>
        <p:cNvPr id="1" name=""/>
        <p:cNvGrpSpPr/>
        <p:nvPr/>
      </p:nvGrpSpPr>
      <p:grpSpPr/>
      <p:sp>
        <p:nvSpPr>
          <p:cNvPr id="2" name="TextBox 1"/>
          <p:cNvSpPr txBox="1"/>
          <p:nvPr/>
        </p:nvSpPr>
        <p:spPr>
          <a:xfrm>
            <a:off x="365760" y="2377440"/>
            <a:ext cx="11430000" cy="1188720"/>
          </a:xfrm>
          <a:prstGeom prst="rect">
            <a:avLst/>
          </a:prstGeom>
          <a:noFill/>
        </p:spPr>
        <p:txBody>
          <a:bodyPr wrap="square">
            <a:spAutoFit/>
          </a:bodyPr>
          <a:lstStyle/>
          <a:p>
            <a:pPr>
              <a:defRPr sz="5200" b="1">
                <a:solidFill>
                  <a:srgbClr val="FFFFFF"/>
                </a:solidFill>
              </a:defRPr>
            </a:pPr>
            <a:r>
              <a:t>Aesthetic and cultural value</a:t>
            </a:r>
          </a:p>
        </p:txBody>
      </p:sp>
      <p:sp>
        <p:nvSpPr>
          <p:cNvPr id="3" name="TextBox 2"/>
          <p:cNvSpPr txBox="1"/>
          <p:nvPr/>
        </p:nvSpPr>
        <p:spPr>
          <a:xfrm>
            <a:off x="365760" y="3566160"/>
            <a:ext cx="11430000" cy="914400"/>
          </a:xfrm>
          <a:prstGeom prst="rect">
            <a:avLst/>
          </a:prstGeom>
          <a:noFill/>
        </p:spPr>
        <p:txBody>
          <a:bodyPr wrap="square">
            <a:spAutoFit/>
          </a:bodyPr>
          <a:lstStyle/>
          <a:p>
            <a:pPr>
              <a:defRPr sz="2400" b="1">
                <a:solidFill>
                  <a:srgbClr val="FFC20E"/>
                </a:solidFill>
              </a:defRPr>
            </a:pPr>
            <a:r>
              <a:t>Why landscapes matter to culture and identity</a:t>
            </a:r>
          </a:p>
        </p:txBody>
      </p:sp>
      <p:sp>
        <p:nvSpPr>
          <p:cNvPr id="4" name="TextBox 3"/>
          <p:cNvSpPr txBox="1"/>
          <p:nvPr/>
        </p:nvSpPr>
        <p:spPr>
          <a:xfrm>
            <a:off x="548640" y="6537960"/>
            <a:ext cx="1645920" cy="274320"/>
          </a:xfrm>
          <a:prstGeom prst="rect">
            <a:avLst/>
          </a:prstGeom>
          <a:noFill/>
        </p:spPr>
        <p:txBody>
          <a:bodyPr wrap="square">
            <a:spAutoFit/>
          </a:bodyPr>
          <a:lstStyle/>
          <a:p>
            <a:pPr algn="l"/>
            <a:r>
              <a:rPr sz="900" b="0" i="1">
                <a:solidFill>
                  <a:srgbClr val="5D7680"/>
                </a:solidFill>
                <a:latin typeface="Open Sans"/>
              </a:rPr>
              <a:t>Perkins (2026)</a:t>
            </a:r>
          </a:p>
        </p:txBody>
      </p:sp>
      <p:sp>
        <p:nvSpPr>
          <p:cNvPr id="5" name="TextBox 4"/>
          <p:cNvSpPr txBox="1"/>
          <p:nvPr/>
        </p:nvSpPr>
        <p:spPr>
          <a:xfrm>
            <a:off x="2194560" y="6537960"/>
            <a:ext cx="2926080" cy="274320"/>
          </a:xfrm>
          <a:prstGeom prst="rect">
            <a:avLst/>
          </a:prstGeom>
          <a:noFill/>
        </p:spPr>
        <p:txBody>
          <a:bodyPr wrap="square">
            <a:spAutoFit/>
          </a:bodyPr>
          <a:lstStyle/>
          <a:p>
            <a:pPr algn="l"/>
            <a:r>
              <a:rPr sz="900" b="0" i="0">
                <a:solidFill>
                  <a:srgbClr val="5D7680"/>
                </a:solidFill>
                <a:latin typeface="Open Sans"/>
              </a:rPr>
              <a:t>Page 20 of 39</a:t>
            </a:r>
          </a:p>
        </p:txBody>
      </p:sp>
      <p:sp>
        <p:nvSpPr>
          <p:cNvPr id="6" name="TextBox 5"/>
          <p:cNvSpPr txBox="1"/>
          <p:nvPr/>
        </p:nvSpPr>
        <p:spPr>
          <a:xfrm>
            <a:off x="5120640" y="6537960"/>
            <a:ext cx="6492240" cy="274320"/>
          </a:xfrm>
          <a:prstGeom prst="rect">
            <a:avLst/>
          </a:prstGeom>
          <a:noFill/>
        </p:spPr>
        <p:txBody>
          <a:bodyPr wrap="square">
            <a:spAutoFit/>
          </a:bodyPr>
          <a:lstStyle/>
          <a:p>
            <a:pPr algn="r"/>
            <a:r>
              <a:rPr sz="900" b="0" i="0">
                <a:solidFill>
                  <a:srgbClr val="5D7680"/>
                </a:solidFill>
                <a:latin typeface="Open Sans"/>
              </a:rPr>
              <a:t>Landforms and Landscapes  |  Stage 4 Geography  |  REVISION deck</a:t>
            </a: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320040"/>
            <a:ext cx="11064240" cy="594360"/>
          </a:xfrm>
          <a:prstGeom prst="rect">
            <a:avLst/>
          </a:prstGeom>
          <a:noFill/>
        </p:spPr>
        <p:txBody>
          <a:bodyPr wrap="square">
            <a:spAutoFit/>
          </a:bodyPr>
          <a:lstStyle/>
          <a:p>
            <a:pPr algn="l"/>
            <a:r>
              <a:rPr sz="2800" b="1" i="0">
                <a:solidFill>
                  <a:srgbClr val="003146"/>
                </a:solidFill>
                <a:latin typeface="Merriweather"/>
              </a:rPr>
              <a:t>Aesthetic and cultural value</a:t>
            </a:r>
          </a:p>
        </p:txBody>
      </p:sp>
      <p:sp>
        <p:nvSpPr>
          <p:cNvPr id="3" name="Rounded Rectangle 2"/>
          <p:cNvSpPr/>
          <p:nvPr/>
        </p:nvSpPr>
        <p:spPr>
          <a:xfrm>
            <a:off x="548640" y="1051560"/>
            <a:ext cx="11064240" cy="777240"/>
          </a:xfrm>
          <a:prstGeom prst="roundRect">
            <a:avLst>
              <a:gd name="adj" fmla="val 12000"/>
            </a:avLst>
          </a:prstGeom>
          <a:solidFill>
            <a:srgbClr val="00314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1005840" y="1051560"/>
            <a:ext cx="10149840" cy="777240"/>
          </a:xfrm>
          <a:prstGeom prst="rect">
            <a:avLst/>
          </a:prstGeom>
          <a:noFill/>
        </p:spPr>
        <p:txBody>
          <a:bodyPr wrap="square" anchor="ctr">
            <a:spAutoFit/>
          </a:bodyPr>
          <a:lstStyle/>
          <a:p>
            <a:pPr algn="ctr"/>
            <a:r>
              <a:rPr sz="1600" b="1" i="0">
                <a:solidFill>
                  <a:srgbClr val="FFFFFF"/>
                </a:solidFill>
                <a:latin typeface="Merriweather"/>
              </a:rPr>
              <a:t>Aesthetic value is the value placed on something due to its beauty. Cultural value is the emphasis placed on something for its importance and place in society.</a:t>
            </a:r>
          </a:p>
        </p:txBody>
      </p:sp>
      <p:sp>
        <p:nvSpPr>
          <p:cNvPr id="5" name="Rounded Rectangle 4"/>
          <p:cNvSpPr/>
          <p:nvPr/>
        </p:nvSpPr>
        <p:spPr>
          <a:xfrm>
            <a:off x="548640" y="2103120"/>
            <a:ext cx="2663190" cy="4114800"/>
          </a:xfrm>
          <a:prstGeom prst="roundRect">
            <a:avLst>
              <a:gd name="adj" fmla="val 5000"/>
            </a:avLst>
          </a:prstGeom>
          <a:solidFill>
            <a:srgbClr val="F7EEE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Oval 5"/>
          <p:cNvSpPr/>
          <p:nvPr/>
        </p:nvSpPr>
        <p:spPr>
          <a:xfrm>
            <a:off x="777240" y="2331720"/>
            <a:ext cx="457200" cy="457200"/>
          </a:xfrm>
          <a:prstGeom prst="ellipse">
            <a:avLst/>
          </a:prstGeom>
          <a:solidFill>
            <a:srgbClr val="FFC20E"/>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600" b="1">
                <a:solidFill>
                  <a:srgbClr val="003146"/>
                </a:solidFill>
              </a:rPr>
              <a:t>1</a:t>
            </a:r>
          </a:p>
        </p:txBody>
      </p:sp>
      <p:sp>
        <p:nvSpPr>
          <p:cNvPr id="7" name="TextBox 6"/>
          <p:cNvSpPr txBox="1"/>
          <p:nvPr/>
        </p:nvSpPr>
        <p:spPr>
          <a:xfrm>
            <a:off x="685800" y="2926079"/>
            <a:ext cx="2388870" cy="457200"/>
          </a:xfrm>
          <a:prstGeom prst="rect">
            <a:avLst/>
          </a:prstGeom>
          <a:noFill/>
        </p:spPr>
        <p:txBody>
          <a:bodyPr wrap="square">
            <a:spAutoFit/>
          </a:bodyPr>
          <a:lstStyle/>
          <a:p>
            <a:pPr algn="l"/>
            <a:r>
              <a:rPr sz="1600" b="1" i="0">
                <a:solidFill>
                  <a:srgbClr val="003146"/>
                </a:solidFill>
                <a:latin typeface="Open Sans"/>
              </a:rPr>
              <a:t>BEAUTY</a:t>
            </a:r>
          </a:p>
        </p:txBody>
      </p:sp>
      <p:sp>
        <p:nvSpPr>
          <p:cNvPr id="8" name="TextBox 7"/>
          <p:cNvSpPr txBox="1"/>
          <p:nvPr/>
        </p:nvSpPr>
        <p:spPr>
          <a:xfrm>
            <a:off x="685800" y="3383279"/>
            <a:ext cx="2388870" cy="2651760"/>
          </a:xfrm>
          <a:prstGeom prst="rect">
            <a:avLst/>
          </a:prstGeom>
          <a:noFill/>
        </p:spPr>
        <p:txBody>
          <a:bodyPr wrap="square">
            <a:spAutoFit/>
          </a:bodyPr>
          <a:lstStyle/>
          <a:p>
            <a:pPr algn="l"/>
            <a:r>
              <a:rPr sz="1400" b="0" i="0">
                <a:solidFill>
                  <a:srgbClr val="33424B"/>
                </a:solidFill>
                <a:latin typeface="Open Sans"/>
              </a:rPr>
              <a:t>Landscapes can be valued simply for how they look - their colours, scale and form.</a:t>
            </a:r>
          </a:p>
        </p:txBody>
      </p:sp>
      <p:sp>
        <p:nvSpPr>
          <p:cNvPr id="9" name="Rounded Rectangle 8"/>
          <p:cNvSpPr/>
          <p:nvPr/>
        </p:nvSpPr>
        <p:spPr>
          <a:xfrm>
            <a:off x="3348990" y="2103120"/>
            <a:ext cx="2663190" cy="4114800"/>
          </a:xfrm>
          <a:prstGeom prst="roundRect">
            <a:avLst>
              <a:gd name="adj" fmla="val 5000"/>
            </a:avLst>
          </a:prstGeom>
          <a:solidFill>
            <a:srgbClr val="F7EEE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Oval 9"/>
          <p:cNvSpPr/>
          <p:nvPr/>
        </p:nvSpPr>
        <p:spPr>
          <a:xfrm>
            <a:off x="3577590" y="2331720"/>
            <a:ext cx="457200" cy="457200"/>
          </a:xfrm>
          <a:prstGeom prst="ellipse">
            <a:avLst/>
          </a:prstGeom>
          <a:solidFill>
            <a:srgbClr val="FFC20E"/>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600" b="1">
                <a:solidFill>
                  <a:srgbClr val="003146"/>
                </a:solidFill>
              </a:rPr>
              <a:t>2</a:t>
            </a:r>
          </a:p>
        </p:txBody>
      </p:sp>
      <p:sp>
        <p:nvSpPr>
          <p:cNvPr id="11" name="TextBox 10"/>
          <p:cNvSpPr txBox="1"/>
          <p:nvPr/>
        </p:nvSpPr>
        <p:spPr>
          <a:xfrm>
            <a:off x="3486150" y="2926079"/>
            <a:ext cx="2388870" cy="457200"/>
          </a:xfrm>
          <a:prstGeom prst="rect">
            <a:avLst/>
          </a:prstGeom>
          <a:noFill/>
        </p:spPr>
        <p:txBody>
          <a:bodyPr wrap="square">
            <a:spAutoFit/>
          </a:bodyPr>
          <a:lstStyle/>
          <a:p>
            <a:pPr algn="l"/>
            <a:r>
              <a:rPr sz="1600" b="1" i="0">
                <a:solidFill>
                  <a:srgbClr val="003146"/>
                </a:solidFill>
                <a:latin typeface="Open Sans"/>
              </a:rPr>
              <a:t>IDENTITY</a:t>
            </a:r>
          </a:p>
        </p:txBody>
      </p:sp>
      <p:sp>
        <p:nvSpPr>
          <p:cNvPr id="12" name="TextBox 11"/>
          <p:cNvSpPr txBox="1"/>
          <p:nvPr/>
        </p:nvSpPr>
        <p:spPr>
          <a:xfrm>
            <a:off x="3486150" y="3383279"/>
            <a:ext cx="2388870" cy="2651760"/>
          </a:xfrm>
          <a:prstGeom prst="rect">
            <a:avLst/>
          </a:prstGeom>
          <a:noFill/>
        </p:spPr>
        <p:txBody>
          <a:bodyPr wrap="square">
            <a:spAutoFit/>
          </a:bodyPr>
          <a:lstStyle/>
          <a:p>
            <a:pPr algn="l"/>
            <a:r>
              <a:rPr sz="1400" b="0" i="0">
                <a:solidFill>
                  <a:srgbClr val="33424B"/>
                </a:solidFill>
                <a:latin typeface="Open Sans"/>
              </a:rPr>
              <a:t>Some landscapes become part of a group's sense of who they are.</a:t>
            </a:r>
          </a:p>
        </p:txBody>
      </p:sp>
      <p:sp>
        <p:nvSpPr>
          <p:cNvPr id="13" name="Rounded Rectangle 12"/>
          <p:cNvSpPr/>
          <p:nvPr/>
        </p:nvSpPr>
        <p:spPr>
          <a:xfrm>
            <a:off x="6149340" y="2103120"/>
            <a:ext cx="2663190" cy="4114800"/>
          </a:xfrm>
          <a:prstGeom prst="roundRect">
            <a:avLst>
              <a:gd name="adj" fmla="val 5000"/>
            </a:avLst>
          </a:prstGeom>
          <a:solidFill>
            <a:srgbClr val="F7EEE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377940" y="2331720"/>
            <a:ext cx="457200" cy="457200"/>
          </a:xfrm>
          <a:prstGeom prst="ellipse">
            <a:avLst/>
          </a:prstGeom>
          <a:solidFill>
            <a:srgbClr val="FFC20E"/>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600" b="1">
                <a:solidFill>
                  <a:srgbClr val="003146"/>
                </a:solidFill>
              </a:rPr>
              <a:t>3</a:t>
            </a:r>
          </a:p>
        </p:txBody>
      </p:sp>
      <p:sp>
        <p:nvSpPr>
          <p:cNvPr id="15" name="TextBox 14"/>
          <p:cNvSpPr txBox="1"/>
          <p:nvPr/>
        </p:nvSpPr>
        <p:spPr>
          <a:xfrm>
            <a:off x="6286500" y="2926079"/>
            <a:ext cx="2388870" cy="457200"/>
          </a:xfrm>
          <a:prstGeom prst="rect">
            <a:avLst/>
          </a:prstGeom>
          <a:noFill/>
        </p:spPr>
        <p:txBody>
          <a:bodyPr wrap="square">
            <a:spAutoFit/>
          </a:bodyPr>
          <a:lstStyle/>
          <a:p>
            <a:pPr algn="l"/>
            <a:r>
              <a:rPr sz="1600" b="1" i="0">
                <a:solidFill>
                  <a:srgbClr val="003146"/>
                </a:solidFill>
                <a:latin typeface="Open Sans"/>
              </a:rPr>
              <a:t>SPIRITUAL MEANING</a:t>
            </a:r>
          </a:p>
        </p:txBody>
      </p:sp>
      <p:sp>
        <p:nvSpPr>
          <p:cNvPr id="16" name="TextBox 15"/>
          <p:cNvSpPr txBox="1"/>
          <p:nvPr/>
        </p:nvSpPr>
        <p:spPr>
          <a:xfrm>
            <a:off x="6286500" y="3383279"/>
            <a:ext cx="2388870" cy="2651760"/>
          </a:xfrm>
          <a:prstGeom prst="rect">
            <a:avLst/>
          </a:prstGeom>
          <a:noFill/>
        </p:spPr>
        <p:txBody>
          <a:bodyPr wrap="square">
            <a:spAutoFit/>
          </a:bodyPr>
          <a:lstStyle/>
          <a:p>
            <a:pPr algn="l"/>
            <a:r>
              <a:rPr sz="1400" b="0" i="0">
                <a:solidFill>
                  <a:srgbClr val="33424B"/>
                </a:solidFill>
                <a:latin typeface="Open Sans"/>
              </a:rPr>
              <a:t>Many landscapes hold deep spiritual or cultural significance for the people connected to them.</a:t>
            </a:r>
          </a:p>
        </p:txBody>
      </p:sp>
      <p:sp>
        <p:nvSpPr>
          <p:cNvPr id="17" name="Rounded Rectangle 16"/>
          <p:cNvSpPr/>
          <p:nvPr/>
        </p:nvSpPr>
        <p:spPr>
          <a:xfrm>
            <a:off x="8949690" y="2103120"/>
            <a:ext cx="2663190" cy="4114800"/>
          </a:xfrm>
          <a:prstGeom prst="roundRect">
            <a:avLst>
              <a:gd name="adj" fmla="val 5000"/>
            </a:avLst>
          </a:prstGeom>
          <a:solidFill>
            <a:srgbClr val="F7EEE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Oval 17"/>
          <p:cNvSpPr/>
          <p:nvPr/>
        </p:nvSpPr>
        <p:spPr>
          <a:xfrm>
            <a:off x="9178290" y="2331720"/>
            <a:ext cx="457200" cy="457200"/>
          </a:xfrm>
          <a:prstGeom prst="ellipse">
            <a:avLst/>
          </a:prstGeom>
          <a:solidFill>
            <a:srgbClr val="FFC20E"/>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600" b="1">
                <a:solidFill>
                  <a:srgbClr val="003146"/>
                </a:solidFill>
              </a:rPr>
              <a:t>4</a:t>
            </a:r>
          </a:p>
        </p:txBody>
      </p:sp>
      <p:sp>
        <p:nvSpPr>
          <p:cNvPr id="19" name="TextBox 18"/>
          <p:cNvSpPr txBox="1"/>
          <p:nvPr/>
        </p:nvSpPr>
        <p:spPr>
          <a:xfrm>
            <a:off x="9086850" y="2926079"/>
            <a:ext cx="2388870" cy="457200"/>
          </a:xfrm>
          <a:prstGeom prst="rect">
            <a:avLst/>
          </a:prstGeom>
          <a:noFill/>
        </p:spPr>
        <p:txBody>
          <a:bodyPr wrap="square">
            <a:spAutoFit/>
          </a:bodyPr>
          <a:lstStyle/>
          <a:p>
            <a:pPr algn="l"/>
            <a:r>
              <a:rPr sz="1600" b="1" i="0">
                <a:solidFill>
                  <a:srgbClr val="003146"/>
                </a:solidFill>
                <a:latin typeface="Open Sans"/>
              </a:rPr>
              <a:t>HERITAGE LISTING</a:t>
            </a:r>
          </a:p>
        </p:txBody>
      </p:sp>
      <p:sp>
        <p:nvSpPr>
          <p:cNvPr id="20" name="TextBox 19"/>
          <p:cNvSpPr txBox="1"/>
          <p:nvPr/>
        </p:nvSpPr>
        <p:spPr>
          <a:xfrm>
            <a:off x="9086850" y="3383279"/>
            <a:ext cx="2388870" cy="2651760"/>
          </a:xfrm>
          <a:prstGeom prst="rect">
            <a:avLst/>
          </a:prstGeom>
          <a:noFill/>
        </p:spPr>
        <p:txBody>
          <a:bodyPr wrap="square">
            <a:spAutoFit/>
          </a:bodyPr>
          <a:lstStyle/>
          <a:p>
            <a:pPr algn="l"/>
            <a:r>
              <a:rPr sz="1400" b="0" i="0">
                <a:solidFill>
                  <a:srgbClr val="33424B"/>
                </a:solidFill>
                <a:latin typeface="Open Sans"/>
              </a:rPr>
              <a:t>The most significant sites can be World Heritage listed to protect their value for the future.</a:t>
            </a:r>
          </a:p>
        </p:txBody>
      </p:sp>
      <p:sp>
        <p:nvSpPr>
          <p:cNvPr id="21" name="TextBox 20"/>
          <p:cNvSpPr txBox="1"/>
          <p:nvPr/>
        </p:nvSpPr>
        <p:spPr>
          <a:xfrm>
            <a:off x="548640" y="6537960"/>
            <a:ext cx="1645920" cy="274320"/>
          </a:xfrm>
          <a:prstGeom prst="rect">
            <a:avLst/>
          </a:prstGeom>
          <a:noFill/>
        </p:spPr>
        <p:txBody>
          <a:bodyPr wrap="square">
            <a:spAutoFit/>
          </a:bodyPr>
          <a:lstStyle/>
          <a:p>
            <a:pPr algn="l"/>
            <a:r>
              <a:rPr sz="900" b="0" i="1">
                <a:solidFill>
                  <a:srgbClr val="5D7680"/>
                </a:solidFill>
                <a:latin typeface="Open Sans"/>
              </a:rPr>
              <a:t>Perkins (2026)</a:t>
            </a:r>
          </a:p>
        </p:txBody>
      </p:sp>
      <p:sp>
        <p:nvSpPr>
          <p:cNvPr id="22" name="TextBox 21"/>
          <p:cNvSpPr txBox="1"/>
          <p:nvPr/>
        </p:nvSpPr>
        <p:spPr>
          <a:xfrm>
            <a:off x="2194560" y="6537960"/>
            <a:ext cx="2926080" cy="274320"/>
          </a:xfrm>
          <a:prstGeom prst="rect">
            <a:avLst/>
          </a:prstGeom>
          <a:noFill/>
        </p:spPr>
        <p:txBody>
          <a:bodyPr wrap="square">
            <a:spAutoFit/>
          </a:bodyPr>
          <a:lstStyle/>
          <a:p>
            <a:pPr algn="l"/>
            <a:r>
              <a:rPr sz="900" b="0" i="0">
                <a:solidFill>
                  <a:srgbClr val="5D7680"/>
                </a:solidFill>
                <a:latin typeface="Open Sans"/>
              </a:rPr>
              <a:t>Page 21 of 39</a:t>
            </a:r>
          </a:p>
        </p:txBody>
      </p:sp>
      <p:sp>
        <p:nvSpPr>
          <p:cNvPr id="23" name="TextBox 22"/>
          <p:cNvSpPr txBox="1"/>
          <p:nvPr/>
        </p:nvSpPr>
        <p:spPr>
          <a:xfrm>
            <a:off x="5120640" y="6537960"/>
            <a:ext cx="6492240" cy="274320"/>
          </a:xfrm>
          <a:prstGeom prst="rect">
            <a:avLst/>
          </a:prstGeom>
          <a:noFill/>
        </p:spPr>
        <p:txBody>
          <a:bodyPr wrap="square">
            <a:spAutoFit/>
          </a:bodyPr>
          <a:lstStyle/>
          <a:p>
            <a:pPr algn="r"/>
            <a:r>
              <a:rPr sz="900" b="0" i="0">
                <a:solidFill>
                  <a:srgbClr val="5D7680"/>
                </a:solidFill>
                <a:latin typeface="Open Sans"/>
              </a:rPr>
              <a:t>Landforms and Landscapes  |  Stage 4 Geography  |  REVISION deck</a:t>
            </a:r>
          </a:p>
        </p:txBody>
      </p:sp>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182880"/>
          </a:xfrm>
          <a:prstGeom prst="rect">
            <a:avLst/>
          </a:prstGeom>
          <a:solidFill>
            <a:srgbClr val="6AA69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365760" y="365760"/>
            <a:ext cx="11430000" cy="1188720"/>
          </a:xfrm>
          <a:prstGeom prst="rect">
            <a:avLst/>
          </a:prstGeom>
          <a:noFill/>
        </p:spPr>
        <p:txBody>
          <a:bodyPr wrap="square">
            <a:spAutoFit/>
          </a:bodyPr>
          <a:lstStyle/>
          <a:p>
            <a:pPr>
              <a:defRPr sz="2800" b="1">
                <a:solidFill>
                  <a:srgbClr val="003146"/>
                </a:solidFill>
              </a:defRPr>
            </a:pPr>
            <a:r>
              <a:t>Aesthetic value: landscapes valued for their beauty</a:t>
            </a:r>
          </a:p>
        </p:txBody>
      </p:sp>
      <p:sp>
        <p:nvSpPr>
          <p:cNvPr id="4" name="TextBox 3"/>
          <p:cNvSpPr txBox="1"/>
          <p:nvPr/>
        </p:nvSpPr>
        <p:spPr>
          <a:xfrm>
            <a:off x="548640" y="2798063"/>
            <a:ext cx="6126480" cy="4937760"/>
          </a:xfrm>
          <a:prstGeom prst="rect">
            <a:avLst/>
          </a:prstGeom>
          <a:noFill/>
        </p:spPr>
        <p:txBody>
          <a:bodyPr wrap="square">
            <a:spAutoFit/>
          </a:bodyPr>
          <a:lstStyle/>
          <a:p>
            <a:pPr algn="l">
              <a:spcAft>
                <a:spcPts val="1620"/>
              </a:spcAft>
              <a:defRPr sz="1800" b="1">
                <a:solidFill>
                  <a:srgbClr val="222630"/>
                </a:solidFill>
              </a:defRPr>
            </a:pPr>
            <a:r>
              <a:t>•  This canyon is valued purely for its beauty - the colour of the rock, the curve of the river and the scale of the landscape draw visitors from around the world.</a:t>
            </a:r>
          </a:p>
          <a:p>
            <a:pPr algn="l">
              <a:spcAft>
                <a:spcPts val="0"/>
              </a:spcAft>
              <a:defRPr sz="1800" b="1">
                <a:solidFill>
                  <a:srgbClr val="222630"/>
                </a:solidFill>
              </a:defRPr>
            </a:pPr>
            <a:r>
              <a:t>•  Aesthetic value like this can also translate into economic value, through tourism.</a:t>
            </a:r>
          </a:p>
        </p:txBody>
      </p:sp>
      <p:pic>
        <p:nvPicPr>
          <p:cNvPr id="5" name="Picture 4" descr="aesthetic_canyon.jpg"/>
          <p:cNvPicPr>
            <a:picLocks noChangeAspect="1"/>
          </p:cNvPicPr>
          <p:nvPr/>
        </p:nvPicPr>
        <p:blipFill>
          <a:blip r:embed="rId2"/>
          <a:srcRect l="9439" r="9439"/>
          <a:stretch>
            <a:fillRect/>
          </a:stretch>
        </p:blipFill>
        <p:spPr>
          <a:xfrm>
            <a:off x="6949440" y="1554480"/>
            <a:ext cx="4846320" cy="4480560"/>
          </a:xfrm>
          <a:prstGeom prst="rect">
            <a:avLst/>
          </a:prstGeom>
        </p:spPr>
      </p:pic>
      <p:sp>
        <p:nvSpPr>
          <p:cNvPr id="6" name="TextBox 5"/>
          <p:cNvSpPr txBox="1"/>
          <p:nvPr/>
        </p:nvSpPr>
        <p:spPr>
          <a:xfrm>
            <a:off x="6949440" y="6080760"/>
            <a:ext cx="4846320" cy="274320"/>
          </a:xfrm>
          <a:prstGeom prst="rect">
            <a:avLst/>
          </a:prstGeom>
          <a:noFill/>
        </p:spPr>
        <p:txBody>
          <a:bodyPr wrap="square">
            <a:spAutoFit/>
          </a:bodyPr>
          <a:lstStyle/>
          <a:p>
            <a:pPr algn="l"/>
            <a:r>
              <a:rPr sz="900" b="0" i="1">
                <a:solidFill>
                  <a:srgbClr val="5D7680"/>
                </a:solidFill>
                <a:latin typeface="Open Sans"/>
              </a:rPr>
              <a:t>Image: original resource, source listed in references.</a:t>
            </a:r>
          </a:p>
        </p:txBody>
      </p:sp>
      <p:sp>
        <p:nvSpPr>
          <p:cNvPr id="7" name="TextBox 6"/>
          <p:cNvSpPr txBox="1"/>
          <p:nvPr/>
        </p:nvSpPr>
        <p:spPr>
          <a:xfrm>
            <a:off x="548640" y="6537960"/>
            <a:ext cx="1645920" cy="274320"/>
          </a:xfrm>
          <a:prstGeom prst="rect">
            <a:avLst/>
          </a:prstGeom>
          <a:noFill/>
        </p:spPr>
        <p:txBody>
          <a:bodyPr wrap="square">
            <a:spAutoFit/>
          </a:bodyPr>
          <a:lstStyle/>
          <a:p>
            <a:pPr algn="l"/>
            <a:r>
              <a:rPr sz="900" b="0" i="1">
                <a:solidFill>
                  <a:srgbClr val="5D7680"/>
                </a:solidFill>
                <a:latin typeface="Open Sans"/>
              </a:rPr>
              <a:t>Perkins (2026)</a:t>
            </a:r>
          </a:p>
        </p:txBody>
      </p:sp>
      <p:sp>
        <p:nvSpPr>
          <p:cNvPr id="8" name="TextBox 7"/>
          <p:cNvSpPr txBox="1"/>
          <p:nvPr/>
        </p:nvSpPr>
        <p:spPr>
          <a:xfrm>
            <a:off x="2194560" y="6537960"/>
            <a:ext cx="2926080" cy="274320"/>
          </a:xfrm>
          <a:prstGeom prst="rect">
            <a:avLst/>
          </a:prstGeom>
          <a:noFill/>
        </p:spPr>
        <p:txBody>
          <a:bodyPr wrap="square">
            <a:spAutoFit/>
          </a:bodyPr>
          <a:lstStyle/>
          <a:p>
            <a:pPr algn="l"/>
            <a:r>
              <a:rPr sz="900" b="0" i="0">
                <a:solidFill>
                  <a:srgbClr val="5D7680"/>
                </a:solidFill>
                <a:latin typeface="Open Sans"/>
              </a:rPr>
              <a:t>Page 22 of 39</a:t>
            </a:r>
          </a:p>
        </p:txBody>
      </p:sp>
      <p:sp>
        <p:nvSpPr>
          <p:cNvPr id="9" name="TextBox 8"/>
          <p:cNvSpPr txBox="1"/>
          <p:nvPr/>
        </p:nvSpPr>
        <p:spPr>
          <a:xfrm>
            <a:off x="5120640" y="6537960"/>
            <a:ext cx="6492240" cy="274320"/>
          </a:xfrm>
          <a:prstGeom prst="rect">
            <a:avLst/>
          </a:prstGeom>
          <a:noFill/>
        </p:spPr>
        <p:txBody>
          <a:bodyPr wrap="square">
            <a:spAutoFit/>
          </a:bodyPr>
          <a:lstStyle/>
          <a:p>
            <a:pPr algn="r"/>
            <a:r>
              <a:rPr sz="900" b="0" i="0">
                <a:solidFill>
                  <a:srgbClr val="5D7680"/>
                </a:solidFill>
                <a:latin typeface="Open Sans"/>
              </a:rPr>
              <a:t>Landforms and Landscapes  |  Stage 4 Geography  |  REVISION deck</a:t>
            </a:r>
          </a:p>
        </p:txBody>
      </p:sp>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182880"/>
          </a:xfrm>
          <a:prstGeom prst="rect">
            <a:avLst/>
          </a:prstGeom>
          <a:solidFill>
            <a:srgbClr val="6AA69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365760" y="365760"/>
            <a:ext cx="11430000" cy="1188720"/>
          </a:xfrm>
          <a:prstGeom prst="rect">
            <a:avLst/>
          </a:prstGeom>
          <a:noFill/>
        </p:spPr>
        <p:txBody>
          <a:bodyPr wrap="square">
            <a:spAutoFit/>
          </a:bodyPr>
          <a:lstStyle/>
          <a:p>
            <a:pPr>
              <a:defRPr sz="2800" b="1">
                <a:solidFill>
                  <a:srgbClr val="003146"/>
                </a:solidFill>
              </a:defRPr>
            </a:pPr>
            <a:r>
              <a:t>Hawaii: a landscape built by a volcanic hotspot</a:t>
            </a:r>
          </a:p>
        </p:txBody>
      </p:sp>
      <p:pic>
        <p:nvPicPr>
          <p:cNvPr id="4" name="Picture 3" descr="hawaii_hotspot_diagram.jpg"/>
          <p:cNvPicPr>
            <a:picLocks noChangeAspect="1"/>
          </p:cNvPicPr>
          <p:nvPr/>
        </p:nvPicPr>
        <p:blipFill>
          <a:blip r:embed="rId2"/>
          <a:stretch>
            <a:fillRect/>
          </a:stretch>
        </p:blipFill>
        <p:spPr>
          <a:xfrm>
            <a:off x="1889607" y="1371600"/>
            <a:ext cx="8412480" cy="4572000"/>
          </a:xfrm>
          <a:prstGeom prst="rect">
            <a:avLst/>
          </a:prstGeom>
        </p:spPr>
      </p:pic>
      <p:sp>
        <p:nvSpPr>
          <p:cNvPr id="5" name="TextBox 4"/>
          <p:cNvSpPr txBox="1"/>
          <p:nvPr/>
        </p:nvSpPr>
        <p:spPr>
          <a:xfrm>
            <a:off x="548640" y="5989320"/>
            <a:ext cx="11064240" cy="274320"/>
          </a:xfrm>
          <a:prstGeom prst="rect">
            <a:avLst/>
          </a:prstGeom>
          <a:noFill/>
        </p:spPr>
        <p:txBody>
          <a:bodyPr wrap="square">
            <a:spAutoFit/>
          </a:bodyPr>
          <a:lstStyle/>
          <a:p>
            <a:pPr algn="ctr"/>
            <a:r>
              <a:rPr sz="1200" b="0" i="1">
                <a:solidFill>
                  <a:srgbClr val="33424B"/>
                </a:solidFill>
                <a:latin typeface="Open Sans"/>
              </a:rPr>
              <a:t>The Hawaiian Islands formed one at a time as the Pacific Plate moved over a fixed volcanic hotspot.</a:t>
            </a:r>
          </a:p>
        </p:txBody>
      </p:sp>
      <p:sp>
        <p:nvSpPr>
          <p:cNvPr id="6" name="TextBox 5"/>
          <p:cNvSpPr txBox="1"/>
          <p:nvPr/>
        </p:nvSpPr>
        <p:spPr>
          <a:xfrm>
            <a:off x="548640" y="6263640"/>
            <a:ext cx="11064240" cy="228600"/>
          </a:xfrm>
          <a:prstGeom prst="rect">
            <a:avLst/>
          </a:prstGeom>
          <a:noFill/>
        </p:spPr>
        <p:txBody>
          <a:bodyPr wrap="square">
            <a:spAutoFit/>
          </a:bodyPr>
          <a:lstStyle/>
          <a:p>
            <a:pPr algn="ctr"/>
            <a:r>
              <a:rPr sz="900" b="0" i="1">
                <a:solidFill>
                  <a:srgbClr val="5D7680"/>
                </a:solidFill>
                <a:latin typeface="Open Sans"/>
              </a:rPr>
              <a:t>Diagram: original resource, source listed in references.</a:t>
            </a:r>
          </a:p>
        </p:txBody>
      </p:sp>
      <p:sp>
        <p:nvSpPr>
          <p:cNvPr id="7" name="TextBox 6"/>
          <p:cNvSpPr txBox="1"/>
          <p:nvPr/>
        </p:nvSpPr>
        <p:spPr>
          <a:xfrm>
            <a:off x="548640" y="6537960"/>
            <a:ext cx="1645920" cy="274320"/>
          </a:xfrm>
          <a:prstGeom prst="rect">
            <a:avLst/>
          </a:prstGeom>
          <a:noFill/>
        </p:spPr>
        <p:txBody>
          <a:bodyPr wrap="square">
            <a:spAutoFit/>
          </a:bodyPr>
          <a:lstStyle/>
          <a:p>
            <a:pPr algn="l"/>
            <a:r>
              <a:rPr sz="900" b="0" i="1">
                <a:solidFill>
                  <a:srgbClr val="5D7680"/>
                </a:solidFill>
                <a:latin typeface="Open Sans"/>
              </a:rPr>
              <a:t>Perkins (2026)</a:t>
            </a:r>
          </a:p>
        </p:txBody>
      </p:sp>
      <p:sp>
        <p:nvSpPr>
          <p:cNvPr id="8" name="TextBox 7"/>
          <p:cNvSpPr txBox="1"/>
          <p:nvPr/>
        </p:nvSpPr>
        <p:spPr>
          <a:xfrm>
            <a:off x="2194560" y="6537960"/>
            <a:ext cx="2926080" cy="274320"/>
          </a:xfrm>
          <a:prstGeom prst="rect">
            <a:avLst/>
          </a:prstGeom>
          <a:noFill/>
        </p:spPr>
        <p:txBody>
          <a:bodyPr wrap="square">
            <a:spAutoFit/>
          </a:bodyPr>
          <a:lstStyle/>
          <a:p>
            <a:pPr algn="l"/>
            <a:r>
              <a:rPr sz="900" b="0" i="0">
                <a:solidFill>
                  <a:srgbClr val="5D7680"/>
                </a:solidFill>
                <a:latin typeface="Open Sans"/>
              </a:rPr>
              <a:t>Page 23 of 39</a:t>
            </a:r>
          </a:p>
        </p:txBody>
      </p:sp>
      <p:sp>
        <p:nvSpPr>
          <p:cNvPr id="9" name="TextBox 8"/>
          <p:cNvSpPr txBox="1"/>
          <p:nvPr/>
        </p:nvSpPr>
        <p:spPr>
          <a:xfrm>
            <a:off x="5120640" y="6537960"/>
            <a:ext cx="6492240" cy="274320"/>
          </a:xfrm>
          <a:prstGeom prst="rect">
            <a:avLst/>
          </a:prstGeom>
          <a:noFill/>
        </p:spPr>
        <p:txBody>
          <a:bodyPr wrap="square">
            <a:spAutoFit/>
          </a:bodyPr>
          <a:lstStyle/>
          <a:p>
            <a:pPr algn="r"/>
            <a:r>
              <a:rPr sz="900" b="0" i="0">
                <a:solidFill>
                  <a:srgbClr val="5D7680"/>
                </a:solidFill>
                <a:latin typeface="Open Sans"/>
              </a:rPr>
              <a:t>Landforms and Landscapes  |  Stage 4 Geography  |  REVISION deck</a:t>
            </a:r>
          </a:p>
        </p:txBody>
      </p:sp>
    </p:spTree>
  </p:cSld>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p:cSld>
    <p:bg>
      <p:bgPr>
        <a:solidFill>
          <a:srgbClr val="FDF3DC"/>
        </a:solidFill>
        <a:effectLst/>
      </p:bgPr>
    </p:bg>
    <p:spTree>
      <p:nvGrpSpPr>
        <p:cNvPr id="1" name=""/>
        <p:cNvGrpSpPr/>
        <p:nvPr/>
      </p:nvGrpSpPr>
      <p:grpSpPr/>
      <p:sp>
        <p:nvSpPr>
          <p:cNvPr id="2" name="Rectangle 1"/>
          <p:cNvSpPr/>
          <p:nvPr/>
        </p:nvSpPr>
        <p:spPr>
          <a:xfrm>
            <a:off x="0" y="0"/>
            <a:ext cx="12191695" cy="182880"/>
          </a:xfrm>
          <a:prstGeom prst="rect">
            <a:avLst/>
          </a:prstGeom>
          <a:solidFill>
            <a:srgbClr val="FFC20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365760" y="365760"/>
            <a:ext cx="11430000" cy="1188720"/>
          </a:xfrm>
          <a:prstGeom prst="rect">
            <a:avLst/>
          </a:prstGeom>
          <a:noFill/>
        </p:spPr>
        <p:txBody>
          <a:bodyPr wrap="square">
            <a:spAutoFit/>
          </a:bodyPr>
          <a:lstStyle/>
          <a:p>
            <a:pPr>
              <a:defRPr sz="2600" b="1">
                <a:solidFill>
                  <a:srgbClr val="003146"/>
                </a:solidFill>
              </a:defRPr>
            </a:pPr>
            <a:r>
              <a:t>Find out more: Hawaii's volcanic islands</a:t>
            </a:r>
          </a:p>
        </p:txBody>
      </p:sp>
      <p:sp>
        <p:nvSpPr>
          <p:cNvPr id="4" name="TextBox 3"/>
          <p:cNvSpPr txBox="1"/>
          <p:nvPr/>
        </p:nvSpPr>
        <p:spPr>
          <a:xfrm>
            <a:off x="548640" y="1463040"/>
            <a:ext cx="10972800" cy="457200"/>
          </a:xfrm>
          <a:prstGeom prst="rect">
            <a:avLst/>
          </a:prstGeom>
          <a:noFill/>
        </p:spPr>
        <p:txBody>
          <a:bodyPr wrap="none">
            <a:spAutoFit/>
          </a:bodyPr>
          <a:lstStyle/>
          <a:p>
            <a:pPr>
              <a:defRPr sz="2000" b="1">
                <a:solidFill>
                  <a:srgbClr val="003146"/>
                </a:solidFill>
              </a:defRPr>
            </a:pPr>
            <a:r>
              <a:t>Try these searches:</a:t>
            </a:r>
          </a:p>
        </p:txBody>
      </p:sp>
      <p:sp>
        <p:nvSpPr>
          <p:cNvPr id="5" name="TextBox 4"/>
          <p:cNvSpPr txBox="1"/>
          <p:nvPr/>
        </p:nvSpPr>
        <p:spPr>
          <a:xfrm>
            <a:off x="731520" y="2584094"/>
            <a:ext cx="11155680" cy="4937760"/>
          </a:xfrm>
          <a:prstGeom prst="rect">
            <a:avLst/>
          </a:prstGeom>
          <a:noFill/>
        </p:spPr>
        <p:txBody>
          <a:bodyPr wrap="square">
            <a:spAutoFit/>
          </a:bodyPr>
          <a:lstStyle/>
          <a:p>
            <a:pPr algn="l">
              <a:spcAft>
                <a:spcPts val="1620"/>
              </a:spcAft>
              <a:defRPr sz="1800" b="1">
                <a:solidFill>
                  <a:srgbClr val="222630"/>
                </a:solidFill>
              </a:defRPr>
            </a:pPr>
            <a:r>
              <a:t>•  "Hawaii volcanic hotspot formation video"</a:t>
            </a:r>
          </a:p>
          <a:p>
            <a:pPr algn="l">
              <a:spcAft>
                <a:spcPts val="0"/>
              </a:spcAft>
              <a:defRPr sz="1800" b="1">
                <a:solidFill>
                  <a:srgbClr val="222630"/>
                </a:solidFill>
              </a:defRPr>
            </a:pPr>
            <a:r>
              <a:t>•  "how the Hawaiian islands were formed"</a:t>
            </a:r>
          </a:p>
        </p:txBody>
      </p:sp>
      <p:sp>
        <p:nvSpPr>
          <p:cNvPr id="6" name="TextBox 5"/>
          <p:cNvSpPr txBox="1"/>
          <p:nvPr/>
        </p:nvSpPr>
        <p:spPr>
          <a:xfrm>
            <a:off x="548640" y="4480560"/>
            <a:ext cx="10972800" cy="457200"/>
          </a:xfrm>
          <a:prstGeom prst="rect">
            <a:avLst/>
          </a:prstGeom>
          <a:noFill/>
        </p:spPr>
        <p:txBody>
          <a:bodyPr wrap="none">
            <a:spAutoFit/>
          </a:bodyPr>
          <a:lstStyle/>
          <a:p>
            <a:pPr>
              <a:defRPr sz="1800" b="1">
                <a:solidFill>
                  <a:srgbClr val="003146"/>
                </a:solidFill>
              </a:defRPr>
            </a:pPr>
            <a:r>
              <a:t>Check these sites:</a:t>
            </a:r>
          </a:p>
        </p:txBody>
      </p:sp>
      <p:sp>
        <p:nvSpPr>
          <p:cNvPr id="7" name="TextBox 6"/>
          <p:cNvSpPr txBox="1"/>
          <p:nvPr/>
        </p:nvSpPr>
        <p:spPr>
          <a:xfrm>
            <a:off x="731520" y="4983480"/>
            <a:ext cx="11155680" cy="4937760"/>
          </a:xfrm>
          <a:prstGeom prst="rect">
            <a:avLst/>
          </a:prstGeom>
          <a:noFill/>
        </p:spPr>
        <p:txBody>
          <a:bodyPr wrap="square">
            <a:spAutoFit/>
          </a:bodyPr>
          <a:lstStyle/>
          <a:p>
            <a:pPr algn="l">
              <a:spcAft>
                <a:spcPts val="2111"/>
              </a:spcAft>
              <a:defRPr sz="1600" b="1">
                <a:solidFill>
                  <a:srgbClr val="222630"/>
                </a:solidFill>
              </a:defRPr>
            </a:pPr>
            <a:r>
              <a:t>•  abc.net.au/education</a:t>
            </a:r>
          </a:p>
          <a:p>
            <a:pPr algn="l">
              <a:spcAft>
                <a:spcPts val="2111"/>
              </a:spcAft>
              <a:defRPr sz="1600" b="1">
                <a:solidFill>
                  <a:srgbClr val="222630"/>
                </a:solidFill>
              </a:defRPr>
            </a:pPr>
            <a:r>
              <a:t>•  geoscience.gov.au</a:t>
            </a:r>
          </a:p>
          <a:p>
            <a:pPr algn="l">
              <a:spcAft>
                <a:spcPts val="0"/>
              </a:spcAft>
              <a:defRPr sz="1600" b="1">
                <a:solidFill>
                  <a:srgbClr val="222630"/>
                </a:solidFill>
              </a:defRPr>
            </a:pPr>
            <a:r>
              <a:t>•  usgs.gov</a:t>
            </a:r>
          </a:p>
        </p:txBody>
      </p:sp>
      <p:sp>
        <p:nvSpPr>
          <p:cNvPr id="8" name="TextBox 7"/>
          <p:cNvSpPr txBox="1"/>
          <p:nvPr/>
        </p:nvSpPr>
        <p:spPr>
          <a:xfrm>
            <a:off x="274320" y="6492240"/>
            <a:ext cx="8229600" cy="320040"/>
          </a:xfrm>
          <a:prstGeom prst="rect">
            <a:avLst/>
          </a:prstGeom>
          <a:noFill/>
        </p:spPr>
        <p:txBody>
          <a:bodyPr wrap="none">
            <a:spAutoFit/>
          </a:bodyPr>
          <a:lstStyle/>
          <a:p>
            <a:pPr>
              <a:defRPr sz="1000" i="1">
                <a:solidFill>
                  <a:srgbClr val="707070"/>
                </a:solidFill>
              </a:defRPr>
            </a:pPr>
            <a:r>
              <a:t>No single verified classroom video could be confirmed for this topic - search and preview before showing in class.</a:t>
            </a:r>
          </a:p>
        </p:txBody>
      </p:sp>
    </p:spTree>
  </p:cSld>
  <p:clrMapOvr>
    <a:masterClrMapping/>
  </p:clrMapOvr>
</p:sld>
</file>

<file path=ppt/slides/slide2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365760" y="365760"/>
            <a:ext cx="11430000" cy="1188720"/>
          </a:xfrm>
          <a:prstGeom prst="rect">
            <a:avLst/>
          </a:prstGeom>
          <a:noFill/>
        </p:spPr>
        <p:txBody>
          <a:bodyPr wrap="square">
            <a:spAutoFit/>
          </a:bodyPr>
          <a:lstStyle/>
          <a:p>
            <a:pPr>
              <a:defRPr sz="2600" b="1">
                <a:solidFill>
                  <a:srgbClr val="003146"/>
                </a:solidFill>
              </a:defRPr>
            </a:pPr>
            <a:r>
              <a:t>Over to you</a:t>
            </a:r>
          </a:p>
        </p:txBody>
      </p:sp>
      <p:sp>
        <p:nvSpPr>
          <p:cNvPr id="3" name="Rounded Rectangle 2"/>
          <p:cNvSpPr/>
          <p:nvPr/>
        </p:nvSpPr>
        <p:spPr>
          <a:xfrm>
            <a:off x="548640" y="1051560"/>
            <a:ext cx="11064240" cy="1188720"/>
          </a:xfrm>
          <a:prstGeom prst="roundRect">
            <a:avLst>
              <a:gd name="adj" fmla="val 8000"/>
            </a:avLst>
          </a:prstGeom>
          <a:solidFill>
            <a:srgbClr val="F7EEE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868680" y="1188720"/>
            <a:ext cx="10424160" cy="914400"/>
          </a:xfrm>
          <a:prstGeom prst="rect">
            <a:avLst/>
          </a:prstGeom>
          <a:noFill/>
        </p:spPr>
        <p:txBody>
          <a:bodyPr wrap="square">
            <a:spAutoFit/>
          </a:bodyPr>
          <a:lstStyle/>
          <a:p>
            <a:pPr algn="l"/>
            <a:r>
              <a:rPr sz="1700" b="0" i="0">
                <a:solidFill>
                  <a:srgbClr val="33424B"/>
                </a:solidFill>
                <a:latin typeface="Open Sans"/>
              </a:rPr>
              <a:t>List the locations in Australia that have aesthetic value to you.</a:t>
            </a:r>
          </a:p>
        </p:txBody>
      </p:sp>
      <p:pic>
        <p:nvPicPr>
          <p:cNvPr id="5" name="Picture 4" descr="uluru_small.jpg"/>
          <p:cNvPicPr>
            <a:picLocks noChangeAspect="1"/>
          </p:cNvPicPr>
          <p:nvPr/>
        </p:nvPicPr>
        <p:blipFill>
          <a:blip r:embed="rId2"/>
          <a:srcRect t="35321" b="35321"/>
          <a:stretch>
            <a:fillRect/>
          </a:stretch>
        </p:blipFill>
        <p:spPr>
          <a:xfrm>
            <a:off x="2666847" y="2468880"/>
            <a:ext cx="6858000" cy="3566160"/>
          </a:xfrm>
          <a:prstGeom prst="rect">
            <a:avLst/>
          </a:prstGeom>
        </p:spPr>
      </p:pic>
      <p:sp>
        <p:nvSpPr>
          <p:cNvPr id="6" name="TextBox 5"/>
          <p:cNvSpPr txBox="1"/>
          <p:nvPr/>
        </p:nvSpPr>
        <p:spPr>
          <a:xfrm>
            <a:off x="2666847" y="6080759"/>
            <a:ext cx="6858000" cy="274320"/>
          </a:xfrm>
          <a:prstGeom prst="rect">
            <a:avLst/>
          </a:prstGeom>
          <a:noFill/>
        </p:spPr>
        <p:txBody>
          <a:bodyPr wrap="square">
            <a:spAutoFit/>
          </a:bodyPr>
          <a:lstStyle/>
          <a:p>
            <a:pPr algn="ctr"/>
            <a:r>
              <a:rPr sz="900" b="0" i="1">
                <a:solidFill>
                  <a:srgbClr val="5D7680"/>
                </a:solidFill>
                <a:latin typeface="Open Sans"/>
              </a:rPr>
              <a:t>Image: original resource, source listed in references.</a:t>
            </a:r>
          </a:p>
        </p:txBody>
      </p:sp>
      <p:sp>
        <p:nvSpPr>
          <p:cNvPr id="7" name="TextBox 6"/>
          <p:cNvSpPr txBox="1"/>
          <p:nvPr/>
        </p:nvSpPr>
        <p:spPr>
          <a:xfrm>
            <a:off x="548640" y="6537960"/>
            <a:ext cx="1645920" cy="274320"/>
          </a:xfrm>
          <a:prstGeom prst="rect">
            <a:avLst/>
          </a:prstGeom>
          <a:noFill/>
        </p:spPr>
        <p:txBody>
          <a:bodyPr wrap="square">
            <a:spAutoFit/>
          </a:bodyPr>
          <a:lstStyle/>
          <a:p>
            <a:pPr algn="l"/>
            <a:r>
              <a:rPr sz="900" b="0" i="1">
                <a:solidFill>
                  <a:srgbClr val="5D7680"/>
                </a:solidFill>
                <a:latin typeface="Open Sans"/>
              </a:rPr>
              <a:t>Perkins (2026)</a:t>
            </a:r>
          </a:p>
        </p:txBody>
      </p:sp>
      <p:sp>
        <p:nvSpPr>
          <p:cNvPr id="8" name="TextBox 7"/>
          <p:cNvSpPr txBox="1"/>
          <p:nvPr/>
        </p:nvSpPr>
        <p:spPr>
          <a:xfrm>
            <a:off x="2194560" y="6537960"/>
            <a:ext cx="2926080" cy="274320"/>
          </a:xfrm>
          <a:prstGeom prst="rect">
            <a:avLst/>
          </a:prstGeom>
          <a:noFill/>
        </p:spPr>
        <p:txBody>
          <a:bodyPr wrap="square">
            <a:spAutoFit/>
          </a:bodyPr>
          <a:lstStyle/>
          <a:p>
            <a:pPr algn="l"/>
            <a:r>
              <a:rPr sz="900" b="0" i="0">
                <a:solidFill>
                  <a:srgbClr val="5D7680"/>
                </a:solidFill>
                <a:latin typeface="Open Sans"/>
              </a:rPr>
              <a:t>Page 25 of 39</a:t>
            </a:r>
          </a:p>
        </p:txBody>
      </p:sp>
      <p:sp>
        <p:nvSpPr>
          <p:cNvPr id="9" name="TextBox 8"/>
          <p:cNvSpPr txBox="1"/>
          <p:nvPr/>
        </p:nvSpPr>
        <p:spPr>
          <a:xfrm>
            <a:off x="5120640" y="6537960"/>
            <a:ext cx="6492240" cy="274320"/>
          </a:xfrm>
          <a:prstGeom prst="rect">
            <a:avLst/>
          </a:prstGeom>
          <a:noFill/>
        </p:spPr>
        <p:txBody>
          <a:bodyPr wrap="square">
            <a:spAutoFit/>
          </a:bodyPr>
          <a:lstStyle/>
          <a:p>
            <a:pPr algn="r"/>
            <a:r>
              <a:rPr sz="900" b="0" i="0">
                <a:solidFill>
                  <a:srgbClr val="5D7680"/>
                </a:solidFill>
                <a:latin typeface="Open Sans"/>
              </a:rPr>
              <a:t>Landforms and Landscapes  |  Stage 4 Geography  |  REVISION deck</a:t>
            </a:r>
          </a:p>
        </p:txBody>
      </p:sp>
    </p:spTree>
  </p:cSld>
  <p:clrMapOvr>
    <a:masterClrMapping/>
  </p:clrMapOvr>
</p:sld>
</file>

<file path=ppt/slides/slide2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182880"/>
          </a:xfrm>
          <a:prstGeom prst="rect">
            <a:avLst/>
          </a:prstGeom>
          <a:solidFill>
            <a:srgbClr val="6AA69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365760" y="365760"/>
            <a:ext cx="11430000" cy="1188720"/>
          </a:xfrm>
          <a:prstGeom prst="rect">
            <a:avLst/>
          </a:prstGeom>
          <a:noFill/>
        </p:spPr>
        <p:txBody>
          <a:bodyPr wrap="square">
            <a:spAutoFit/>
          </a:bodyPr>
          <a:lstStyle/>
          <a:p>
            <a:pPr>
              <a:defRPr sz="2800" b="1">
                <a:solidFill>
                  <a:srgbClr val="003146"/>
                </a:solidFill>
              </a:defRPr>
            </a:pPr>
            <a:r>
              <a:t>World Heritage sites of Australia</a:t>
            </a:r>
          </a:p>
        </p:txBody>
      </p:sp>
      <p:pic>
        <p:nvPicPr>
          <p:cNvPr id="4" name="Picture 3" descr="world_heritage_map.png"/>
          <p:cNvPicPr>
            <a:picLocks noChangeAspect="1"/>
          </p:cNvPicPr>
          <p:nvPr/>
        </p:nvPicPr>
        <p:blipFill>
          <a:blip r:embed="rId2"/>
          <a:stretch>
            <a:fillRect/>
          </a:stretch>
        </p:blipFill>
        <p:spPr>
          <a:xfrm>
            <a:off x="3309104" y="1371600"/>
            <a:ext cx="5573485" cy="4572000"/>
          </a:xfrm>
          <a:prstGeom prst="rect">
            <a:avLst/>
          </a:prstGeom>
        </p:spPr>
      </p:pic>
      <p:sp>
        <p:nvSpPr>
          <p:cNvPr id="5" name="TextBox 4"/>
          <p:cNvSpPr txBox="1"/>
          <p:nvPr/>
        </p:nvSpPr>
        <p:spPr>
          <a:xfrm>
            <a:off x="548640" y="5989320"/>
            <a:ext cx="11064240" cy="274320"/>
          </a:xfrm>
          <a:prstGeom prst="rect">
            <a:avLst/>
          </a:prstGeom>
          <a:noFill/>
        </p:spPr>
        <p:txBody>
          <a:bodyPr wrap="square">
            <a:spAutoFit/>
          </a:bodyPr>
          <a:lstStyle/>
          <a:p>
            <a:pPr algn="ctr"/>
            <a:r>
              <a:rPr sz="1200" b="0" i="1">
                <a:solidFill>
                  <a:srgbClr val="33424B"/>
                </a:solidFill>
                <a:latin typeface="Open Sans"/>
              </a:rPr>
              <a:t>Australia's World Heritage listed sites and areas.</a:t>
            </a:r>
          </a:p>
        </p:txBody>
      </p:sp>
      <p:sp>
        <p:nvSpPr>
          <p:cNvPr id="6" name="TextBox 5"/>
          <p:cNvSpPr txBox="1"/>
          <p:nvPr/>
        </p:nvSpPr>
        <p:spPr>
          <a:xfrm>
            <a:off x="548640" y="6263640"/>
            <a:ext cx="11064240" cy="228600"/>
          </a:xfrm>
          <a:prstGeom prst="rect">
            <a:avLst/>
          </a:prstGeom>
          <a:noFill/>
        </p:spPr>
        <p:txBody>
          <a:bodyPr wrap="square">
            <a:spAutoFit/>
          </a:bodyPr>
          <a:lstStyle/>
          <a:p>
            <a:pPr algn="ctr"/>
            <a:r>
              <a:rPr sz="900" b="0" i="1">
                <a:solidFill>
                  <a:srgbClr val="5D7680"/>
                </a:solidFill>
                <a:latin typeface="Open Sans"/>
              </a:rPr>
              <a:t>Source: World Heritage Areas, Australia (2011), Dept of Sustainability, Environment, Water, Population and Communities.</a:t>
            </a:r>
          </a:p>
        </p:txBody>
      </p:sp>
      <p:sp>
        <p:nvSpPr>
          <p:cNvPr id="7" name="TextBox 6"/>
          <p:cNvSpPr txBox="1"/>
          <p:nvPr/>
        </p:nvSpPr>
        <p:spPr>
          <a:xfrm>
            <a:off x="548640" y="6537960"/>
            <a:ext cx="1645920" cy="274320"/>
          </a:xfrm>
          <a:prstGeom prst="rect">
            <a:avLst/>
          </a:prstGeom>
          <a:noFill/>
        </p:spPr>
        <p:txBody>
          <a:bodyPr wrap="square">
            <a:spAutoFit/>
          </a:bodyPr>
          <a:lstStyle/>
          <a:p>
            <a:pPr algn="l"/>
            <a:r>
              <a:rPr sz="900" b="0" i="1">
                <a:solidFill>
                  <a:srgbClr val="5D7680"/>
                </a:solidFill>
                <a:latin typeface="Open Sans"/>
              </a:rPr>
              <a:t>Perkins (2026)</a:t>
            </a:r>
          </a:p>
        </p:txBody>
      </p:sp>
      <p:sp>
        <p:nvSpPr>
          <p:cNvPr id="8" name="TextBox 7"/>
          <p:cNvSpPr txBox="1"/>
          <p:nvPr/>
        </p:nvSpPr>
        <p:spPr>
          <a:xfrm>
            <a:off x="2194560" y="6537960"/>
            <a:ext cx="2926080" cy="274320"/>
          </a:xfrm>
          <a:prstGeom prst="rect">
            <a:avLst/>
          </a:prstGeom>
          <a:noFill/>
        </p:spPr>
        <p:txBody>
          <a:bodyPr wrap="square">
            <a:spAutoFit/>
          </a:bodyPr>
          <a:lstStyle/>
          <a:p>
            <a:pPr algn="l"/>
            <a:r>
              <a:rPr sz="900" b="0" i="0">
                <a:solidFill>
                  <a:srgbClr val="5D7680"/>
                </a:solidFill>
                <a:latin typeface="Open Sans"/>
              </a:rPr>
              <a:t>Page 26 of 39</a:t>
            </a:r>
          </a:p>
        </p:txBody>
      </p:sp>
      <p:sp>
        <p:nvSpPr>
          <p:cNvPr id="9" name="TextBox 8"/>
          <p:cNvSpPr txBox="1"/>
          <p:nvPr/>
        </p:nvSpPr>
        <p:spPr>
          <a:xfrm>
            <a:off x="5120640" y="6537960"/>
            <a:ext cx="6492240" cy="274320"/>
          </a:xfrm>
          <a:prstGeom prst="rect">
            <a:avLst/>
          </a:prstGeom>
          <a:noFill/>
        </p:spPr>
        <p:txBody>
          <a:bodyPr wrap="square">
            <a:spAutoFit/>
          </a:bodyPr>
          <a:lstStyle/>
          <a:p>
            <a:pPr algn="r"/>
            <a:r>
              <a:rPr sz="900" b="0" i="0">
                <a:solidFill>
                  <a:srgbClr val="5D7680"/>
                </a:solidFill>
                <a:latin typeface="Open Sans"/>
              </a:rPr>
              <a:t>Landforms and Landscapes  |  Stage 4 Geography  |  REVISION deck</a:t>
            </a:r>
          </a:p>
        </p:txBody>
      </p:sp>
    </p:spTree>
  </p:cSld>
  <p:clrMapOvr>
    <a:masterClrMapping/>
  </p:clrMapOvr>
</p:sld>
</file>

<file path=ppt/slides/slide2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182880"/>
          </a:xfrm>
          <a:prstGeom prst="rect">
            <a:avLst/>
          </a:prstGeom>
          <a:solidFill>
            <a:srgbClr val="6AA69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365760" y="365760"/>
            <a:ext cx="11430000" cy="1188720"/>
          </a:xfrm>
          <a:prstGeom prst="rect">
            <a:avLst/>
          </a:prstGeom>
          <a:noFill/>
        </p:spPr>
        <p:txBody>
          <a:bodyPr wrap="square">
            <a:spAutoFit/>
          </a:bodyPr>
          <a:lstStyle/>
          <a:p>
            <a:pPr>
              <a:defRPr sz="2800" b="1">
                <a:solidFill>
                  <a:srgbClr val="003146"/>
                </a:solidFill>
              </a:defRPr>
            </a:pPr>
            <a:r>
              <a:t>Over to you: World Heritage sites</a:t>
            </a:r>
          </a:p>
        </p:txBody>
      </p:sp>
      <p:graphicFrame>
        <p:nvGraphicFramePr>
          <p:cNvPr id="4" name="Table 3"/>
          <p:cNvGraphicFramePr>
            <a:graphicFrameLocks noGrp="1"/>
          </p:cNvGraphicFramePr>
          <p:nvPr/>
        </p:nvGraphicFramePr>
        <p:xfrm>
          <a:off x="548640" y="1463040"/>
          <a:ext cx="11064240" cy="4572000"/>
        </p:xfrm>
        <a:graphic>
          <a:graphicData uri="http://schemas.openxmlformats.org/drawingml/2006/table">
            <a:tbl>
              <a:tblPr firstRow="1" bandRow="1">
                <a:tableStyleId>{5C22544A-7EE6-4342-B048-85BDC9FD1C3A}</a:tableStyleId>
              </a:tblPr>
              <a:tblGrid>
                <a:gridCol w="3688080"/>
                <a:gridCol w="3688080"/>
                <a:gridCol w="3688080"/>
              </a:tblGrid>
              <a:tr h="914400">
                <a:tc>
                  <a:txBody>
                    <a:bodyPr/>
                    <a:lstStyle/>
                    <a:p>
                      <a:pPr>
                        <a:defRPr b="1" sz="1600">
                          <a:solidFill>
                            <a:srgbClr val="FFFFFF"/>
                          </a:solidFill>
                          <a:latin typeface="Open Sans"/>
                        </a:defRPr>
                      </a:pPr>
                      <a:r>
                        <a:t>World Heritage Site</a:t>
                      </a:r>
                    </a:p>
                  </a:txBody>
                  <a:tcPr>
                    <a:solidFill>
                      <a:srgbClr val="003146"/>
                    </a:solidFill>
                  </a:tcPr>
                </a:tc>
                <a:tc>
                  <a:txBody>
                    <a:bodyPr/>
                    <a:lstStyle/>
                    <a:p>
                      <a:pPr>
                        <a:defRPr b="1" sz="1600">
                          <a:solidFill>
                            <a:srgbClr val="FFFFFF"/>
                          </a:solidFill>
                          <a:latin typeface="Open Sans"/>
                        </a:defRPr>
                      </a:pPr>
                      <a:r>
                        <a:t>Aesthetic or Cultural Value</a:t>
                      </a:r>
                    </a:p>
                  </a:txBody>
                  <a:tcPr>
                    <a:solidFill>
                      <a:srgbClr val="003146"/>
                    </a:solidFill>
                  </a:tcPr>
                </a:tc>
                <a:tc>
                  <a:txBody>
                    <a:bodyPr/>
                    <a:lstStyle/>
                    <a:p>
                      <a:pPr>
                        <a:defRPr b="1" sz="1600">
                          <a:solidFill>
                            <a:srgbClr val="FFFFFF"/>
                          </a:solidFill>
                          <a:latin typeface="Open Sans"/>
                        </a:defRPr>
                      </a:pPr>
                      <a:r>
                        <a:t>Reason</a:t>
                      </a:r>
                    </a:p>
                  </a:txBody>
                  <a:tcPr>
                    <a:solidFill>
                      <a:srgbClr val="003146"/>
                    </a:solidFill>
                  </a:tcPr>
                </a:tc>
              </a:tr>
              <a:tr h="914400">
                <a:tc>
                  <a:txBody>
                    <a:bodyPr/>
                    <a:lstStyle/>
                    <a:p/>
                  </a:txBody>
                  <a:tcPr>
                    <a:solidFill>
                      <a:srgbClr val="FFFFFF"/>
                    </a:solidFill>
                  </a:tcPr>
                </a:tc>
                <a:tc>
                  <a:txBody>
                    <a:bodyPr/>
                    <a:lstStyle/>
                    <a:p/>
                  </a:txBody>
                  <a:tcPr>
                    <a:solidFill>
                      <a:srgbClr val="FFFFFF"/>
                    </a:solidFill>
                  </a:tcPr>
                </a:tc>
                <a:tc>
                  <a:txBody>
                    <a:bodyPr/>
                    <a:lstStyle/>
                    <a:p/>
                  </a:txBody>
                  <a:tcPr>
                    <a:solidFill>
                      <a:srgbClr val="FFFFFF"/>
                    </a:solidFill>
                  </a:tcPr>
                </a:tc>
              </a:tr>
              <a:tr h="914400">
                <a:tc>
                  <a:txBody>
                    <a:bodyPr/>
                    <a:lstStyle/>
                    <a:p/>
                  </a:txBody>
                  <a:tcPr>
                    <a:solidFill>
                      <a:srgbClr val="F7EEE9"/>
                    </a:solidFill>
                  </a:tcPr>
                </a:tc>
                <a:tc>
                  <a:txBody>
                    <a:bodyPr/>
                    <a:lstStyle/>
                    <a:p/>
                  </a:txBody>
                  <a:tcPr>
                    <a:solidFill>
                      <a:srgbClr val="F7EEE9"/>
                    </a:solidFill>
                  </a:tcPr>
                </a:tc>
                <a:tc>
                  <a:txBody>
                    <a:bodyPr/>
                    <a:lstStyle/>
                    <a:p/>
                  </a:txBody>
                  <a:tcPr>
                    <a:solidFill>
                      <a:srgbClr val="F7EEE9"/>
                    </a:solidFill>
                  </a:tcPr>
                </a:tc>
              </a:tr>
              <a:tr h="914400">
                <a:tc>
                  <a:txBody>
                    <a:bodyPr/>
                    <a:lstStyle/>
                    <a:p/>
                  </a:txBody>
                  <a:tcPr>
                    <a:solidFill>
                      <a:srgbClr val="FFFFFF"/>
                    </a:solidFill>
                  </a:tcPr>
                </a:tc>
                <a:tc>
                  <a:txBody>
                    <a:bodyPr/>
                    <a:lstStyle/>
                    <a:p/>
                  </a:txBody>
                  <a:tcPr>
                    <a:solidFill>
                      <a:srgbClr val="FFFFFF"/>
                    </a:solidFill>
                  </a:tcPr>
                </a:tc>
                <a:tc>
                  <a:txBody>
                    <a:bodyPr/>
                    <a:lstStyle/>
                    <a:p/>
                  </a:txBody>
                  <a:tcPr>
                    <a:solidFill>
                      <a:srgbClr val="FFFFFF"/>
                    </a:solidFill>
                  </a:tcPr>
                </a:tc>
              </a:tr>
              <a:tr h="914400">
                <a:tc>
                  <a:txBody>
                    <a:bodyPr/>
                    <a:lstStyle/>
                    <a:p/>
                  </a:txBody>
                  <a:tcPr>
                    <a:solidFill>
                      <a:srgbClr val="F7EEE9"/>
                    </a:solidFill>
                  </a:tcPr>
                </a:tc>
                <a:tc>
                  <a:txBody>
                    <a:bodyPr/>
                    <a:lstStyle/>
                    <a:p/>
                  </a:txBody>
                  <a:tcPr>
                    <a:solidFill>
                      <a:srgbClr val="F7EEE9"/>
                    </a:solidFill>
                  </a:tcPr>
                </a:tc>
                <a:tc>
                  <a:txBody>
                    <a:bodyPr/>
                    <a:lstStyle/>
                    <a:p/>
                  </a:txBody>
                  <a:tcPr>
                    <a:solidFill>
                      <a:srgbClr val="F7EEE9"/>
                    </a:solidFill>
                  </a:tcPr>
                </a:tc>
              </a:tr>
            </a:tbl>
          </a:graphicData>
        </a:graphic>
      </p:graphicFrame>
      <p:sp>
        <p:nvSpPr>
          <p:cNvPr id="5" name="TextBox 4"/>
          <p:cNvSpPr txBox="1"/>
          <p:nvPr/>
        </p:nvSpPr>
        <p:spPr>
          <a:xfrm>
            <a:off x="548640" y="6537960"/>
            <a:ext cx="1645920" cy="274320"/>
          </a:xfrm>
          <a:prstGeom prst="rect">
            <a:avLst/>
          </a:prstGeom>
          <a:noFill/>
        </p:spPr>
        <p:txBody>
          <a:bodyPr wrap="square">
            <a:spAutoFit/>
          </a:bodyPr>
          <a:lstStyle/>
          <a:p>
            <a:pPr algn="l"/>
            <a:r>
              <a:rPr sz="900" b="0" i="1">
                <a:solidFill>
                  <a:srgbClr val="5D7680"/>
                </a:solidFill>
                <a:latin typeface="Open Sans"/>
              </a:rPr>
              <a:t>Perkins (2026)</a:t>
            </a:r>
          </a:p>
        </p:txBody>
      </p:sp>
      <p:sp>
        <p:nvSpPr>
          <p:cNvPr id="6" name="TextBox 5"/>
          <p:cNvSpPr txBox="1"/>
          <p:nvPr/>
        </p:nvSpPr>
        <p:spPr>
          <a:xfrm>
            <a:off x="2194560" y="6537960"/>
            <a:ext cx="2926080" cy="274320"/>
          </a:xfrm>
          <a:prstGeom prst="rect">
            <a:avLst/>
          </a:prstGeom>
          <a:noFill/>
        </p:spPr>
        <p:txBody>
          <a:bodyPr wrap="square">
            <a:spAutoFit/>
          </a:bodyPr>
          <a:lstStyle/>
          <a:p>
            <a:pPr algn="l"/>
            <a:r>
              <a:rPr sz="900" b="0" i="0">
                <a:solidFill>
                  <a:srgbClr val="5D7680"/>
                </a:solidFill>
                <a:latin typeface="Open Sans"/>
              </a:rPr>
              <a:t>Page 27 of 39</a:t>
            </a:r>
          </a:p>
        </p:txBody>
      </p:sp>
      <p:sp>
        <p:nvSpPr>
          <p:cNvPr id="7" name="TextBox 6"/>
          <p:cNvSpPr txBox="1"/>
          <p:nvPr/>
        </p:nvSpPr>
        <p:spPr>
          <a:xfrm>
            <a:off x="5120640" y="6537960"/>
            <a:ext cx="6492240" cy="274320"/>
          </a:xfrm>
          <a:prstGeom prst="rect">
            <a:avLst/>
          </a:prstGeom>
          <a:noFill/>
        </p:spPr>
        <p:txBody>
          <a:bodyPr wrap="square">
            <a:spAutoFit/>
          </a:bodyPr>
          <a:lstStyle/>
          <a:p>
            <a:pPr algn="r"/>
            <a:r>
              <a:rPr sz="900" b="0" i="0">
                <a:solidFill>
                  <a:srgbClr val="5D7680"/>
                </a:solidFill>
                <a:latin typeface="Open Sans"/>
              </a:rPr>
              <a:t>Landforms and Landscapes  |  Stage 4 Geography  |  REVISION deck</a:t>
            </a:r>
          </a:p>
        </p:txBody>
      </p:sp>
    </p:spTree>
  </p:cSld>
  <p:clrMapOvr>
    <a:masterClrMapping/>
  </p:clrMapOvr>
</p:sld>
</file>

<file path=ppt/slides/slide28.xml><?xml version="1.0" encoding="utf-8"?>
<p:sld xmlns:a="http://schemas.openxmlformats.org/drawingml/2006/main" xmlns:p="http://schemas.openxmlformats.org/presentationml/2006/main" xmlns:r="http://schemas.openxmlformats.org/officeDocument/2006/relationships">
  <p:cSld>
    <p:bg>
      <p:bgPr>
        <a:solidFill>
          <a:srgbClr val="6AA69B"/>
        </a:solidFill>
        <a:effectLst/>
      </p:bgPr>
    </p:bg>
    <p:spTree>
      <p:nvGrpSpPr>
        <p:cNvPr id="1" name=""/>
        <p:cNvGrpSpPr/>
        <p:nvPr/>
      </p:nvGrpSpPr>
      <p:grpSpPr/>
      <p:sp>
        <p:nvSpPr>
          <p:cNvPr id="2" name="TextBox 1"/>
          <p:cNvSpPr txBox="1"/>
          <p:nvPr/>
        </p:nvSpPr>
        <p:spPr>
          <a:xfrm>
            <a:off x="365760" y="2377440"/>
            <a:ext cx="11430000" cy="1188720"/>
          </a:xfrm>
          <a:prstGeom prst="rect">
            <a:avLst/>
          </a:prstGeom>
          <a:noFill/>
        </p:spPr>
        <p:txBody>
          <a:bodyPr wrap="square">
            <a:spAutoFit/>
          </a:bodyPr>
          <a:lstStyle/>
          <a:p>
            <a:pPr>
              <a:defRPr sz="5200" b="1">
                <a:solidFill>
                  <a:srgbClr val="FFFFFF"/>
                </a:solidFill>
              </a:defRPr>
            </a:pPr>
            <a:r>
              <a:t>Economic value of landscapes</a:t>
            </a:r>
          </a:p>
        </p:txBody>
      </p:sp>
      <p:sp>
        <p:nvSpPr>
          <p:cNvPr id="3" name="TextBox 2"/>
          <p:cNvSpPr txBox="1"/>
          <p:nvPr/>
        </p:nvSpPr>
        <p:spPr>
          <a:xfrm>
            <a:off x="365760" y="3566160"/>
            <a:ext cx="11430000" cy="914400"/>
          </a:xfrm>
          <a:prstGeom prst="rect">
            <a:avLst/>
          </a:prstGeom>
          <a:noFill/>
        </p:spPr>
        <p:txBody>
          <a:bodyPr wrap="square">
            <a:spAutoFit/>
          </a:bodyPr>
          <a:lstStyle/>
          <a:p>
            <a:pPr>
              <a:defRPr sz="2400" b="1">
                <a:solidFill>
                  <a:srgbClr val="FFC20E"/>
                </a:solidFill>
              </a:defRPr>
            </a:pPr>
            <a:r>
              <a:t>How landscapes generate income for different people</a:t>
            </a:r>
          </a:p>
        </p:txBody>
      </p:sp>
      <p:sp>
        <p:nvSpPr>
          <p:cNvPr id="4" name="TextBox 3"/>
          <p:cNvSpPr txBox="1"/>
          <p:nvPr/>
        </p:nvSpPr>
        <p:spPr>
          <a:xfrm>
            <a:off x="548640" y="6537960"/>
            <a:ext cx="1645920" cy="274320"/>
          </a:xfrm>
          <a:prstGeom prst="rect">
            <a:avLst/>
          </a:prstGeom>
          <a:noFill/>
        </p:spPr>
        <p:txBody>
          <a:bodyPr wrap="square">
            <a:spAutoFit/>
          </a:bodyPr>
          <a:lstStyle/>
          <a:p>
            <a:pPr algn="l"/>
            <a:r>
              <a:rPr sz="900" b="0" i="1">
                <a:solidFill>
                  <a:srgbClr val="5D7680"/>
                </a:solidFill>
                <a:latin typeface="Open Sans"/>
              </a:rPr>
              <a:t>Perkins (2026)</a:t>
            </a:r>
          </a:p>
        </p:txBody>
      </p:sp>
      <p:sp>
        <p:nvSpPr>
          <p:cNvPr id="5" name="TextBox 4"/>
          <p:cNvSpPr txBox="1"/>
          <p:nvPr/>
        </p:nvSpPr>
        <p:spPr>
          <a:xfrm>
            <a:off x="2194560" y="6537960"/>
            <a:ext cx="2926080" cy="274320"/>
          </a:xfrm>
          <a:prstGeom prst="rect">
            <a:avLst/>
          </a:prstGeom>
          <a:noFill/>
        </p:spPr>
        <p:txBody>
          <a:bodyPr wrap="square">
            <a:spAutoFit/>
          </a:bodyPr>
          <a:lstStyle/>
          <a:p>
            <a:pPr algn="l"/>
            <a:r>
              <a:rPr sz="900" b="0" i="0">
                <a:solidFill>
                  <a:srgbClr val="5D7680"/>
                </a:solidFill>
                <a:latin typeface="Open Sans"/>
              </a:rPr>
              <a:t>Page 28 of 39</a:t>
            </a:r>
          </a:p>
        </p:txBody>
      </p:sp>
      <p:sp>
        <p:nvSpPr>
          <p:cNvPr id="6" name="TextBox 5"/>
          <p:cNvSpPr txBox="1"/>
          <p:nvPr/>
        </p:nvSpPr>
        <p:spPr>
          <a:xfrm>
            <a:off x="5120640" y="6537960"/>
            <a:ext cx="6492240" cy="274320"/>
          </a:xfrm>
          <a:prstGeom prst="rect">
            <a:avLst/>
          </a:prstGeom>
          <a:noFill/>
        </p:spPr>
        <p:txBody>
          <a:bodyPr wrap="square">
            <a:spAutoFit/>
          </a:bodyPr>
          <a:lstStyle/>
          <a:p>
            <a:pPr algn="r"/>
            <a:r>
              <a:rPr sz="900" b="0" i="0">
                <a:solidFill>
                  <a:srgbClr val="5D7680"/>
                </a:solidFill>
                <a:latin typeface="Open Sans"/>
              </a:rPr>
              <a:t>Landforms and Landscapes  |  Stage 4 Geography  |  REVISION deck</a:t>
            </a:r>
          </a:p>
        </p:txBody>
      </p:sp>
    </p:spTree>
  </p:cSld>
  <p:clrMapOvr>
    <a:masterClrMapping/>
  </p:clrMapOvr>
</p:sld>
</file>

<file path=ppt/slides/slide2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320040"/>
            <a:ext cx="11064240" cy="594360"/>
          </a:xfrm>
          <a:prstGeom prst="rect">
            <a:avLst/>
          </a:prstGeom>
          <a:noFill/>
        </p:spPr>
        <p:txBody>
          <a:bodyPr wrap="square">
            <a:spAutoFit/>
          </a:bodyPr>
          <a:lstStyle/>
          <a:p>
            <a:pPr algn="l"/>
            <a:r>
              <a:rPr sz="2800" b="1" i="0">
                <a:solidFill>
                  <a:srgbClr val="003146"/>
                </a:solidFill>
                <a:latin typeface="Merriweather"/>
              </a:rPr>
              <a:t>Place and economic value of landscapes</a:t>
            </a:r>
          </a:p>
        </p:txBody>
      </p:sp>
      <p:sp>
        <p:nvSpPr>
          <p:cNvPr id="3" name="Rounded Rectangle 2"/>
          <p:cNvSpPr/>
          <p:nvPr/>
        </p:nvSpPr>
        <p:spPr>
          <a:xfrm>
            <a:off x="548640" y="1051560"/>
            <a:ext cx="11064240" cy="777240"/>
          </a:xfrm>
          <a:prstGeom prst="roundRect">
            <a:avLst>
              <a:gd name="adj" fmla="val 12000"/>
            </a:avLst>
          </a:prstGeom>
          <a:solidFill>
            <a:srgbClr val="00314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1005840" y="1051560"/>
            <a:ext cx="10149840" cy="777240"/>
          </a:xfrm>
          <a:prstGeom prst="rect">
            <a:avLst/>
          </a:prstGeom>
          <a:noFill/>
        </p:spPr>
        <p:txBody>
          <a:bodyPr wrap="square" anchor="ctr">
            <a:spAutoFit/>
          </a:bodyPr>
          <a:lstStyle/>
          <a:p>
            <a:pPr algn="ctr"/>
            <a:r>
              <a:rPr sz="1600" b="1" i="0">
                <a:solidFill>
                  <a:srgbClr val="FFFFFF"/>
                </a:solidFill>
                <a:latin typeface="Merriweather"/>
              </a:rPr>
              <a:t>Some landscapes hold economic significance. This can generate revenue through art and tourism.</a:t>
            </a:r>
          </a:p>
        </p:txBody>
      </p:sp>
      <p:sp>
        <p:nvSpPr>
          <p:cNvPr id="5" name="Rounded Rectangle 4"/>
          <p:cNvSpPr/>
          <p:nvPr/>
        </p:nvSpPr>
        <p:spPr>
          <a:xfrm>
            <a:off x="548640" y="2103120"/>
            <a:ext cx="2663190" cy="4114800"/>
          </a:xfrm>
          <a:prstGeom prst="roundRect">
            <a:avLst>
              <a:gd name="adj" fmla="val 5000"/>
            </a:avLst>
          </a:prstGeom>
          <a:solidFill>
            <a:srgbClr val="F7EEE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Oval 5"/>
          <p:cNvSpPr/>
          <p:nvPr/>
        </p:nvSpPr>
        <p:spPr>
          <a:xfrm>
            <a:off x="777240" y="2331720"/>
            <a:ext cx="457200" cy="457200"/>
          </a:xfrm>
          <a:prstGeom prst="ellipse">
            <a:avLst/>
          </a:prstGeom>
          <a:solidFill>
            <a:srgbClr val="FFC20E"/>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600" b="1">
                <a:solidFill>
                  <a:srgbClr val="003146"/>
                </a:solidFill>
              </a:rPr>
              <a:t>1</a:t>
            </a:r>
          </a:p>
        </p:txBody>
      </p:sp>
      <p:sp>
        <p:nvSpPr>
          <p:cNvPr id="7" name="TextBox 6"/>
          <p:cNvSpPr txBox="1"/>
          <p:nvPr/>
        </p:nvSpPr>
        <p:spPr>
          <a:xfrm>
            <a:off x="685800" y="2926079"/>
            <a:ext cx="2388870" cy="457200"/>
          </a:xfrm>
          <a:prstGeom prst="rect">
            <a:avLst/>
          </a:prstGeom>
          <a:noFill/>
        </p:spPr>
        <p:txBody>
          <a:bodyPr wrap="square">
            <a:spAutoFit/>
          </a:bodyPr>
          <a:lstStyle/>
          <a:p>
            <a:pPr algn="l"/>
            <a:r>
              <a:rPr sz="1600" b="1" i="0">
                <a:solidFill>
                  <a:srgbClr val="003146"/>
                </a:solidFill>
                <a:latin typeface="Open Sans"/>
              </a:rPr>
              <a:t>TOURISM</a:t>
            </a:r>
          </a:p>
        </p:txBody>
      </p:sp>
      <p:sp>
        <p:nvSpPr>
          <p:cNvPr id="8" name="TextBox 7"/>
          <p:cNvSpPr txBox="1"/>
          <p:nvPr/>
        </p:nvSpPr>
        <p:spPr>
          <a:xfrm>
            <a:off x="685800" y="3383279"/>
            <a:ext cx="2388870" cy="2651760"/>
          </a:xfrm>
          <a:prstGeom prst="rect">
            <a:avLst/>
          </a:prstGeom>
          <a:noFill/>
        </p:spPr>
        <p:txBody>
          <a:bodyPr wrap="square">
            <a:spAutoFit/>
          </a:bodyPr>
          <a:lstStyle/>
          <a:p>
            <a:pPr algn="l"/>
            <a:r>
              <a:rPr sz="1400" b="0" i="0">
                <a:solidFill>
                  <a:srgbClr val="33424B"/>
                </a:solidFill>
                <a:latin typeface="Open Sans"/>
              </a:rPr>
              <a:t>Visitors travel specifically to see famous landscapes, spending money on travel, food and accommodation.</a:t>
            </a:r>
          </a:p>
        </p:txBody>
      </p:sp>
      <p:sp>
        <p:nvSpPr>
          <p:cNvPr id="9" name="Rounded Rectangle 8"/>
          <p:cNvSpPr/>
          <p:nvPr/>
        </p:nvSpPr>
        <p:spPr>
          <a:xfrm>
            <a:off x="3348990" y="2103120"/>
            <a:ext cx="2663190" cy="4114800"/>
          </a:xfrm>
          <a:prstGeom prst="roundRect">
            <a:avLst>
              <a:gd name="adj" fmla="val 5000"/>
            </a:avLst>
          </a:prstGeom>
          <a:solidFill>
            <a:srgbClr val="F7EEE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Oval 9"/>
          <p:cNvSpPr/>
          <p:nvPr/>
        </p:nvSpPr>
        <p:spPr>
          <a:xfrm>
            <a:off x="3577590" y="2331720"/>
            <a:ext cx="457200" cy="457200"/>
          </a:xfrm>
          <a:prstGeom prst="ellipse">
            <a:avLst/>
          </a:prstGeom>
          <a:solidFill>
            <a:srgbClr val="FFC20E"/>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600" b="1">
                <a:solidFill>
                  <a:srgbClr val="003146"/>
                </a:solidFill>
              </a:rPr>
              <a:t>2</a:t>
            </a:r>
          </a:p>
        </p:txBody>
      </p:sp>
      <p:sp>
        <p:nvSpPr>
          <p:cNvPr id="11" name="TextBox 10"/>
          <p:cNvSpPr txBox="1"/>
          <p:nvPr/>
        </p:nvSpPr>
        <p:spPr>
          <a:xfrm>
            <a:off x="3486150" y="2926079"/>
            <a:ext cx="2388870" cy="457200"/>
          </a:xfrm>
          <a:prstGeom prst="rect">
            <a:avLst/>
          </a:prstGeom>
          <a:noFill/>
        </p:spPr>
        <p:txBody>
          <a:bodyPr wrap="square">
            <a:spAutoFit/>
          </a:bodyPr>
          <a:lstStyle/>
          <a:p>
            <a:pPr algn="l"/>
            <a:r>
              <a:rPr sz="1600" b="1" i="0">
                <a:solidFill>
                  <a:srgbClr val="003146"/>
                </a:solidFill>
                <a:latin typeface="Open Sans"/>
              </a:rPr>
              <a:t>EMPLOYMENT</a:t>
            </a:r>
          </a:p>
        </p:txBody>
      </p:sp>
      <p:sp>
        <p:nvSpPr>
          <p:cNvPr id="12" name="TextBox 11"/>
          <p:cNvSpPr txBox="1"/>
          <p:nvPr/>
        </p:nvSpPr>
        <p:spPr>
          <a:xfrm>
            <a:off x="3486150" y="3383279"/>
            <a:ext cx="2388870" cy="2651760"/>
          </a:xfrm>
          <a:prstGeom prst="rect">
            <a:avLst/>
          </a:prstGeom>
          <a:noFill/>
        </p:spPr>
        <p:txBody>
          <a:bodyPr wrap="square">
            <a:spAutoFit/>
          </a:bodyPr>
          <a:lstStyle/>
          <a:p>
            <a:pPr algn="l"/>
            <a:r>
              <a:rPr sz="1400" b="0" i="0">
                <a:solidFill>
                  <a:srgbClr val="33424B"/>
                </a:solidFill>
                <a:latin typeface="Open Sans"/>
              </a:rPr>
              <a:t>Tourism and land-based industries create local jobs.</a:t>
            </a:r>
          </a:p>
        </p:txBody>
      </p:sp>
      <p:sp>
        <p:nvSpPr>
          <p:cNvPr id="13" name="Rounded Rectangle 12"/>
          <p:cNvSpPr/>
          <p:nvPr/>
        </p:nvSpPr>
        <p:spPr>
          <a:xfrm>
            <a:off x="6149340" y="2103120"/>
            <a:ext cx="2663190" cy="4114800"/>
          </a:xfrm>
          <a:prstGeom prst="roundRect">
            <a:avLst>
              <a:gd name="adj" fmla="val 5000"/>
            </a:avLst>
          </a:prstGeom>
          <a:solidFill>
            <a:srgbClr val="F7EEE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377940" y="2331720"/>
            <a:ext cx="457200" cy="457200"/>
          </a:xfrm>
          <a:prstGeom prst="ellipse">
            <a:avLst/>
          </a:prstGeom>
          <a:solidFill>
            <a:srgbClr val="FFC20E"/>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600" b="1">
                <a:solidFill>
                  <a:srgbClr val="003146"/>
                </a:solidFill>
              </a:rPr>
              <a:t>3</a:t>
            </a:r>
          </a:p>
        </p:txBody>
      </p:sp>
      <p:sp>
        <p:nvSpPr>
          <p:cNvPr id="15" name="TextBox 14"/>
          <p:cNvSpPr txBox="1"/>
          <p:nvPr/>
        </p:nvSpPr>
        <p:spPr>
          <a:xfrm>
            <a:off x="6286500" y="2926079"/>
            <a:ext cx="2388870" cy="457200"/>
          </a:xfrm>
          <a:prstGeom prst="rect">
            <a:avLst/>
          </a:prstGeom>
          <a:noFill/>
        </p:spPr>
        <p:txBody>
          <a:bodyPr wrap="square">
            <a:spAutoFit/>
          </a:bodyPr>
          <a:lstStyle/>
          <a:p>
            <a:pPr algn="l"/>
            <a:r>
              <a:rPr sz="1600" b="1" i="0">
                <a:solidFill>
                  <a:srgbClr val="003146"/>
                </a:solidFill>
                <a:latin typeface="Open Sans"/>
              </a:rPr>
              <a:t>INVESTMENT</a:t>
            </a:r>
          </a:p>
        </p:txBody>
      </p:sp>
      <p:sp>
        <p:nvSpPr>
          <p:cNvPr id="16" name="TextBox 15"/>
          <p:cNvSpPr txBox="1"/>
          <p:nvPr/>
        </p:nvSpPr>
        <p:spPr>
          <a:xfrm>
            <a:off x="6286500" y="3383279"/>
            <a:ext cx="2388870" cy="2651760"/>
          </a:xfrm>
          <a:prstGeom prst="rect">
            <a:avLst/>
          </a:prstGeom>
          <a:noFill/>
        </p:spPr>
        <p:txBody>
          <a:bodyPr wrap="square">
            <a:spAutoFit/>
          </a:bodyPr>
          <a:lstStyle/>
          <a:p>
            <a:pPr algn="l"/>
            <a:r>
              <a:rPr sz="1400" b="0" i="0">
                <a:solidFill>
                  <a:srgbClr val="33424B"/>
                </a:solidFill>
                <a:latin typeface="Open Sans"/>
              </a:rPr>
              <a:t>Economic value can fund further conservation and infrastructure.</a:t>
            </a:r>
          </a:p>
        </p:txBody>
      </p:sp>
      <p:sp>
        <p:nvSpPr>
          <p:cNvPr id="17" name="Rounded Rectangle 16"/>
          <p:cNvSpPr/>
          <p:nvPr/>
        </p:nvSpPr>
        <p:spPr>
          <a:xfrm>
            <a:off x="8949690" y="2103120"/>
            <a:ext cx="2663190" cy="4114800"/>
          </a:xfrm>
          <a:prstGeom prst="roundRect">
            <a:avLst>
              <a:gd name="adj" fmla="val 5000"/>
            </a:avLst>
          </a:prstGeom>
          <a:solidFill>
            <a:srgbClr val="F7EEE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Oval 17"/>
          <p:cNvSpPr/>
          <p:nvPr/>
        </p:nvSpPr>
        <p:spPr>
          <a:xfrm>
            <a:off x="9178290" y="2331720"/>
            <a:ext cx="457200" cy="457200"/>
          </a:xfrm>
          <a:prstGeom prst="ellipse">
            <a:avLst/>
          </a:prstGeom>
          <a:solidFill>
            <a:srgbClr val="FFC20E"/>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600" b="1">
                <a:solidFill>
                  <a:srgbClr val="003146"/>
                </a:solidFill>
              </a:rPr>
              <a:t>4</a:t>
            </a:r>
          </a:p>
        </p:txBody>
      </p:sp>
      <p:sp>
        <p:nvSpPr>
          <p:cNvPr id="19" name="TextBox 18"/>
          <p:cNvSpPr txBox="1"/>
          <p:nvPr/>
        </p:nvSpPr>
        <p:spPr>
          <a:xfrm>
            <a:off x="9086850" y="2926079"/>
            <a:ext cx="2388870" cy="457200"/>
          </a:xfrm>
          <a:prstGeom prst="rect">
            <a:avLst/>
          </a:prstGeom>
          <a:noFill/>
        </p:spPr>
        <p:txBody>
          <a:bodyPr wrap="square">
            <a:spAutoFit/>
          </a:bodyPr>
          <a:lstStyle/>
          <a:p>
            <a:pPr algn="l"/>
            <a:r>
              <a:rPr sz="1600" b="1" i="0">
                <a:solidFill>
                  <a:srgbClr val="003146"/>
                </a:solidFill>
                <a:latin typeface="Open Sans"/>
              </a:rPr>
              <a:t>TRADE-OFFS</a:t>
            </a:r>
          </a:p>
        </p:txBody>
      </p:sp>
      <p:sp>
        <p:nvSpPr>
          <p:cNvPr id="20" name="TextBox 19"/>
          <p:cNvSpPr txBox="1"/>
          <p:nvPr/>
        </p:nvSpPr>
        <p:spPr>
          <a:xfrm>
            <a:off x="9086850" y="3383279"/>
            <a:ext cx="2388870" cy="2651760"/>
          </a:xfrm>
          <a:prstGeom prst="rect">
            <a:avLst/>
          </a:prstGeom>
          <a:noFill/>
        </p:spPr>
        <p:txBody>
          <a:bodyPr wrap="square">
            <a:spAutoFit/>
          </a:bodyPr>
          <a:lstStyle/>
          <a:p>
            <a:pPr algn="l"/>
            <a:r>
              <a:rPr sz="1400" b="0" i="0">
                <a:solidFill>
                  <a:srgbClr val="33424B"/>
                </a:solidFill>
                <a:latin typeface="Open Sans"/>
              </a:rPr>
              <a:t>Economic use can clash with protecting a landscape's natural or cultural value.</a:t>
            </a:r>
          </a:p>
        </p:txBody>
      </p:sp>
      <p:sp>
        <p:nvSpPr>
          <p:cNvPr id="21" name="TextBox 20"/>
          <p:cNvSpPr txBox="1"/>
          <p:nvPr/>
        </p:nvSpPr>
        <p:spPr>
          <a:xfrm>
            <a:off x="548640" y="6537960"/>
            <a:ext cx="1645920" cy="274320"/>
          </a:xfrm>
          <a:prstGeom prst="rect">
            <a:avLst/>
          </a:prstGeom>
          <a:noFill/>
        </p:spPr>
        <p:txBody>
          <a:bodyPr wrap="square">
            <a:spAutoFit/>
          </a:bodyPr>
          <a:lstStyle/>
          <a:p>
            <a:pPr algn="l"/>
            <a:r>
              <a:rPr sz="900" b="0" i="1">
                <a:solidFill>
                  <a:srgbClr val="5D7680"/>
                </a:solidFill>
                <a:latin typeface="Open Sans"/>
              </a:rPr>
              <a:t>Perkins (2026)</a:t>
            </a:r>
          </a:p>
        </p:txBody>
      </p:sp>
      <p:sp>
        <p:nvSpPr>
          <p:cNvPr id="22" name="TextBox 21"/>
          <p:cNvSpPr txBox="1"/>
          <p:nvPr/>
        </p:nvSpPr>
        <p:spPr>
          <a:xfrm>
            <a:off x="2194560" y="6537960"/>
            <a:ext cx="2926080" cy="274320"/>
          </a:xfrm>
          <a:prstGeom prst="rect">
            <a:avLst/>
          </a:prstGeom>
          <a:noFill/>
        </p:spPr>
        <p:txBody>
          <a:bodyPr wrap="square">
            <a:spAutoFit/>
          </a:bodyPr>
          <a:lstStyle/>
          <a:p>
            <a:pPr algn="l"/>
            <a:r>
              <a:rPr sz="900" b="0" i="0">
                <a:solidFill>
                  <a:srgbClr val="5D7680"/>
                </a:solidFill>
                <a:latin typeface="Open Sans"/>
              </a:rPr>
              <a:t>Page 29 of 39</a:t>
            </a:r>
          </a:p>
        </p:txBody>
      </p:sp>
      <p:sp>
        <p:nvSpPr>
          <p:cNvPr id="23" name="TextBox 22"/>
          <p:cNvSpPr txBox="1"/>
          <p:nvPr/>
        </p:nvSpPr>
        <p:spPr>
          <a:xfrm>
            <a:off x="5120640" y="6537960"/>
            <a:ext cx="6492240" cy="274320"/>
          </a:xfrm>
          <a:prstGeom prst="rect">
            <a:avLst/>
          </a:prstGeom>
          <a:noFill/>
        </p:spPr>
        <p:txBody>
          <a:bodyPr wrap="square">
            <a:spAutoFit/>
          </a:bodyPr>
          <a:lstStyle/>
          <a:p>
            <a:pPr algn="r"/>
            <a:r>
              <a:rPr sz="900" b="0" i="0">
                <a:solidFill>
                  <a:srgbClr val="5D7680"/>
                </a:solidFill>
                <a:latin typeface="Open Sans"/>
              </a:rPr>
              <a:t>Landforms and Landscapes  |  Stage 4 Geography  |  REVISION deck</a:t>
            </a:r>
          </a:p>
        </p:txBody>
      </p:sp>
    </p:spTree>
  </p:cSld>
  <p:clrMapOvr>
    <a:masterClrMapping/>
  </p:clrMapOvr>
</p:sld>
</file>

<file path=ppt/slides/slide3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182880"/>
          </a:xfrm>
          <a:prstGeom prst="rect">
            <a:avLst/>
          </a:prstGeom>
          <a:solidFill>
            <a:srgbClr val="6AA69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365760" y="365760"/>
            <a:ext cx="11430000" cy="1188720"/>
          </a:xfrm>
          <a:prstGeom prst="rect">
            <a:avLst/>
          </a:prstGeom>
          <a:noFill/>
        </p:spPr>
        <p:txBody>
          <a:bodyPr wrap="square">
            <a:spAutoFit/>
          </a:bodyPr>
          <a:lstStyle/>
          <a:p>
            <a:pPr>
              <a:defRPr sz="2800" b="1">
                <a:solidFill>
                  <a:srgbClr val="003146"/>
                </a:solidFill>
              </a:defRPr>
            </a:pPr>
            <a:r>
              <a:t>Top tourist destinations in Australia</a:t>
            </a:r>
          </a:p>
        </p:txBody>
      </p:sp>
      <p:sp>
        <p:nvSpPr>
          <p:cNvPr id="4" name="TextBox 3"/>
          <p:cNvSpPr txBox="1"/>
          <p:nvPr/>
        </p:nvSpPr>
        <p:spPr>
          <a:xfrm>
            <a:off x="5669279" y="2798063"/>
            <a:ext cx="6126480" cy="4937760"/>
          </a:xfrm>
          <a:prstGeom prst="rect">
            <a:avLst/>
          </a:prstGeom>
          <a:noFill/>
        </p:spPr>
        <p:txBody>
          <a:bodyPr wrap="square">
            <a:spAutoFit/>
          </a:bodyPr>
          <a:lstStyle/>
          <a:p>
            <a:pPr algn="l">
              <a:spcAft>
                <a:spcPts val="1620"/>
              </a:spcAft>
              <a:defRPr sz="1800" b="1">
                <a:solidFill>
                  <a:srgbClr val="222630"/>
                </a:solidFill>
              </a:defRPr>
            </a:pPr>
            <a:r>
              <a:t>•  Australia's landscapes are a major drawcard for both international and domestic tourists.</a:t>
            </a:r>
          </a:p>
          <a:p>
            <a:pPr algn="l">
              <a:spcAft>
                <a:spcPts val="0"/>
              </a:spcAft>
              <a:defRPr sz="1800" b="1">
                <a:solidFill>
                  <a:srgbClr val="222630"/>
                </a:solidFill>
              </a:defRPr>
            </a:pPr>
            <a:r>
              <a:t>•  Coastal destinations like this one depend on the beach, the water and the surrounding landscape staying attractive and accessible.</a:t>
            </a:r>
          </a:p>
        </p:txBody>
      </p:sp>
      <p:pic>
        <p:nvPicPr>
          <p:cNvPr id="5" name="Picture 4" descr="tourist_beach.jpg"/>
          <p:cNvPicPr>
            <a:picLocks noChangeAspect="1"/>
          </p:cNvPicPr>
          <p:nvPr/>
        </p:nvPicPr>
        <p:blipFill>
          <a:blip r:embed="rId2"/>
          <a:srcRect l="13917" r="13917"/>
          <a:stretch>
            <a:fillRect/>
          </a:stretch>
        </p:blipFill>
        <p:spPr>
          <a:xfrm>
            <a:off x="548640" y="1554480"/>
            <a:ext cx="4846320" cy="4480560"/>
          </a:xfrm>
          <a:prstGeom prst="rect">
            <a:avLst/>
          </a:prstGeom>
        </p:spPr>
      </p:pic>
      <p:sp>
        <p:nvSpPr>
          <p:cNvPr id="6" name="TextBox 5"/>
          <p:cNvSpPr txBox="1"/>
          <p:nvPr/>
        </p:nvSpPr>
        <p:spPr>
          <a:xfrm>
            <a:off x="548640" y="6080760"/>
            <a:ext cx="4846320" cy="274320"/>
          </a:xfrm>
          <a:prstGeom prst="rect">
            <a:avLst/>
          </a:prstGeom>
          <a:noFill/>
        </p:spPr>
        <p:txBody>
          <a:bodyPr wrap="square">
            <a:spAutoFit/>
          </a:bodyPr>
          <a:lstStyle/>
          <a:p>
            <a:pPr algn="l"/>
            <a:r>
              <a:rPr sz="900" b="0" i="1">
                <a:solidFill>
                  <a:srgbClr val="5D7680"/>
                </a:solidFill>
                <a:latin typeface="Open Sans"/>
              </a:rPr>
              <a:t>Image: original resource, source listed in references.</a:t>
            </a:r>
          </a:p>
        </p:txBody>
      </p:sp>
      <p:sp>
        <p:nvSpPr>
          <p:cNvPr id="7" name="TextBox 6"/>
          <p:cNvSpPr txBox="1"/>
          <p:nvPr/>
        </p:nvSpPr>
        <p:spPr>
          <a:xfrm>
            <a:off x="548640" y="6537960"/>
            <a:ext cx="1645920" cy="274320"/>
          </a:xfrm>
          <a:prstGeom prst="rect">
            <a:avLst/>
          </a:prstGeom>
          <a:noFill/>
        </p:spPr>
        <p:txBody>
          <a:bodyPr wrap="square">
            <a:spAutoFit/>
          </a:bodyPr>
          <a:lstStyle/>
          <a:p>
            <a:pPr algn="l"/>
            <a:r>
              <a:rPr sz="900" b="0" i="1">
                <a:solidFill>
                  <a:srgbClr val="5D7680"/>
                </a:solidFill>
                <a:latin typeface="Open Sans"/>
              </a:rPr>
              <a:t>Perkins (2026)</a:t>
            </a:r>
          </a:p>
        </p:txBody>
      </p:sp>
      <p:sp>
        <p:nvSpPr>
          <p:cNvPr id="8" name="TextBox 7"/>
          <p:cNvSpPr txBox="1"/>
          <p:nvPr/>
        </p:nvSpPr>
        <p:spPr>
          <a:xfrm>
            <a:off x="2194560" y="6537960"/>
            <a:ext cx="2926080" cy="274320"/>
          </a:xfrm>
          <a:prstGeom prst="rect">
            <a:avLst/>
          </a:prstGeom>
          <a:noFill/>
        </p:spPr>
        <p:txBody>
          <a:bodyPr wrap="square">
            <a:spAutoFit/>
          </a:bodyPr>
          <a:lstStyle/>
          <a:p>
            <a:pPr algn="l"/>
            <a:r>
              <a:rPr sz="900" b="0" i="0">
                <a:solidFill>
                  <a:srgbClr val="5D7680"/>
                </a:solidFill>
                <a:latin typeface="Open Sans"/>
              </a:rPr>
              <a:t>Page 30 of 39</a:t>
            </a:r>
          </a:p>
        </p:txBody>
      </p:sp>
      <p:sp>
        <p:nvSpPr>
          <p:cNvPr id="9" name="TextBox 8"/>
          <p:cNvSpPr txBox="1"/>
          <p:nvPr/>
        </p:nvSpPr>
        <p:spPr>
          <a:xfrm>
            <a:off x="5120640" y="6537960"/>
            <a:ext cx="6492240" cy="274320"/>
          </a:xfrm>
          <a:prstGeom prst="rect">
            <a:avLst/>
          </a:prstGeom>
          <a:noFill/>
        </p:spPr>
        <p:txBody>
          <a:bodyPr wrap="square">
            <a:spAutoFit/>
          </a:bodyPr>
          <a:lstStyle/>
          <a:p>
            <a:pPr algn="r"/>
            <a:r>
              <a:rPr sz="900" b="0" i="0">
                <a:solidFill>
                  <a:srgbClr val="5D7680"/>
                </a:solidFill>
                <a:latin typeface="Open Sans"/>
              </a:rPr>
              <a:t>Landforms and Landscapes  |  Stage 4 Geography  |  REVISION deck</a:t>
            </a:r>
          </a:p>
        </p:txBody>
      </p:sp>
    </p:spTree>
  </p:cSld>
  <p:clrMapOvr>
    <a:masterClrMapping/>
  </p:clrMapOvr>
</p:sld>
</file>

<file path=ppt/slides/slide3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182880"/>
          </a:xfrm>
          <a:prstGeom prst="rect">
            <a:avLst/>
          </a:prstGeom>
          <a:solidFill>
            <a:srgbClr val="6AA69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365760" y="365760"/>
            <a:ext cx="11430000" cy="1188720"/>
          </a:xfrm>
          <a:prstGeom prst="rect">
            <a:avLst/>
          </a:prstGeom>
          <a:noFill/>
        </p:spPr>
        <p:txBody>
          <a:bodyPr wrap="square">
            <a:spAutoFit/>
          </a:bodyPr>
          <a:lstStyle/>
          <a:p>
            <a:pPr>
              <a:defRPr sz="2800" b="1">
                <a:solidFill>
                  <a:srgbClr val="003146"/>
                </a:solidFill>
              </a:defRPr>
            </a:pPr>
            <a:r>
              <a:t>Case study: Uluru</a:t>
            </a:r>
          </a:p>
        </p:txBody>
      </p:sp>
      <p:sp>
        <p:nvSpPr>
          <p:cNvPr id="4" name="TextBox 3"/>
          <p:cNvSpPr txBox="1"/>
          <p:nvPr/>
        </p:nvSpPr>
        <p:spPr>
          <a:xfrm>
            <a:off x="548640" y="1554480"/>
            <a:ext cx="6126480" cy="4937760"/>
          </a:xfrm>
          <a:prstGeom prst="rect">
            <a:avLst/>
          </a:prstGeom>
          <a:noFill/>
        </p:spPr>
        <p:txBody>
          <a:bodyPr wrap="square">
            <a:spAutoFit/>
          </a:bodyPr>
          <a:lstStyle/>
          <a:p>
            <a:pPr algn="l">
              <a:spcAft>
                <a:spcPts val="9000"/>
              </a:spcAft>
              <a:defRPr sz="1800" b="1">
                <a:solidFill>
                  <a:srgbClr val="222630"/>
                </a:solidFill>
              </a:defRPr>
            </a:pPr>
            <a:r>
              <a:t>•  Uluru is a large sandstone monolith that is 348 metres high and has a circumference of 9.4 km.</a:t>
            </a:r>
          </a:p>
          <a:p>
            <a:pPr algn="l">
              <a:spcAft>
                <a:spcPts val="9000"/>
              </a:spcAft>
              <a:defRPr sz="1800" b="1">
                <a:solidFill>
                  <a:srgbClr val="222630"/>
                </a:solidFill>
              </a:defRPr>
            </a:pPr>
            <a:r>
              <a:t>•  Around 400,000 people visit Uluru every year, providing a large economic boost to the Anangu people, the land's traditional owners.</a:t>
            </a:r>
          </a:p>
          <a:p>
            <a:pPr algn="l">
              <a:spcAft>
                <a:spcPts val="0"/>
              </a:spcAft>
              <a:defRPr sz="1800" b="1">
                <a:solidFill>
                  <a:srgbClr val="222630"/>
                </a:solidFill>
              </a:defRPr>
            </a:pPr>
            <a:r>
              <a:t>•  Uluru carries deep cultural and spiritual value for the Anangu as well as economic value from tourism - both matter, and the two are managed together.</a:t>
            </a:r>
          </a:p>
        </p:txBody>
      </p:sp>
      <p:pic>
        <p:nvPicPr>
          <p:cNvPr id="5" name="Picture 4" descr="uluru_large.jpg"/>
          <p:cNvPicPr>
            <a:picLocks noChangeAspect="1"/>
          </p:cNvPicPr>
          <p:nvPr/>
        </p:nvPicPr>
        <p:blipFill>
          <a:blip r:embed="rId2"/>
          <a:srcRect l="14103" r="14103"/>
          <a:stretch>
            <a:fillRect/>
          </a:stretch>
        </p:blipFill>
        <p:spPr>
          <a:xfrm>
            <a:off x="6949440" y="1554480"/>
            <a:ext cx="4846320" cy="4480560"/>
          </a:xfrm>
          <a:prstGeom prst="rect">
            <a:avLst/>
          </a:prstGeom>
        </p:spPr>
      </p:pic>
      <p:sp>
        <p:nvSpPr>
          <p:cNvPr id="6" name="TextBox 5"/>
          <p:cNvSpPr txBox="1"/>
          <p:nvPr/>
        </p:nvSpPr>
        <p:spPr>
          <a:xfrm>
            <a:off x="6949440" y="6080760"/>
            <a:ext cx="4846320" cy="274320"/>
          </a:xfrm>
          <a:prstGeom prst="rect">
            <a:avLst/>
          </a:prstGeom>
          <a:noFill/>
        </p:spPr>
        <p:txBody>
          <a:bodyPr wrap="square">
            <a:spAutoFit/>
          </a:bodyPr>
          <a:lstStyle/>
          <a:p>
            <a:pPr algn="l"/>
            <a:r>
              <a:rPr sz="900" b="0" i="1">
                <a:solidFill>
                  <a:srgbClr val="5D7680"/>
                </a:solidFill>
                <a:latin typeface="Open Sans"/>
              </a:rPr>
              <a:t>Image: original resource, source listed in references.</a:t>
            </a:r>
          </a:p>
        </p:txBody>
      </p:sp>
      <p:sp>
        <p:nvSpPr>
          <p:cNvPr id="7" name="TextBox 6"/>
          <p:cNvSpPr txBox="1"/>
          <p:nvPr/>
        </p:nvSpPr>
        <p:spPr>
          <a:xfrm>
            <a:off x="548640" y="6537960"/>
            <a:ext cx="1645920" cy="274320"/>
          </a:xfrm>
          <a:prstGeom prst="rect">
            <a:avLst/>
          </a:prstGeom>
          <a:noFill/>
        </p:spPr>
        <p:txBody>
          <a:bodyPr wrap="square">
            <a:spAutoFit/>
          </a:bodyPr>
          <a:lstStyle/>
          <a:p>
            <a:pPr algn="l"/>
            <a:r>
              <a:rPr sz="900" b="0" i="1">
                <a:solidFill>
                  <a:srgbClr val="5D7680"/>
                </a:solidFill>
                <a:latin typeface="Open Sans"/>
              </a:rPr>
              <a:t>Perkins (2026)</a:t>
            </a:r>
          </a:p>
        </p:txBody>
      </p:sp>
      <p:sp>
        <p:nvSpPr>
          <p:cNvPr id="8" name="TextBox 7"/>
          <p:cNvSpPr txBox="1"/>
          <p:nvPr/>
        </p:nvSpPr>
        <p:spPr>
          <a:xfrm>
            <a:off x="2194560" y="6537960"/>
            <a:ext cx="2926080" cy="274320"/>
          </a:xfrm>
          <a:prstGeom prst="rect">
            <a:avLst/>
          </a:prstGeom>
          <a:noFill/>
        </p:spPr>
        <p:txBody>
          <a:bodyPr wrap="square">
            <a:spAutoFit/>
          </a:bodyPr>
          <a:lstStyle/>
          <a:p>
            <a:pPr algn="l"/>
            <a:r>
              <a:rPr sz="900" b="0" i="0">
                <a:solidFill>
                  <a:srgbClr val="5D7680"/>
                </a:solidFill>
                <a:latin typeface="Open Sans"/>
              </a:rPr>
              <a:t>Page 31 of 39</a:t>
            </a:r>
          </a:p>
        </p:txBody>
      </p:sp>
      <p:sp>
        <p:nvSpPr>
          <p:cNvPr id="9" name="TextBox 8"/>
          <p:cNvSpPr txBox="1"/>
          <p:nvPr/>
        </p:nvSpPr>
        <p:spPr>
          <a:xfrm>
            <a:off x="5120640" y="6537960"/>
            <a:ext cx="6492240" cy="274320"/>
          </a:xfrm>
          <a:prstGeom prst="rect">
            <a:avLst/>
          </a:prstGeom>
          <a:noFill/>
        </p:spPr>
        <p:txBody>
          <a:bodyPr wrap="square">
            <a:spAutoFit/>
          </a:bodyPr>
          <a:lstStyle/>
          <a:p>
            <a:pPr algn="r"/>
            <a:r>
              <a:rPr sz="900" b="0" i="0">
                <a:solidFill>
                  <a:srgbClr val="5D7680"/>
                </a:solidFill>
                <a:latin typeface="Open Sans"/>
              </a:rPr>
              <a:t>Landforms and Landscapes  |  Stage 4 Geography  |  REVISION deck</a:t>
            </a:r>
          </a:p>
        </p:txBody>
      </p:sp>
    </p:spTree>
  </p:cSld>
  <p:clrMapOvr>
    <a:masterClrMapping/>
  </p:clrMapOvr>
</p:sld>
</file>

<file path=ppt/slides/slide32.xml><?xml version="1.0" encoding="utf-8"?>
<p:sld xmlns:a="http://schemas.openxmlformats.org/drawingml/2006/main" xmlns:p="http://schemas.openxmlformats.org/presentationml/2006/main" xmlns:r="http://schemas.openxmlformats.org/officeDocument/2006/relationships">
  <p:cSld>
    <p:bg>
      <p:bgPr>
        <a:solidFill>
          <a:srgbClr val="6AA69B"/>
        </a:solidFill>
        <a:effectLst/>
      </p:bgPr>
    </p:bg>
    <p:spTree>
      <p:nvGrpSpPr>
        <p:cNvPr id="1" name=""/>
        <p:cNvGrpSpPr/>
        <p:nvPr/>
      </p:nvGrpSpPr>
      <p:grpSpPr/>
      <p:sp>
        <p:nvSpPr>
          <p:cNvPr id="2" name="TextBox 1"/>
          <p:cNvSpPr txBox="1"/>
          <p:nvPr/>
        </p:nvSpPr>
        <p:spPr>
          <a:xfrm>
            <a:off x="365760" y="2377440"/>
            <a:ext cx="11430000" cy="1188720"/>
          </a:xfrm>
          <a:prstGeom prst="rect">
            <a:avLst/>
          </a:prstGeom>
          <a:noFill/>
        </p:spPr>
        <p:txBody>
          <a:bodyPr wrap="square">
            <a:spAutoFit/>
          </a:bodyPr>
          <a:lstStyle/>
          <a:p>
            <a:pPr>
              <a:defRPr sz="5200" b="1">
                <a:solidFill>
                  <a:srgbClr val="FFFFFF"/>
                </a:solidFill>
              </a:defRPr>
            </a:pPr>
            <a:r>
              <a:t>Changing landscapes</a:t>
            </a:r>
          </a:p>
        </p:txBody>
      </p:sp>
      <p:sp>
        <p:nvSpPr>
          <p:cNvPr id="3" name="TextBox 2"/>
          <p:cNvSpPr txBox="1"/>
          <p:nvPr/>
        </p:nvSpPr>
        <p:spPr>
          <a:xfrm>
            <a:off x="365760" y="3566160"/>
            <a:ext cx="11430000" cy="914400"/>
          </a:xfrm>
          <a:prstGeom prst="rect">
            <a:avLst/>
          </a:prstGeom>
          <a:noFill/>
        </p:spPr>
        <p:txBody>
          <a:bodyPr wrap="square">
            <a:spAutoFit/>
          </a:bodyPr>
          <a:lstStyle/>
          <a:p>
            <a:pPr>
              <a:defRPr sz="2400" b="1">
                <a:solidFill>
                  <a:srgbClr val="FFC20E"/>
                </a:solidFill>
              </a:defRPr>
            </a:pPr>
            <a:r>
              <a:t>How people use and change landscapes - the Australian coast</a:t>
            </a:r>
          </a:p>
        </p:txBody>
      </p:sp>
      <p:sp>
        <p:nvSpPr>
          <p:cNvPr id="4" name="TextBox 3"/>
          <p:cNvSpPr txBox="1"/>
          <p:nvPr/>
        </p:nvSpPr>
        <p:spPr>
          <a:xfrm>
            <a:off x="548640" y="6537960"/>
            <a:ext cx="1645920" cy="274320"/>
          </a:xfrm>
          <a:prstGeom prst="rect">
            <a:avLst/>
          </a:prstGeom>
          <a:noFill/>
        </p:spPr>
        <p:txBody>
          <a:bodyPr wrap="square">
            <a:spAutoFit/>
          </a:bodyPr>
          <a:lstStyle/>
          <a:p>
            <a:pPr algn="l"/>
            <a:r>
              <a:rPr sz="900" b="0" i="1">
                <a:solidFill>
                  <a:srgbClr val="5D7680"/>
                </a:solidFill>
                <a:latin typeface="Open Sans"/>
              </a:rPr>
              <a:t>Perkins (2026)</a:t>
            </a:r>
          </a:p>
        </p:txBody>
      </p:sp>
      <p:sp>
        <p:nvSpPr>
          <p:cNvPr id="5" name="TextBox 4"/>
          <p:cNvSpPr txBox="1"/>
          <p:nvPr/>
        </p:nvSpPr>
        <p:spPr>
          <a:xfrm>
            <a:off x="2194560" y="6537960"/>
            <a:ext cx="2926080" cy="274320"/>
          </a:xfrm>
          <a:prstGeom prst="rect">
            <a:avLst/>
          </a:prstGeom>
          <a:noFill/>
        </p:spPr>
        <p:txBody>
          <a:bodyPr wrap="square">
            <a:spAutoFit/>
          </a:bodyPr>
          <a:lstStyle/>
          <a:p>
            <a:pPr algn="l"/>
            <a:r>
              <a:rPr sz="900" b="0" i="0">
                <a:solidFill>
                  <a:srgbClr val="5D7680"/>
                </a:solidFill>
                <a:latin typeface="Open Sans"/>
              </a:rPr>
              <a:t>Page 32 of 39</a:t>
            </a:r>
          </a:p>
        </p:txBody>
      </p:sp>
      <p:sp>
        <p:nvSpPr>
          <p:cNvPr id="6" name="TextBox 5"/>
          <p:cNvSpPr txBox="1"/>
          <p:nvPr/>
        </p:nvSpPr>
        <p:spPr>
          <a:xfrm>
            <a:off x="5120640" y="6537960"/>
            <a:ext cx="6492240" cy="274320"/>
          </a:xfrm>
          <a:prstGeom prst="rect">
            <a:avLst/>
          </a:prstGeom>
          <a:noFill/>
        </p:spPr>
        <p:txBody>
          <a:bodyPr wrap="square">
            <a:spAutoFit/>
          </a:bodyPr>
          <a:lstStyle/>
          <a:p>
            <a:pPr algn="r"/>
            <a:r>
              <a:rPr sz="900" b="0" i="0">
                <a:solidFill>
                  <a:srgbClr val="5D7680"/>
                </a:solidFill>
                <a:latin typeface="Open Sans"/>
              </a:rPr>
              <a:t>Landforms and Landscapes  |  Stage 4 Geography  |  REVISION deck</a:t>
            </a:r>
          </a:p>
        </p:txBody>
      </p:sp>
    </p:spTree>
  </p:cSld>
  <p:clrMapOvr>
    <a:masterClrMapping/>
  </p:clrMapOvr>
</p:sld>
</file>

<file path=ppt/slides/slide3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182880"/>
          </a:xfrm>
          <a:prstGeom prst="rect">
            <a:avLst/>
          </a:prstGeom>
          <a:solidFill>
            <a:srgbClr val="6AA69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365760" y="365760"/>
            <a:ext cx="11430000" cy="1188720"/>
          </a:xfrm>
          <a:prstGeom prst="rect">
            <a:avLst/>
          </a:prstGeom>
          <a:noFill/>
        </p:spPr>
        <p:txBody>
          <a:bodyPr wrap="square">
            <a:spAutoFit/>
          </a:bodyPr>
          <a:lstStyle/>
          <a:p>
            <a:pPr>
              <a:defRPr sz="2800" b="1">
                <a:solidFill>
                  <a:srgbClr val="003146"/>
                </a:solidFill>
              </a:defRPr>
            </a:pPr>
            <a:r>
              <a:t>Changing landscapes in Australia</a:t>
            </a:r>
          </a:p>
        </p:txBody>
      </p:sp>
      <p:sp>
        <p:nvSpPr>
          <p:cNvPr id="4" name="TextBox 3"/>
          <p:cNvSpPr txBox="1"/>
          <p:nvPr/>
        </p:nvSpPr>
        <p:spPr>
          <a:xfrm>
            <a:off x="548640" y="2909620"/>
            <a:ext cx="6126480" cy="4937760"/>
          </a:xfrm>
          <a:prstGeom prst="rect">
            <a:avLst/>
          </a:prstGeom>
          <a:noFill/>
        </p:spPr>
        <p:txBody>
          <a:bodyPr wrap="square">
            <a:spAutoFit/>
          </a:bodyPr>
          <a:lstStyle/>
          <a:p>
            <a:pPr algn="l">
              <a:spcAft>
                <a:spcPts val="1620"/>
              </a:spcAft>
              <a:defRPr sz="1800" b="1">
                <a:solidFill>
                  <a:srgbClr val="222630"/>
                </a:solidFill>
              </a:defRPr>
            </a:pPr>
            <a:r>
              <a:t>•  Coastal areas are heavily changed in Australia. 80% of the population lives within 50 km of the coast.</a:t>
            </a:r>
          </a:p>
          <a:p>
            <a:pPr algn="l">
              <a:spcAft>
                <a:spcPts val="0"/>
              </a:spcAft>
              <a:defRPr sz="1800" b="1">
                <a:solidFill>
                  <a:srgbClr val="222630"/>
                </a:solidFill>
              </a:defRPr>
            </a:pPr>
            <a:r>
              <a:t>•  A clash between economic value, liveability and aesthetic value can develop as more people move to the coast.</a:t>
            </a:r>
          </a:p>
        </p:txBody>
      </p:sp>
      <p:pic>
        <p:nvPicPr>
          <p:cNvPr id="5" name="Picture 4" descr="gold_coast_aerial.jpg"/>
          <p:cNvPicPr>
            <a:picLocks noChangeAspect="1"/>
          </p:cNvPicPr>
          <p:nvPr/>
        </p:nvPicPr>
        <p:blipFill>
          <a:blip r:embed="rId2"/>
          <a:srcRect l="7107" r="7107"/>
          <a:stretch>
            <a:fillRect/>
          </a:stretch>
        </p:blipFill>
        <p:spPr>
          <a:xfrm>
            <a:off x="6949440" y="1554480"/>
            <a:ext cx="4846320" cy="4480560"/>
          </a:xfrm>
          <a:prstGeom prst="rect">
            <a:avLst/>
          </a:prstGeom>
        </p:spPr>
      </p:pic>
      <p:sp>
        <p:nvSpPr>
          <p:cNvPr id="6" name="TextBox 5"/>
          <p:cNvSpPr txBox="1"/>
          <p:nvPr/>
        </p:nvSpPr>
        <p:spPr>
          <a:xfrm>
            <a:off x="6949440" y="6080760"/>
            <a:ext cx="4846320" cy="274320"/>
          </a:xfrm>
          <a:prstGeom prst="rect">
            <a:avLst/>
          </a:prstGeom>
          <a:noFill/>
        </p:spPr>
        <p:txBody>
          <a:bodyPr wrap="square">
            <a:spAutoFit/>
          </a:bodyPr>
          <a:lstStyle/>
          <a:p>
            <a:pPr algn="l"/>
            <a:r>
              <a:rPr sz="900" b="0" i="1">
                <a:solidFill>
                  <a:srgbClr val="5D7680"/>
                </a:solidFill>
                <a:latin typeface="Open Sans"/>
              </a:rPr>
              <a:t>Image: original resource, source listed in references.</a:t>
            </a:r>
          </a:p>
        </p:txBody>
      </p:sp>
      <p:sp>
        <p:nvSpPr>
          <p:cNvPr id="7" name="TextBox 6"/>
          <p:cNvSpPr txBox="1"/>
          <p:nvPr/>
        </p:nvSpPr>
        <p:spPr>
          <a:xfrm>
            <a:off x="548640" y="6537960"/>
            <a:ext cx="1645920" cy="274320"/>
          </a:xfrm>
          <a:prstGeom prst="rect">
            <a:avLst/>
          </a:prstGeom>
          <a:noFill/>
        </p:spPr>
        <p:txBody>
          <a:bodyPr wrap="square">
            <a:spAutoFit/>
          </a:bodyPr>
          <a:lstStyle/>
          <a:p>
            <a:pPr algn="l"/>
            <a:r>
              <a:rPr sz="900" b="0" i="1">
                <a:solidFill>
                  <a:srgbClr val="5D7680"/>
                </a:solidFill>
                <a:latin typeface="Open Sans"/>
              </a:rPr>
              <a:t>Perkins (2026)</a:t>
            </a:r>
          </a:p>
        </p:txBody>
      </p:sp>
      <p:sp>
        <p:nvSpPr>
          <p:cNvPr id="8" name="TextBox 7"/>
          <p:cNvSpPr txBox="1"/>
          <p:nvPr/>
        </p:nvSpPr>
        <p:spPr>
          <a:xfrm>
            <a:off x="2194560" y="6537960"/>
            <a:ext cx="2926080" cy="274320"/>
          </a:xfrm>
          <a:prstGeom prst="rect">
            <a:avLst/>
          </a:prstGeom>
          <a:noFill/>
        </p:spPr>
        <p:txBody>
          <a:bodyPr wrap="square">
            <a:spAutoFit/>
          </a:bodyPr>
          <a:lstStyle/>
          <a:p>
            <a:pPr algn="l"/>
            <a:r>
              <a:rPr sz="900" b="0" i="0">
                <a:solidFill>
                  <a:srgbClr val="5D7680"/>
                </a:solidFill>
                <a:latin typeface="Open Sans"/>
              </a:rPr>
              <a:t>Page 33 of 39</a:t>
            </a:r>
          </a:p>
        </p:txBody>
      </p:sp>
      <p:sp>
        <p:nvSpPr>
          <p:cNvPr id="9" name="TextBox 8"/>
          <p:cNvSpPr txBox="1"/>
          <p:nvPr/>
        </p:nvSpPr>
        <p:spPr>
          <a:xfrm>
            <a:off x="5120640" y="6537960"/>
            <a:ext cx="6492240" cy="274320"/>
          </a:xfrm>
          <a:prstGeom prst="rect">
            <a:avLst/>
          </a:prstGeom>
          <a:noFill/>
        </p:spPr>
        <p:txBody>
          <a:bodyPr wrap="square">
            <a:spAutoFit/>
          </a:bodyPr>
          <a:lstStyle/>
          <a:p>
            <a:pPr algn="r"/>
            <a:r>
              <a:rPr sz="900" b="0" i="0">
                <a:solidFill>
                  <a:srgbClr val="5D7680"/>
                </a:solidFill>
                <a:latin typeface="Open Sans"/>
              </a:rPr>
              <a:t>Landforms and Landscapes  |  Stage 4 Geography  |  REVISION deck</a:t>
            </a:r>
          </a:p>
        </p:txBody>
      </p:sp>
    </p:spTree>
  </p:cSld>
  <p:clrMapOvr>
    <a:masterClrMapping/>
  </p:clrMapOvr>
</p:sld>
</file>

<file path=ppt/slides/slide3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365760" y="365760"/>
            <a:ext cx="11430000" cy="1188720"/>
          </a:xfrm>
          <a:prstGeom prst="rect">
            <a:avLst/>
          </a:prstGeom>
          <a:noFill/>
        </p:spPr>
        <p:txBody>
          <a:bodyPr wrap="square">
            <a:spAutoFit/>
          </a:bodyPr>
          <a:lstStyle/>
          <a:p>
            <a:pPr>
              <a:defRPr sz="2600" b="1">
                <a:solidFill>
                  <a:srgbClr val="003146"/>
                </a:solidFill>
              </a:defRPr>
            </a:pPr>
            <a:r>
              <a:t>Over to you</a:t>
            </a:r>
          </a:p>
        </p:txBody>
      </p:sp>
      <p:sp>
        <p:nvSpPr>
          <p:cNvPr id="3" name="Rounded Rectangle 2"/>
          <p:cNvSpPr/>
          <p:nvPr/>
        </p:nvSpPr>
        <p:spPr>
          <a:xfrm>
            <a:off x="548640" y="1051560"/>
            <a:ext cx="11064240" cy="1188720"/>
          </a:xfrm>
          <a:prstGeom prst="roundRect">
            <a:avLst>
              <a:gd name="adj" fmla="val 8000"/>
            </a:avLst>
          </a:prstGeom>
          <a:solidFill>
            <a:srgbClr val="F7EEE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868680" y="1188720"/>
            <a:ext cx="10424160" cy="914400"/>
          </a:xfrm>
          <a:prstGeom prst="rect">
            <a:avLst/>
          </a:prstGeom>
          <a:noFill/>
        </p:spPr>
        <p:txBody>
          <a:bodyPr wrap="square">
            <a:spAutoFit/>
          </a:bodyPr>
          <a:lstStyle/>
          <a:p>
            <a:pPr algn="l"/>
            <a:r>
              <a:rPr sz="1700" b="0" i="0">
                <a:solidFill>
                  <a:srgbClr val="33424B"/>
                </a:solidFill>
                <a:latin typeface="Open Sans"/>
              </a:rPr>
              <a:t>List the reasons why Australians live on the coast.</a:t>
            </a:r>
          </a:p>
        </p:txBody>
      </p:sp>
      <p:pic>
        <p:nvPicPr>
          <p:cNvPr id="5" name="Picture 4" descr="gold_coast_aerial.jpg"/>
          <p:cNvPicPr>
            <a:picLocks noChangeAspect="1"/>
          </p:cNvPicPr>
          <p:nvPr/>
        </p:nvPicPr>
        <p:blipFill>
          <a:blip r:embed="rId2"/>
          <a:srcRect t="17218" b="17218"/>
          <a:stretch>
            <a:fillRect/>
          </a:stretch>
        </p:blipFill>
        <p:spPr>
          <a:xfrm>
            <a:off x="2666847" y="2468880"/>
            <a:ext cx="6858000" cy="3566160"/>
          </a:xfrm>
          <a:prstGeom prst="rect">
            <a:avLst/>
          </a:prstGeom>
        </p:spPr>
      </p:pic>
      <p:sp>
        <p:nvSpPr>
          <p:cNvPr id="6" name="TextBox 5"/>
          <p:cNvSpPr txBox="1"/>
          <p:nvPr/>
        </p:nvSpPr>
        <p:spPr>
          <a:xfrm>
            <a:off x="2666847" y="6080759"/>
            <a:ext cx="6858000" cy="274320"/>
          </a:xfrm>
          <a:prstGeom prst="rect">
            <a:avLst/>
          </a:prstGeom>
          <a:noFill/>
        </p:spPr>
        <p:txBody>
          <a:bodyPr wrap="square">
            <a:spAutoFit/>
          </a:bodyPr>
          <a:lstStyle/>
          <a:p>
            <a:pPr algn="ctr"/>
            <a:r>
              <a:rPr sz="900" b="0" i="1">
                <a:solidFill>
                  <a:srgbClr val="5D7680"/>
                </a:solidFill>
                <a:latin typeface="Open Sans"/>
              </a:rPr>
              <a:t>Image: original resource, source listed in references.</a:t>
            </a:r>
          </a:p>
        </p:txBody>
      </p:sp>
      <p:sp>
        <p:nvSpPr>
          <p:cNvPr id="7" name="TextBox 6"/>
          <p:cNvSpPr txBox="1"/>
          <p:nvPr/>
        </p:nvSpPr>
        <p:spPr>
          <a:xfrm>
            <a:off x="548640" y="6172200"/>
            <a:ext cx="11064240" cy="320040"/>
          </a:xfrm>
          <a:prstGeom prst="rect">
            <a:avLst/>
          </a:prstGeom>
          <a:noFill/>
        </p:spPr>
        <p:txBody>
          <a:bodyPr wrap="square">
            <a:spAutoFit/>
          </a:bodyPr>
          <a:lstStyle/>
          <a:p>
            <a:pPr algn="l"/>
            <a:r>
              <a:rPr sz="1300" b="0" i="1">
                <a:solidFill>
                  <a:srgbClr val="6AA69B"/>
                </a:solidFill>
                <a:latin typeface="Open Sans"/>
              </a:rPr>
              <a:t>Think about climate, jobs, lifestyle and access to the water.</a:t>
            </a:r>
          </a:p>
        </p:txBody>
      </p:sp>
      <p:sp>
        <p:nvSpPr>
          <p:cNvPr id="8" name="TextBox 7"/>
          <p:cNvSpPr txBox="1"/>
          <p:nvPr/>
        </p:nvSpPr>
        <p:spPr>
          <a:xfrm>
            <a:off x="548640" y="6537960"/>
            <a:ext cx="1645920" cy="274320"/>
          </a:xfrm>
          <a:prstGeom prst="rect">
            <a:avLst/>
          </a:prstGeom>
          <a:noFill/>
        </p:spPr>
        <p:txBody>
          <a:bodyPr wrap="square">
            <a:spAutoFit/>
          </a:bodyPr>
          <a:lstStyle/>
          <a:p>
            <a:pPr algn="l"/>
            <a:r>
              <a:rPr sz="900" b="0" i="1">
                <a:solidFill>
                  <a:srgbClr val="5D7680"/>
                </a:solidFill>
                <a:latin typeface="Open Sans"/>
              </a:rPr>
              <a:t>Perkins (2026)</a:t>
            </a:r>
          </a:p>
        </p:txBody>
      </p:sp>
      <p:sp>
        <p:nvSpPr>
          <p:cNvPr id="9" name="TextBox 8"/>
          <p:cNvSpPr txBox="1"/>
          <p:nvPr/>
        </p:nvSpPr>
        <p:spPr>
          <a:xfrm>
            <a:off x="2194560" y="6537960"/>
            <a:ext cx="2926080" cy="274320"/>
          </a:xfrm>
          <a:prstGeom prst="rect">
            <a:avLst/>
          </a:prstGeom>
          <a:noFill/>
        </p:spPr>
        <p:txBody>
          <a:bodyPr wrap="square">
            <a:spAutoFit/>
          </a:bodyPr>
          <a:lstStyle/>
          <a:p>
            <a:pPr algn="l"/>
            <a:r>
              <a:rPr sz="900" b="0" i="0">
                <a:solidFill>
                  <a:srgbClr val="5D7680"/>
                </a:solidFill>
                <a:latin typeface="Open Sans"/>
              </a:rPr>
              <a:t>Page 34 of 39</a:t>
            </a:r>
          </a:p>
        </p:txBody>
      </p:sp>
      <p:sp>
        <p:nvSpPr>
          <p:cNvPr id="10" name="TextBox 9"/>
          <p:cNvSpPr txBox="1"/>
          <p:nvPr/>
        </p:nvSpPr>
        <p:spPr>
          <a:xfrm>
            <a:off x="5120640" y="6537960"/>
            <a:ext cx="6492240" cy="274320"/>
          </a:xfrm>
          <a:prstGeom prst="rect">
            <a:avLst/>
          </a:prstGeom>
          <a:noFill/>
        </p:spPr>
        <p:txBody>
          <a:bodyPr wrap="square">
            <a:spAutoFit/>
          </a:bodyPr>
          <a:lstStyle/>
          <a:p>
            <a:pPr algn="r"/>
            <a:r>
              <a:rPr sz="900" b="0" i="0">
                <a:solidFill>
                  <a:srgbClr val="5D7680"/>
                </a:solidFill>
                <a:latin typeface="Open Sans"/>
              </a:rPr>
              <a:t>Landforms and Landscapes  |  Stage 4 Geography  |  REVISION deck</a:t>
            </a:r>
          </a:p>
        </p:txBody>
      </p:sp>
    </p:spTree>
  </p:cSld>
  <p:clrMapOvr>
    <a:masterClrMapping/>
  </p:clrMapOvr>
</p:sld>
</file>

<file path=ppt/slides/slide3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182880"/>
          </a:xfrm>
          <a:prstGeom prst="rect">
            <a:avLst/>
          </a:prstGeom>
          <a:solidFill>
            <a:srgbClr val="6AA69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365760" y="365760"/>
            <a:ext cx="11430000" cy="1188720"/>
          </a:xfrm>
          <a:prstGeom prst="rect">
            <a:avLst/>
          </a:prstGeom>
          <a:noFill/>
        </p:spPr>
        <p:txBody>
          <a:bodyPr wrap="square">
            <a:spAutoFit/>
          </a:bodyPr>
          <a:lstStyle/>
          <a:p>
            <a:pPr>
              <a:defRPr sz="2800" b="1">
                <a:solidFill>
                  <a:srgbClr val="003146"/>
                </a:solidFill>
              </a:defRPr>
            </a:pPr>
            <a:r>
              <a:t>Australia's population: where people live</a:t>
            </a:r>
          </a:p>
        </p:txBody>
      </p:sp>
      <p:pic>
        <p:nvPicPr>
          <p:cNvPr id="4" name="Picture 3" descr="slide37_hires-37.jpg"/>
          <p:cNvPicPr>
            <a:picLocks noChangeAspect="1"/>
          </p:cNvPicPr>
          <p:nvPr/>
        </p:nvPicPr>
        <p:blipFill>
          <a:blip r:embed="rId2"/>
          <a:stretch>
            <a:fillRect/>
          </a:stretch>
        </p:blipFill>
        <p:spPr>
          <a:xfrm>
            <a:off x="3045588" y="1371600"/>
            <a:ext cx="6100518" cy="4572000"/>
          </a:xfrm>
          <a:prstGeom prst="rect">
            <a:avLst/>
          </a:prstGeom>
        </p:spPr>
      </p:pic>
      <p:sp>
        <p:nvSpPr>
          <p:cNvPr id="5" name="TextBox 4"/>
          <p:cNvSpPr txBox="1"/>
          <p:nvPr/>
        </p:nvSpPr>
        <p:spPr>
          <a:xfrm>
            <a:off x="548640" y="5989320"/>
            <a:ext cx="11064240" cy="274320"/>
          </a:xfrm>
          <a:prstGeom prst="rect">
            <a:avLst/>
          </a:prstGeom>
          <a:noFill/>
        </p:spPr>
        <p:txBody>
          <a:bodyPr wrap="square">
            <a:spAutoFit/>
          </a:bodyPr>
          <a:lstStyle/>
          <a:p>
            <a:pPr algn="ctr"/>
            <a:r>
              <a:rPr sz="1200" b="0" i="1">
                <a:solidFill>
                  <a:srgbClr val="33424B"/>
                </a:solidFill>
                <a:latin typeface="Open Sans"/>
              </a:rPr>
              <a:t>Most Australians live in the coastal south-east - NSW and Victoria together hold over half the population.</a:t>
            </a:r>
          </a:p>
        </p:txBody>
      </p:sp>
      <p:sp>
        <p:nvSpPr>
          <p:cNvPr id="6" name="TextBox 5"/>
          <p:cNvSpPr txBox="1"/>
          <p:nvPr/>
        </p:nvSpPr>
        <p:spPr>
          <a:xfrm>
            <a:off x="548640" y="6263640"/>
            <a:ext cx="11064240" cy="228600"/>
          </a:xfrm>
          <a:prstGeom prst="rect">
            <a:avLst/>
          </a:prstGeom>
          <a:noFill/>
        </p:spPr>
        <p:txBody>
          <a:bodyPr wrap="square">
            <a:spAutoFit/>
          </a:bodyPr>
          <a:lstStyle/>
          <a:p>
            <a:pPr algn="ctr"/>
            <a:r>
              <a:rPr sz="900" b="0" i="1">
                <a:solidFill>
                  <a:srgbClr val="5D7680"/>
                </a:solidFill>
                <a:latin typeface="Open Sans"/>
              </a:rPr>
              <a:t>Source: McCrindle Research, "Australia's Population Map", based on ABS data.</a:t>
            </a:r>
          </a:p>
        </p:txBody>
      </p:sp>
      <p:sp>
        <p:nvSpPr>
          <p:cNvPr id="7" name="TextBox 6"/>
          <p:cNvSpPr txBox="1"/>
          <p:nvPr/>
        </p:nvSpPr>
        <p:spPr>
          <a:xfrm>
            <a:off x="548640" y="6537960"/>
            <a:ext cx="1645920" cy="274320"/>
          </a:xfrm>
          <a:prstGeom prst="rect">
            <a:avLst/>
          </a:prstGeom>
          <a:noFill/>
        </p:spPr>
        <p:txBody>
          <a:bodyPr wrap="square">
            <a:spAutoFit/>
          </a:bodyPr>
          <a:lstStyle/>
          <a:p>
            <a:pPr algn="l"/>
            <a:r>
              <a:rPr sz="900" b="0" i="1">
                <a:solidFill>
                  <a:srgbClr val="5D7680"/>
                </a:solidFill>
                <a:latin typeface="Open Sans"/>
              </a:rPr>
              <a:t>Perkins (2026)</a:t>
            </a:r>
          </a:p>
        </p:txBody>
      </p:sp>
      <p:sp>
        <p:nvSpPr>
          <p:cNvPr id="8" name="TextBox 7"/>
          <p:cNvSpPr txBox="1"/>
          <p:nvPr/>
        </p:nvSpPr>
        <p:spPr>
          <a:xfrm>
            <a:off x="2194560" y="6537960"/>
            <a:ext cx="2926080" cy="274320"/>
          </a:xfrm>
          <a:prstGeom prst="rect">
            <a:avLst/>
          </a:prstGeom>
          <a:noFill/>
        </p:spPr>
        <p:txBody>
          <a:bodyPr wrap="square">
            <a:spAutoFit/>
          </a:bodyPr>
          <a:lstStyle/>
          <a:p>
            <a:pPr algn="l"/>
            <a:r>
              <a:rPr sz="900" b="0" i="0">
                <a:solidFill>
                  <a:srgbClr val="5D7680"/>
                </a:solidFill>
                <a:latin typeface="Open Sans"/>
              </a:rPr>
              <a:t>Page 35 of 39</a:t>
            </a:r>
          </a:p>
        </p:txBody>
      </p:sp>
      <p:sp>
        <p:nvSpPr>
          <p:cNvPr id="9" name="TextBox 8"/>
          <p:cNvSpPr txBox="1"/>
          <p:nvPr/>
        </p:nvSpPr>
        <p:spPr>
          <a:xfrm>
            <a:off x="5120640" y="6537960"/>
            <a:ext cx="6492240" cy="274320"/>
          </a:xfrm>
          <a:prstGeom prst="rect">
            <a:avLst/>
          </a:prstGeom>
          <a:noFill/>
        </p:spPr>
        <p:txBody>
          <a:bodyPr wrap="square">
            <a:spAutoFit/>
          </a:bodyPr>
          <a:lstStyle/>
          <a:p>
            <a:pPr algn="r"/>
            <a:r>
              <a:rPr sz="900" b="0" i="0">
                <a:solidFill>
                  <a:srgbClr val="5D7680"/>
                </a:solidFill>
                <a:latin typeface="Open Sans"/>
              </a:rPr>
              <a:t>Landforms and Landscapes  |  Stage 4 Geography  |  REVISION deck</a:t>
            </a:r>
          </a:p>
        </p:txBody>
      </p:sp>
    </p:spTree>
  </p:cSld>
  <p:clrMapOvr>
    <a:masterClrMapping/>
  </p:clrMapOvr>
</p:sld>
</file>

<file path=ppt/slides/slide3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182880"/>
          </a:xfrm>
          <a:prstGeom prst="rect">
            <a:avLst/>
          </a:prstGeom>
          <a:solidFill>
            <a:srgbClr val="6AA69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365760" y="365760"/>
            <a:ext cx="11430000" cy="1188720"/>
          </a:xfrm>
          <a:prstGeom prst="rect">
            <a:avLst/>
          </a:prstGeom>
          <a:noFill/>
        </p:spPr>
        <p:txBody>
          <a:bodyPr wrap="square">
            <a:spAutoFit/>
          </a:bodyPr>
          <a:lstStyle/>
          <a:p>
            <a:pPr>
              <a:defRPr sz="2800" b="1">
                <a:solidFill>
                  <a:srgbClr val="003146"/>
                </a:solidFill>
              </a:defRPr>
            </a:pPr>
            <a:r>
              <a:t>Coastal issues for Australia</a:t>
            </a:r>
          </a:p>
        </p:txBody>
      </p:sp>
      <p:sp>
        <p:nvSpPr>
          <p:cNvPr id="4" name="TextBox 3"/>
          <p:cNvSpPr txBox="1"/>
          <p:nvPr/>
        </p:nvSpPr>
        <p:spPr>
          <a:xfrm>
            <a:off x="548640" y="1554480"/>
            <a:ext cx="6126480" cy="4937760"/>
          </a:xfrm>
          <a:prstGeom prst="rect">
            <a:avLst/>
          </a:prstGeom>
          <a:noFill/>
        </p:spPr>
        <p:txBody>
          <a:bodyPr wrap="square">
            <a:spAutoFit/>
          </a:bodyPr>
          <a:lstStyle/>
          <a:p>
            <a:pPr algn="l">
              <a:spcAft>
                <a:spcPts val="3230"/>
              </a:spcAft>
              <a:defRPr sz="1800" b="1">
                <a:solidFill>
                  <a:srgbClr val="222630"/>
                </a:solidFill>
              </a:defRPr>
            </a:pPr>
            <a:r>
              <a:t>•  Stormwater run-off and sewage flow into rivers, the sea and wetlands, threatening recreation, human health and ecosystems.</a:t>
            </a:r>
          </a:p>
          <a:p>
            <a:pPr algn="l">
              <a:spcAft>
                <a:spcPts val="3230"/>
              </a:spcAft>
              <a:defRPr sz="1800" b="1">
                <a:solidFill>
                  <a:srgbClr val="222630"/>
                </a:solidFill>
              </a:defRPr>
            </a:pPr>
            <a:r>
              <a:t>•  Pesticides, fertilisers and other chemicals are released into stormwater or sewerage systems, increasing pollution.</a:t>
            </a:r>
          </a:p>
          <a:p>
            <a:pPr algn="l">
              <a:spcAft>
                <a:spcPts val="3230"/>
              </a:spcAft>
              <a:defRPr sz="1800" b="1">
                <a:solidFill>
                  <a:srgbClr val="222630"/>
                </a:solidFill>
              </a:defRPr>
            </a:pPr>
            <a:r>
              <a:t>•  Coastal native bush and habitat is lost as city margins expand along the coast in a ribbon.</a:t>
            </a:r>
          </a:p>
          <a:p>
            <a:pPr algn="l">
              <a:spcAft>
                <a:spcPts val="3230"/>
              </a:spcAft>
              <a:defRPr sz="1800" b="1">
                <a:solidFill>
                  <a:srgbClr val="222630"/>
                </a:solidFill>
              </a:defRPr>
            </a:pPr>
            <a:r>
              <a:t>•  Coastal wetlands are destroyed, leading to a loss of nursery grounds for fisheries.</a:t>
            </a:r>
          </a:p>
          <a:p>
            <a:pPr algn="l">
              <a:spcAft>
                <a:spcPts val="0"/>
              </a:spcAft>
              <a:defRPr sz="1800" b="1">
                <a:solidFill>
                  <a:srgbClr val="222630"/>
                </a:solidFill>
              </a:defRPr>
            </a:pPr>
            <a:r>
              <a:t>•  Toxic waste can be released from old coastal industrial sites or rubbish dumps during redevelopment.</a:t>
            </a:r>
          </a:p>
        </p:txBody>
      </p:sp>
      <p:pic>
        <p:nvPicPr>
          <p:cNvPr id="5" name="Picture 4" descr="oil_gas_ports_map.jpg"/>
          <p:cNvPicPr>
            <a:picLocks noChangeAspect="1"/>
          </p:cNvPicPr>
          <p:nvPr/>
        </p:nvPicPr>
        <p:blipFill>
          <a:blip r:embed="rId2"/>
          <a:srcRect l="9670" r="9670"/>
          <a:stretch>
            <a:fillRect/>
          </a:stretch>
        </p:blipFill>
        <p:spPr>
          <a:xfrm>
            <a:off x="6949440" y="1554480"/>
            <a:ext cx="4846320" cy="4480560"/>
          </a:xfrm>
          <a:prstGeom prst="rect">
            <a:avLst/>
          </a:prstGeom>
        </p:spPr>
      </p:pic>
      <p:sp>
        <p:nvSpPr>
          <p:cNvPr id="6" name="TextBox 5"/>
          <p:cNvSpPr txBox="1"/>
          <p:nvPr/>
        </p:nvSpPr>
        <p:spPr>
          <a:xfrm>
            <a:off x="6949440" y="6080760"/>
            <a:ext cx="4846320" cy="274320"/>
          </a:xfrm>
          <a:prstGeom prst="rect">
            <a:avLst/>
          </a:prstGeom>
          <a:noFill/>
        </p:spPr>
        <p:txBody>
          <a:bodyPr wrap="square">
            <a:spAutoFit/>
          </a:bodyPr>
          <a:lstStyle/>
          <a:p>
            <a:pPr algn="l"/>
            <a:r>
              <a:rPr sz="900" b="0" i="1">
                <a:solidFill>
                  <a:srgbClr val="5D7680"/>
                </a:solidFill>
                <a:latin typeface="Open Sans"/>
              </a:rPr>
              <a:t>Text and map (Source 3.10): as featured in the original source deck - original textbook not independently verified.</a:t>
            </a:r>
          </a:p>
        </p:txBody>
      </p:sp>
      <p:sp>
        <p:nvSpPr>
          <p:cNvPr id="7" name="TextBox 6"/>
          <p:cNvSpPr txBox="1"/>
          <p:nvPr/>
        </p:nvSpPr>
        <p:spPr>
          <a:xfrm>
            <a:off x="548640" y="6537960"/>
            <a:ext cx="1645920" cy="274320"/>
          </a:xfrm>
          <a:prstGeom prst="rect">
            <a:avLst/>
          </a:prstGeom>
          <a:noFill/>
        </p:spPr>
        <p:txBody>
          <a:bodyPr wrap="square">
            <a:spAutoFit/>
          </a:bodyPr>
          <a:lstStyle/>
          <a:p>
            <a:pPr algn="l"/>
            <a:r>
              <a:rPr sz="900" b="0" i="1">
                <a:solidFill>
                  <a:srgbClr val="5D7680"/>
                </a:solidFill>
                <a:latin typeface="Open Sans"/>
              </a:rPr>
              <a:t>Perkins (2026)</a:t>
            </a:r>
          </a:p>
        </p:txBody>
      </p:sp>
      <p:sp>
        <p:nvSpPr>
          <p:cNvPr id="8" name="TextBox 7"/>
          <p:cNvSpPr txBox="1"/>
          <p:nvPr/>
        </p:nvSpPr>
        <p:spPr>
          <a:xfrm>
            <a:off x="2194560" y="6537960"/>
            <a:ext cx="2926080" cy="274320"/>
          </a:xfrm>
          <a:prstGeom prst="rect">
            <a:avLst/>
          </a:prstGeom>
          <a:noFill/>
        </p:spPr>
        <p:txBody>
          <a:bodyPr wrap="square">
            <a:spAutoFit/>
          </a:bodyPr>
          <a:lstStyle/>
          <a:p>
            <a:pPr algn="l"/>
            <a:r>
              <a:rPr sz="900" b="0" i="0">
                <a:solidFill>
                  <a:srgbClr val="5D7680"/>
                </a:solidFill>
                <a:latin typeface="Open Sans"/>
              </a:rPr>
              <a:t>Page 36 of 39</a:t>
            </a:r>
          </a:p>
        </p:txBody>
      </p:sp>
      <p:sp>
        <p:nvSpPr>
          <p:cNvPr id="9" name="TextBox 8"/>
          <p:cNvSpPr txBox="1"/>
          <p:nvPr/>
        </p:nvSpPr>
        <p:spPr>
          <a:xfrm>
            <a:off x="5120640" y="6537960"/>
            <a:ext cx="6492240" cy="274320"/>
          </a:xfrm>
          <a:prstGeom prst="rect">
            <a:avLst/>
          </a:prstGeom>
          <a:noFill/>
        </p:spPr>
        <p:txBody>
          <a:bodyPr wrap="square">
            <a:spAutoFit/>
          </a:bodyPr>
          <a:lstStyle/>
          <a:p>
            <a:pPr algn="r"/>
            <a:r>
              <a:rPr sz="900" b="0" i="0">
                <a:solidFill>
                  <a:srgbClr val="5D7680"/>
                </a:solidFill>
                <a:latin typeface="Open Sans"/>
              </a:rPr>
              <a:t>Landforms and Landscapes  |  Stage 4 Geography  |  REVISION deck</a:t>
            </a:r>
          </a:p>
        </p:txBody>
      </p:sp>
    </p:spTree>
  </p:cSld>
  <p:clrMapOvr>
    <a:masterClrMapping/>
  </p:clrMapOvr>
</p:sld>
</file>

<file path=ppt/slides/slide3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182880"/>
          </a:xfrm>
          <a:prstGeom prst="rect">
            <a:avLst/>
          </a:prstGeom>
          <a:solidFill>
            <a:srgbClr val="6AA69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320040"/>
            <a:ext cx="11064240" cy="640080"/>
          </a:xfrm>
          <a:prstGeom prst="rect">
            <a:avLst/>
          </a:prstGeom>
          <a:noFill/>
        </p:spPr>
        <p:txBody>
          <a:bodyPr wrap="square">
            <a:spAutoFit/>
          </a:bodyPr>
          <a:lstStyle/>
          <a:p>
            <a:pPr algn="l"/>
            <a:r>
              <a:rPr sz="2800" b="1" i="0">
                <a:solidFill>
                  <a:srgbClr val="003146"/>
                </a:solidFill>
                <a:latin typeface="Merriweather"/>
              </a:rPr>
              <a:t>References - sources used in this deck</a:t>
            </a:r>
          </a:p>
        </p:txBody>
      </p:sp>
      <p:sp>
        <p:nvSpPr>
          <p:cNvPr id="4" name="TextBox 3"/>
          <p:cNvSpPr txBox="1"/>
          <p:nvPr/>
        </p:nvSpPr>
        <p:spPr>
          <a:xfrm>
            <a:off x="548640" y="1188720"/>
            <a:ext cx="11064240" cy="548386"/>
          </a:xfrm>
          <a:prstGeom prst="rect">
            <a:avLst/>
          </a:prstGeom>
          <a:noFill/>
        </p:spPr>
        <p:txBody>
          <a:bodyPr wrap="square">
            <a:spAutoFit/>
          </a:bodyPr>
          <a:lstStyle/>
          <a:p>
            <a:pPr algn="l"/>
            <a:r>
              <a:rPr sz="1400" b="1" i="0">
                <a:solidFill>
                  <a:srgbClr val="222630"/>
                </a:solidFill>
                <a:latin typeface="Open Sans"/>
              </a:rPr>
              <a:t>Shipp, A. Landforms and Landscapes (Year 7 Geography, Topic 2) - original source deck for this resource</a:t>
            </a:r>
          </a:p>
        </p:txBody>
      </p:sp>
      <p:sp>
        <p:nvSpPr>
          <p:cNvPr id="5" name="TextBox 4"/>
          <p:cNvSpPr txBox="1"/>
          <p:nvPr/>
        </p:nvSpPr>
        <p:spPr>
          <a:xfrm>
            <a:off x="548640" y="1410970"/>
            <a:ext cx="11064240" cy="548386"/>
          </a:xfrm>
          <a:prstGeom prst="rect">
            <a:avLst/>
          </a:prstGeom>
          <a:noFill/>
        </p:spPr>
        <p:txBody>
          <a:bodyPr wrap="square">
            <a:spAutoFit/>
          </a:bodyPr>
          <a:lstStyle/>
          <a:p>
            <a:r>
              <a:rPr sz="1300" u="sng">
                <a:solidFill>
                  <a:srgbClr val="1C559E"/>
                </a:solidFill>
                <a:hlinkClick r:id="rId2"/>
              </a:rPr>
              <a:t>https://www.slideshare.net/adeshipp/landforms-and-landscapes</a:t>
            </a:r>
          </a:p>
        </p:txBody>
      </p:sp>
      <p:sp>
        <p:nvSpPr>
          <p:cNvPr id="6" name="TextBox 5"/>
          <p:cNvSpPr txBox="1"/>
          <p:nvPr/>
        </p:nvSpPr>
        <p:spPr>
          <a:xfrm>
            <a:off x="548640" y="1770538"/>
            <a:ext cx="11064240" cy="548386"/>
          </a:xfrm>
          <a:prstGeom prst="rect">
            <a:avLst/>
          </a:prstGeom>
          <a:noFill/>
        </p:spPr>
        <p:txBody>
          <a:bodyPr wrap="square">
            <a:spAutoFit/>
          </a:bodyPr>
          <a:lstStyle/>
          <a:p>
            <a:pPr algn="l"/>
            <a:r>
              <a:rPr sz="1400" b="1" i="0">
                <a:solidFill>
                  <a:srgbClr val="222630"/>
                </a:solidFill>
                <a:latin typeface="Open Sans"/>
              </a:rPr>
              <a:t>NASA. The Blue Marble (Apollo 17, 1972)</a:t>
            </a:r>
          </a:p>
        </p:txBody>
      </p:sp>
      <p:sp>
        <p:nvSpPr>
          <p:cNvPr id="7" name="TextBox 6"/>
          <p:cNvSpPr txBox="1"/>
          <p:nvPr/>
        </p:nvSpPr>
        <p:spPr>
          <a:xfrm>
            <a:off x="548640" y="1992788"/>
            <a:ext cx="11064240" cy="548386"/>
          </a:xfrm>
          <a:prstGeom prst="rect">
            <a:avLst/>
          </a:prstGeom>
          <a:noFill/>
        </p:spPr>
        <p:txBody>
          <a:bodyPr wrap="square">
            <a:spAutoFit/>
          </a:bodyPr>
          <a:lstStyle/>
          <a:p>
            <a:r>
              <a:rPr sz="1300" u="sng">
                <a:solidFill>
                  <a:srgbClr val="1C559E"/>
                </a:solidFill>
                <a:hlinkClick r:id="rId3"/>
              </a:rPr>
              <a:t>https://visibleearth.nasa.gov/images/55418/blue-marble-the-earth-seen-from-apollo-17</a:t>
            </a:r>
          </a:p>
        </p:txBody>
      </p:sp>
      <p:sp>
        <p:nvSpPr>
          <p:cNvPr id="8" name="TextBox 7"/>
          <p:cNvSpPr txBox="1"/>
          <p:nvPr/>
        </p:nvSpPr>
        <p:spPr>
          <a:xfrm>
            <a:off x="548640" y="2352357"/>
            <a:ext cx="11064240" cy="548386"/>
          </a:xfrm>
          <a:prstGeom prst="rect">
            <a:avLst/>
          </a:prstGeom>
          <a:noFill/>
        </p:spPr>
        <p:txBody>
          <a:bodyPr wrap="square">
            <a:spAutoFit/>
          </a:bodyPr>
          <a:lstStyle/>
          <a:p>
            <a:pPr algn="l"/>
            <a:r>
              <a:rPr sz="1400" b="1" i="0">
                <a:solidFill>
                  <a:srgbClr val="222630"/>
                </a:solidFill>
                <a:latin typeface="Open Sans"/>
              </a:rPr>
              <a:t>NASA Goddard Space Flight Center. Digital Tectonic Activity Map of the Earth</a:t>
            </a:r>
          </a:p>
        </p:txBody>
      </p:sp>
      <p:sp>
        <p:nvSpPr>
          <p:cNvPr id="9" name="TextBox 8"/>
          <p:cNvSpPr txBox="1"/>
          <p:nvPr/>
        </p:nvSpPr>
        <p:spPr>
          <a:xfrm>
            <a:off x="548640" y="2574607"/>
            <a:ext cx="11064240" cy="548386"/>
          </a:xfrm>
          <a:prstGeom prst="rect">
            <a:avLst/>
          </a:prstGeom>
          <a:noFill/>
        </p:spPr>
        <p:txBody>
          <a:bodyPr wrap="square">
            <a:spAutoFit/>
          </a:bodyPr>
          <a:lstStyle/>
          <a:p>
            <a:r>
              <a:rPr sz="1300" u="sng">
                <a:solidFill>
                  <a:srgbClr val="1C559E"/>
                </a:solidFill>
                <a:hlinkClick r:id="rId4"/>
              </a:rPr>
              <a:t>https://denali.gsfc.nasa.gov/dtam/</a:t>
            </a:r>
          </a:p>
        </p:txBody>
      </p:sp>
      <p:sp>
        <p:nvSpPr>
          <p:cNvPr id="10" name="TextBox 9"/>
          <p:cNvSpPr txBox="1"/>
          <p:nvPr/>
        </p:nvSpPr>
        <p:spPr>
          <a:xfrm>
            <a:off x="548640" y="2934176"/>
            <a:ext cx="11064240" cy="548386"/>
          </a:xfrm>
          <a:prstGeom prst="rect">
            <a:avLst/>
          </a:prstGeom>
          <a:noFill/>
        </p:spPr>
        <p:txBody>
          <a:bodyPr wrap="square">
            <a:spAutoFit/>
          </a:bodyPr>
          <a:lstStyle/>
          <a:p>
            <a:pPr algn="l"/>
            <a:r>
              <a:rPr sz="1400" b="1" i="0">
                <a:solidFill>
                  <a:srgbClr val="222630"/>
                </a:solidFill>
                <a:latin typeface="Open Sans"/>
              </a:rPr>
              <a:t>ABC Education. Landscapes and Landforms: Coastal landscapes</a:t>
            </a:r>
          </a:p>
        </p:txBody>
      </p:sp>
      <p:sp>
        <p:nvSpPr>
          <p:cNvPr id="11" name="TextBox 10"/>
          <p:cNvSpPr txBox="1"/>
          <p:nvPr/>
        </p:nvSpPr>
        <p:spPr>
          <a:xfrm>
            <a:off x="548640" y="3156426"/>
            <a:ext cx="11064240" cy="548386"/>
          </a:xfrm>
          <a:prstGeom prst="rect">
            <a:avLst/>
          </a:prstGeom>
          <a:noFill/>
        </p:spPr>
        <p:txBody>
          <a:bodyPr wrap="square">
            <a:spAutoFit/>
          </a:bodyPr>
          <a:lstStyle/>
          <a:p>
            <a:r>
              <a:rPr sz="1300" u="sng">
                <a:solidFill>
                  <a:srgbClr val="1C559E"/>
                </a:solidFill>
                <a:hlinkClick r:id="rId5"/>
              </a:rPr>
              <a:t>https://www.abc.net.au/education/landscapes-and-landforms-coastal-landscapes/102317076</a:t>
            </a:r>
          </a:p>
        </p:txBody>
      </p:sp>
      <p:sp>
        <p:nvSpPr>
          <p:cNvPr id="12" name="TextBox 11"/>
          <p:cNvSpPr txBox="1"/>
          <p:nvPr/>
        </p:nvSpPr>
        <p:spPr>
          <a:xfrm>
            <a:off x="548640" y="3515995"/>
            <a:ext cx="11064240" cy="746506"/>
          </a:xfrm>
          <a:prstGeom prst="rect">
            <a:avLst/>
          </a:prstGeom>
          <a:noFill/>
        </p:spPr>
        <p:txBody>
          <a:bodyPr wrap="square">
            <a:spAutoFit/>
          </a:bodyPr>
          <a:lstStyle/>
          <a:p>
            <a:pPr algn="l"/>
            <a:r>
              <a:rPr sz="1400" b="1" i="0">
                <a:solidFill>
                  <a:srgbClr val="222630"/>
                </a:solidFill>
                <a:latin typeface="Open Sans"/>
              </a:rPr>
              <a:t>Khan Academy. Introduction to plate tectonics</a:t>
            </a:r>
          </a:p>
        </p:txBody>
      </p:sp>
      <p:sp>
        <p:nvSpPr>
          <p:cNvPr id="13" name="TextBox 12"/>
          <p:cNvSpPr txBox="1"/>
          <p:nvPr/>
        </p:nvSpPr>
        <p:spPr>
          <a:xfrm>
            <a:off x="548640" y="3738245"/>
            <a:ext cx="11064240" cy="746506"/>
          </a:xfrm>
          <a:prstGeom prst="rect">
            <a:avLst/>
          </a:prstGeom>
          <a:noFill/>
        </p:spPr>
        <p:txBody>
          <a:bodyPr wrap="square">
            <a:spAutoFit/>
          </a:bodyPr>
          <a:lstStyle/>
          <a:p>
            <a:r>
              <a:rPr sz="1300" u="sng">
                <a:solidFill>
                  <a:srgbClr val="1C559E"/>
                </a:solidFill>
                <a:hlinkClick r:id="rId6"/>
              </a:rPr>
              <a:t>https://www.khanacademy.org/science/middle-school-earth-and-space-science/x87d03b443efbea0a:the-geosphere/x87d03b443efbea0a:plate-tectonics/v/introduction-to-plate-tectonics</a:t>
            </a:r>
          </a:p>
        </p:txBody>
      </p:sp>
      <p:sp>
        <p:nvSpPr>
          <p:cNvPr id="14" name="TextBox 13"/>
          <p:cNvSpPr txBox="1"/>
          <p:nvPr/>
        </p:nvSpPr>
        <p:spPr>
          <a:xfrm>
            <a:off x="548640" y="4295933"/>
            <a:ext cx="11064240" cy="770636"/>
          </a:xfrm>
          <a:prstGeom prst="rect">
            <a:avLst/>
          </a:prstGeom>
          <a:noFill/>
        </p:spPr>
        <p:txBody>
          <a:bodyPr wrap="square">
            <a:spAutoFit/>
          </a:bodyPr>
          <a:lstStyle/>
          <a:p>
            <a:pPr algn="l"/>
            <a:r>
              <a:rPr sz="1400" b="1" i="0">
                <a:solidFill>
                  <a:srgbClr val="222630"/>
                </a:solidFill>
                <a:latin typeface="Open Sans"/>
              </a:rPr>
              <a:t>Australian Government. World Heritage Areas, Australia (2011), Dept of Sustainability, Environment, Water, Population and Communities</a:t>
            </a:r>
          </a:p>
        </p:txBody>
      </p:sp>
      <p:sp>
        <p:nvSpPr>
          <p:cNvPr id="15" name="TextBox 14"/>
          <p:cNvSpPr txBox="1"/>
          <p:nvPr/>
        </p:nvSpPr>
        <p:spPr>
          <a:xfrm>
            <a:off x="548640" y="4740433"/>
            <a:ext cx="11064240" cy="770636"/>
          </a:xfrm>
          <a:prstGeom prst="rect">
            <a:avLst/>
          </a:prstGeom>
          <a:noFill/>
        </p:spPr>
        <p:txBody>
          <a:bodyPr wrap="square">
            <a:spAutoFit/>
          </a:bodyPr>
          <a:lstStyle/>
          <a:p>
            <a:r>
              <a:rPr sz="1300" u="sng">
                <a:solidFill>
                  <a:srgbClr val="1C559E"/>
                </a:solidFill>
                <a:hlinkClick r:id="rId7"/>
              </a:rPr>
              <a:t>https://www.environment.gov.au/heritage/places/world-heritage-list</a:t>
            </a:r>
          </a:p>
        </p:txBody>
      </p:sp>
      <p:sp>
        <p:nvSpPr>
          <p:cNvPr id="16" name="TextBox 15"/>
          <p:cNvSpPr txBox="1"/>
          <p:nvPr/>
        </p:nvSpPr>
        <p:spPr>
          <a:xfrm>
            <a:off x="548640" y="5100002"/>
            <a:ext cx="11064240" cy="548386"/>
          </a:xfrm>
          <a:prstGeom prst="rect">
            <a:avLst/>
          </a:prstGeom>
          <a:noFill/>
        </p:spPr>
        <p:txBody>
          <a:bodyPr wrap="square">
            <a:spAutoFit/>
          </a:bodyPr>
          <a:lstStyle/>
          <a:p>
            <a:pPr algn="l"/>
            <a:r>
              <a:rPr sz="1400" b="1" i="0">
                <a:solidFill>
                  <a:srgbClr val="222630"/>
                </a:solidFill>
                <a:latin typeface="Open Sans"/>
              </a:rPr>
              <a:t>McCrindle Research. Australia's Population Map, based on ABS data</a:t>
            </a:r>
          </a:p>
        </p:txBody>
      </p:sp>
      <p:sp>
        <p:nvSpPr>
          <p:cNvPr id="17" name="TextBox 16"/>
          <p:cNvSpPr txBox="1"/>
          <p:nvPr/>
        </p:nvSpPr>
        <p:spPr>
          <a:xfrm>
            <a:off x="548640" y="5322252"/>
            <a:ext cx="11064240" cy="548386"/>
          </a:xfrm>
          <a:prstGeom prst="rect">
            <a:avLst/>
          </a:prstGeom>
          <a:noFill/>
        </p:spPr>
        <p:txBody>
          <a:bodyPr wrap="square">
            <a:spAutoFit/>
          </a:bodyPr>
          <a:lstStyle/>
          <a:p>
            <a:r>
              <a:rPr sz="1300" u="sng">
                <a:solidFill>
                  <a:srgbClr val="1C559E"/>
                </a:solidFill>
                <a:hlinkClick r:id="rId8"/>
              </a:rPr>
              <a:t>https://mccrindle.com.au</a:t>
            </a:r>
          </a:p>
        </p:txBody>
      </p:sp>
      <p:sp>
        <p:nvSpPr>
          <p:cNvPr id="18" name="TextBox 17"/>
          <p:cNvSpPr txBox="1"/>
          <p:nvPr/>
        </p:nvSpPr>
        <p:spPr>
          <a:xfrm>
            <a:off x="548640" y="5681821"/>
            <a:ext cx="11064240" cy="548386"/>
          </a:xfrm>
          <a:prstGeom prst="rect">
            <a:avLst/>
          </a:prstGeom>
          <a:noFill/>
        </p:spPr>
        <p:txBody>
          <a:bodyPr wrap="square">
            <a:spAutoFit/>
          </a:bodyPr>
          <a:lstStyle/>
          <a:p>
            <a:pPr algn="l"/>
            <a:r>
              <a:rPr sz="1400" b="1" i="0">
                <a:solidFill>
                  <a:srgbClr val="222630"/>
                </a:solidFill>
                <a:latin typeface="Open Sans"/>
              </a:rPr>
              <a:t>Mapsofworld.com. New South Wales map</a:t>
            </a:r>
          </a:p>
        </p:txBody>
      </p:sp>
      <p:sp>
        <p:nvSpPr>
          <p:cNvPr id="19" name="TextBox 18"/>
          <p:cNvSpPr txBox="1"/>
          <p:nvPr/>
        </p:nvSpPr>
        <p:spPr>
          <a:xfrm>
            <a:off x="548640" y="5904071"/>
            <a:ext cx="11064240" cy="548386"/>
          </a:xfrm>
          <a:prstGeom prst="rect">
            <a:avLst/>
          </a:prstGeom>
          <a:noFill/>
        </p:spPr>
        <p:txBody>
          <a:bodyPr wrap="square">
            <a:spAutoFit/>
          </a:bodyPr>
          <a:lstStyle/>
          <a:p>
            <a:r>
              <a:rPr sz="1300" u="sng">
                <a:solidFill>
                  <a:srgbClr val="1C559E"/>
                </a:solidFill>
                <a:hlinkClick r:id="rId9"/>
              </a:rPr>
              <a:t>https://www.mapsofworld.com</a:t>
            </a:r>
          </a:p>
        </p:txBody>
      </p:sp>
      <p:sp>
        <p:nvSpPr>
          <p:cNvPr id="20" name="TextBox 19"/>
          <p:cNvSpPr txBox="1"/>
          <p:nvPr/>
        </p:nvSpPr>
        <p:spPr>
          <a:xfrm>
            <a:off x="548640" y="6537960"/>
            <a:ext cx="1645920" cy="274320"/>
          </a:xfrm>
          <a:prstGeom prst="rect">
            <a:avLst/>
          </a:prstGeom>
          <a:noFill/>
        </p:spPr>
        <p:txBody>
          <a:bodyPr wrap="square">
            <a:spAutoFit/>
          </a:bodyPr>
          <a:lstStyle/>
          <a:p>
            <a:pPr algn="l"/>
            <a:r>
              <a:rPr sz="900" b="0" i="1">
                <a:solidFill>
                  <a:srgbClr val="5D7680"/>
                </a:solidFill>
                <a:latin typeface="Open Sans"/>
              </a:rPr>
              <a:t>Perkins (2026)</a:t>
            </a:r>
          </a:p>
        </p:txBody>
      </p:sp>
      <p:sp>
        <p:nvSpPr>
          <p:cNvPr id="21" name="TextBox 20"/>
          <p:cNvSpPr txBox="1"/>
          <p:nvPr/>
        </p:nvSpPr>
        <p:spPr>
          <a:xfrm>
            <a:off x="2194560" y="6537960"/>
            <a:ext cx="2926080" cy="274320"/>
          </a:xfrm>
          <a:prstGeom prst="rect">
            <a:avLst/>
          </a:prstGeom>
          <a:noFill/>
        </p:spPr>
        <p:txBody>
          <a:bodyPr wrap="square">
            <a:spAutoFit/>
          </a:bodyPr>
          <a:lstStyle/>
          <a:p>
            <a:pPr algn="l"/>
            <a:r>
              <a:rPr sz="900" b="0" i="0">
                <a:solidFill>
                  <a:srgbClr val="5D7680"/>
                </a:solidFill>
                <a:latin typeface="Open Sans"/>
              </a:rPr>
              <a:t>Page 37 of 39</a:t>
            </a:r>
          </a:p>
        </p:txBody>
      </p:sp>
      <p:sp>
        <p:nvSpPr>
          <p:cNvPr id="22" name="TextBox 21"/>
          <p:cNvSpPr txBox="1"/>
          <p:nvPr/>
        </p:nvSpPr>
        <p:spPr>
          <a:xfrm>
            <a:off x="5120640" y="6537960"/>
            <a:ext cx="6492240" cy="274320"/>
          </a:xfrm>
          <a:prstGeom prst="rect">
            <a:avLst/>
          </a:prstGeom>
          <a:noFill/>
        </p:spPr>
        <p:txBody>
          <a:bodyPr wrap="square">
            <a:spAutoFit/>
          </a:bodyPr>
          <a:lstStyle/>
          <a:p>
            <a:pPr algn="r"/>
            <a:r>
              <a:rPr sz="900" b="0" i="0">
                <a:solidFill>
                  <a:srgbClr val="5D7680"/>
                </a:solidFill>
                <a:latin typeface="Open Sans"/>
              </a:rPr>
              <a:t>Landforms and Landscapes  |  Stage 4 Geography  |  REVISION deck</a:t>
            </a:r>
          </a:p>
        </p:txBody>
      </p:sp>
    </p:spTree>
  </p:cSld>
  <p:clrMapOvr>
    <a:masterClrMapping/>
  </p:clrMapOvr>
</p:sld>
</file>

<file path=ppt/slides/slide38.xml><?xml version="1.0" encoding="utf-8"?>
<p:sld xmlns:a="http://schemas.openxmlformats.org/drawingml/2006/main" xmlns:p="http://schemas.openxmlformats.org/presentationml/2006/main" xmlns:r="http://schemas.openxmlformats.org/officeDocument/2006/relationships">
  <p:cSld>
    <p:bg>
      <p:bgPr>
        <a:solidFill>
          <a:srgbClr val="003146"/>
        </a:solidFill>
        <a:effectLst/>
      </p:bgPr>
    </p:bg>
    <p:spTree>
      <p:nvGrpSpPr>
        <p:cNvPr id="1" name=""/>
        <p:cNvGrpSpPr/>
        <p:nvPr/>
      </p:nvGrpSpPr>
      <p:grpSpPr/>
    </p:spTree>
  </p:cSld>
  <p:clrMapOvr>
    <a:masterClrMapping/>
  </p:clrMapOvr>
</p:sld>
</file>

<file path=ppt/slides/slide39.xml><?xml version="1.0" encoding="utf-8"?>
<p:sld xmlns:a="http://schemas.openxmlformats.org/drawingml/2006/main" xmlns:p="http://schemas.openxmlformats.org/presentationml/2006/main" xmlns:r="http://schemas.openxmlformats.org/officeDocument/2006/relationships">
  <p:cSld>
    <p:bg>
      <p:bgPr>
        <a:solidFill>
          <a:srgbClr val="003146"/>
        </a:solidFill>
        <a:effectLst/>
      </p:bgPr>
    </p:bg>
    <p:spTree>
      <p:nvGrpSpPr>
        <p:cNvPr id="1" name=""/>
        <p:cNvGrpSpPr/>
        <p:nvPr/>
      </p:nvGrpSpPr>
      <p:grpSpPr/>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
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ns2="http://schemas.openxmlformats.org/drawingml/2006/main" xmlns:ns3="http://schemas.microsoft.com/office/powerpoint/2012/main" xmlns:p="http://schemas.openxmlformats.org/presentationml/2006/main" xmlns:r="http://schemas.openxmlformats.org/officeDocument/2006/relationships" strictFirstAndLastChars="0" embedTrueTypeFonts="1" saveSubsetFonts="1" autoCompressPictures="0">
  <p:sldMasterIdLst>
    <p:sldMasterId id="2147483659" r:id="rId1"/>
  </p:sldMasterIdLst>
  <p:notesMasterIdLst>
    <p:notesMasterId r:id="rId83"/>
  </p:notesMasterIdLst>
  <p:sldIdLst>
    <p:sldId id="304" r:id="rId49"/>
    <p:sldId id="305" r:id="rId50"/>
    <p:sldId id="306" r:id="rId51"/>
    <p:sldId id="307" r:id="rId52"/>
    <p:sldId id="308" r:id="rId53"/>
    <p:sldId id="309" r:id="rId54"/>
  </p:sldIdLst>
  <p:sldSz cx="18288000" cy="10287000"/>
  <p:notesSz cx="6858000" cy="9144000"/>
  <p:embeddedFontLst>
    <p:embeddedFont>
      <p:font typeface="Comic Sans MS" panose="030F0902030302020204" pitchFamily="66" charset="0"/>
      <p:regular r:id="rId84"/>
    </p:embeddedFont>
    <p:embeddedFont>
      <p:font typeface="Impact" panose="020B0806030902050204" pitchFamily="34" charset="0"/>
      <p:regular r:id="rId85"/>
    </p:embeddedFont>
    <p:embeddedFont>
      <p:font typeface="Nunito" pitchFamily="2" charset="77"/>
      <p:regular r:id="rId86"/>
      <p:bold r:id="rId87"/>
      <p:italic r:id="rId88"/>
      <p:boldItalic r:id="rId89"/>
    </p:embeddedFont>
    <p:embeddedFont>
      <p:font typeface="Nunito Sans" pitchFamily="2" charset="77"/>
      <p:regular r:id="rId90"/>
      <p:bold r:id="rId91"/>
      <p:italic r:id="rId92"/>
      <p:boldItalic r:id="rId93"/>
    </p:embeddedFont>
    <p:embeddedFont>
      <p:font typeface="Poppins" pitchFamily="2" charset="77"/>
      <p:regular r:id="rId94"/>
      <p:bold r:id="rId95"/>
      <p:italic r:id="rId96"/>
      <p:boldItalic r:id="rId97"/>
    </p:embeddedFont>
    <p:embeddedFont>
      <p:font typeface="Yeseva One"/>
      <p:regular r:id="rId98"/>
    </p:embeddedFont>
  </p:embeddedFontLst>
  <p:defaultTextStyle>
    <ns2:defPPr marR="0" lvl="0" algn="l" rtl="0">
      <ns2:lnSpc>
        <ns2:spcPct val="100000"/>
      </ns2:lnSpc>
      <ns2:spcBef>
        <ns2:spcPts val="0"/>
      </ns2:spcBef>
      <ns2:spcAft>
        <ns2:spcPts val="0"/>
      </ns2:spcAft>
    </ns2:defPPr>
    <ns2:lvl1pPr marR="0" lvl="0"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1pPr>
    <ns2:lvl2pPr marR="0" lvl="1"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2pPr>
    <ns2:lvl3pPr marR="0" lvl="2"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3pPr>
    <ns2:lvl4pPr marR="0" lvl="3"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4pPr>
    <ns2:lvl5pPr marR="0" lvl="4"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5pPr>
    <ns2:lvl6pPr marR="0" lvl="5"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6pPr>
    <ns2:lvl7pPr marR="0" lvl="6"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7pPr>
    <ns2:lvl8pPr marR="0" lvl="7"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8pPr>
    <ns2:lvl9pPr marR="0" lvl="8"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9pPr>
  </p:defaultTextStyle>
  <p:extLst>
    <p:ext uri="{EFAFB233-063F-42B5-8137-9DF3F51BA10A}">
      <ns3:sldGuideLst>
        <ns3:guide id="1" orient="horz" pos="2160">
          <ns3:clr>
            <ns2:srgbClr val="000000"/>
          </ns3:clr>
        </ns3:guide>
        <ns3:guide id="2" pos="2880">
          <ns3:clr>
            <ns2:srgbClr val="000000"/>
          </ns3:clr>
        </ns3:guide>
      </ns3: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9624FBE-0219-4BFE-B597-DF52CD3AB8CC}">
  <a:tblStyle styleId="{B9624FBE-0219-4BFE-B597-DF52CD3AB8C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80" d="100"/>
          <a:sy n="80" d="100"/>
        </p:scale>
        <p:origin x="824" y="22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ns0:Relationships xmlns:ns0="http://schemas.openxmlformats.org/package/2006/relationships"><ns0:Relationship Id="rId84" Type="http://schemas.openxmlformats.org/officeDocument/2006/relationships/font" Target="fonts/font1.fntdata" /><ns0:Relationship Id="rId89" Type="http://schemas.openxmlformats.org/officeDocument/2006/relationships/font" Target="fonts/font6.fntdata" /><ns0:Relationship Id="rId53" Type="http://schemas.openxmlformats.org/officeDocument/2006/relationships/slide" Target="slides/slide52.xml" /><ns0:Relationship Id="rId102" Type="http://schemas.openxmlformats.org/officeDocument/2006/relationships/tableStyles" Target="tableStyles.xml" /><ns0:Relationship Id="rId90" Type="http://schemas.openxmlformats.org/officeDocument/2006/relationships/font" Target="fonts/font7.fntdata" /><ns0:Relationship Id="rId95" Type="http://schemas.openxmlformats.org/officeDocument/2006/relationships/font" Target="fonts/font12.fntdata" /><ns0:Relationship Id="rId85" Type="http://schemas.openxmlformats.org/officeDocument/2006/relationships/font" Target="fonts/font2.fntdata" /><ns0:Relationship Id="rId54" Type="http://schemas.openxmlformats.org/officeDocument/2006/relationships/slide" Target="slides/slide53.xml" /><ns0:Relationship Id="rId83" Type="http://schemas.openxmlformats.org/officeDocument/2006/relationships/notesMaster" Target="notesMasters/notesMaster1.xml" /><ns0:Relationship Id="rId88" Type="http://schemas.openxmlformats.org/officeDocument/2006/relationships/font" Target="fonts/font5.fntdata" /><ns0:Relationship Id="rId91" Type="http://schemas.openxmlformats.org/officeDocument/2006/relationships/font" Target="fonts/font8.fntdata" /><ns0:Relationship Id="rId96" Type="http://schemas.openxmlformats.org/officeDocument/2006/relationships/font" Target="fonts/font13.fntdata" /><ns0:Relationship Id="rId1" Type="http://schemas.openxmlformats.org/officeDocument/2006/relationships/slideMaster" Target="slideMasters/slideMaster1.xml" /><ns0:Relationship Id="rId49" Type="http://schemas.openxmlformats.org/officeDocument/2006/relationships/slide" Target="slides/slide48.xml" /><ns0:Relationship Id="rId52" Type="http://schemas.openxmlformats.org/officeDocument/2006/relationships/slide" Target="slides/slide51.xml" /><ns0:Relationship Id="rId86" Type="http://schemas.openxmlformats.org/officeDocument/2006/relationships/font" Target="fonts/font3.fntdata" /><ns0:Relationship Id="rId94" Type="http://schemas.openxmlformats.org/officeDocument/2006/relationships/font" Target="fonts/font11.fntdata" /><ns0:Relationship Id="rId99" Type="http://schemas.openxmlformats.org/officeDocument/2006/relationships/presProps" Target="presProps.xml" /><ns0:Relationship Id="rId101" Type="http://schemas.openxmlformats.org/officeDocument/2006/relationships/theme" Target="theme/theme1.xml" /><ns0:Relationship Id="rId50" Type="http://schemas.openxmlformats.org/officeDocument/2006/relationships/slide" Target="slides/slide49.xml" /><ns0:Relationship Id="rId97" Type="http://schemas.openxmlformats.org/officeDocument/2006/relationships/font" Target="fonts/font14.fntdata" /><ns0:Relationship Id="rId92" Type="http://schemas.openxmlformats.org/officeDocument/2006/relationships/font" Target="fonts/font9.fntdata" /><ns0:Relationship Id="rId87" Type="http://schemas.openxmlformats.org/officeDocument/2006/relationships/font" Target="fonts/font4.fntdata" /><ns0:Relationship Id="rId100" Type="http://schemas.openxmlformats.org/officeDocument/2006/relationships/viewProps" Target="viewProps.xml" /><ns0:Relationship Id="rId51" Type="http://schemas.openxmlformats.org/officeDocument/2006/relationships/slide" Target="slides/slide50.xml" /><ns0:Relationship Id="rId93" Type="http://schemas.openxmlformats.org/officeDocument/2006/relationships/font" Target="fonts/font10.fntdata" /><ns0:Relationship Id="rId98" Type="http://schemas.openxmlformats.org/officeDocument/2006/relationships/font" Target="fonts/font15.fntdata" /></ns0: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3ae6d2bd0bf_0_8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Worksheet 7.1</a:t>
            </a:r>
            <a:endParaRPr/>
          </a:p>
        </p:txBody>
      </p:sp>
      <p:sp>
        <p:nvSpPr>
          <p:cNvPr id="780" name="Google Shape;780;g3ae6d2bd0bf_0_8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g3ae6d2bd0bf_0_9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Worksheet 7.2</a:t>
            </a:r>
            <a:endParaRPr/>
          </a:p>
          <a:p>
            <a:pPr marL="0" lvl="0" indent="0" algn="l" rtl="0">
              <a:spcBef>
                <a:spcPts val="0"/>
              </a:spcBef>
              <a:spcAft>
                <a:spcPts val="0"/>
              </a:spcAft>
              <a:buNone/>
            </a:pPr>
            <a:r>
              <a:rPr lang="en-US"/>
              <a:t>https://www.youtube.com/watch?v=YHt18r2L5j8</a:t>
            </a:r>
            <a:endParaRPr/>
          </a:p>
        </p:txBody>
      </p:sp>
      <p:sp>
        <p:nvSpPr>
          <p:cNvPr id="792" name="Google Shape;792;g3ae6d2bd0bf_0_9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g3ae6d2bd0bf_0_9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Worksheet 7.2</a:t>
            </a:r>
            <a:endParaRPr/>
          </a:p>
          <a:p>
            <a:pPr marL="0" lvl="0" indent="0" algn="l" rtl="0">
              <a:spcBef>
                <a:spcPts val="0"/>
              </a:spcBef>
              <a:spcAft>
                <a:spcPts val="0"/>
              </a:spcAft>
              <a:buNone/>
            </a:pPr>
            <a:r>
              <a:rPr lang="en-US"/>
              <a:t>https://www.youtube.com/watch?v=YHt18r2L5j8</a:t>
            </a:r>
            <a:endParaRPr/>
          </a:p>
        </p:txBody>
      </p:sp>
      <p:sp>
        <p:nvSpPr>
          <p:cNvPr id="803" name="Google Shape;803;g3ae6d2bd0bf_0_9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3ae6d2bd0bf_0_9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3" name="Google Shape;813;g3ae6d2bd0bf_0_9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g3ae6d2bd0bf_0_8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24" name="Google Shape;824;g3ae6d2bd0bf_0_8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3ae6d2bd0bf_0_8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Worksheet 7.3</a:t>
            </a:r>
            <a:endParaRPr/>
          </a:p>
        </p:txBody>
      </p:sp>
      <p:sp>
        <p:nvSpPr>
          <p:cNvPr id="830" name="Google Shape;830;g3ae6d2bd0bf_0_8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a:lstStyle/>
          <a:p>
            <a:endParaRPr lang="en-US"/>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4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45.jpg"/><Relationship Id="rId5" Type="http://schemas.openxmlformats.org/officeDocument/2006/relationships/hyperlink" Target="http://www.youtube.com/watch?v=YHt18r2L5j8" TargetMode="External"/><Relationship Id="rId4" Type="http://schemas.openxmlformats.org/officeDocument/2006/relationships/image" Target="../media/image36.png"/></Relationships>
</file>

<file path=ppt/slides/_rels/slide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1.xml"/><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36.png"/></Relationships>
</file>

<file path=ppt/slides/_rels/slide5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36.png"/></Relationships>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781"/>
        <p:cNvGrpSpPr/>
        <p:nvPr/>
      </p:nvGrpSpPr>
      <p:grpSpPr>
        <a:xfrm>
          <a:off x="0" y="0"/>
          <a:ext cx="0" cy="0"/>
          <a:chOff x="0" y="0"/>
          <a:chExt cx="0" cy="0"/>
        </a:xfrm>
      </p:grpSpPr>
      <p:sp>
        <p:nvSpPr>
          <p:cNvPr id="782" name="Google Shape;782;p61"/>
          <p:cNvSpPr/>
          <p:nvPr/>
        </p:nvSpPr>
        <p:spPr>
          <a:xfrm>
            <a:off x="14681602" y="225675"/>
            <a:ext cx="2885196" cy="1308403"/>
          </a:xfrm>
          <a:custGeom>
            <a:avLst/>
            <a:gdLst/>
            <a:ahLst/>
            <a:cxnLst/>
            <a:rect l="l" t="t" r="r" b="b"/>
            <a:pathLst>
              <a:path w="3834147" h="1610342" extrusionOk="0">
                <a:moveTo>
                  <a:pt x="0" y="0"/>
                </a:moveTo>
                <a:lnTo>
                  <a:pt x="3834147" y="0"/>
                </a:lnTo>
                <a:lnTo>
                  <a:pt x="3834147" y="1610341"/>
                </a:lnTo>
                <a:lnTo>
                  <a:pt x="0" y="1610341"/>
                </a:lnTo>
                <a:lnTo>
                  <a:pt x="0" y="0"/>
                </a:lnTo>
                <a:close/>
              </a:path>
            </a:pathLst>
          </a:custGeom>
          <a:blipFill rotWithShape="1">
            <a:blip r:embed="rId3">
              <a:alphaModFix/>
            </a:blip>
            <a:stretch>
              <a:fillRect/>
            </a:stretch>
          </a:blipFill>
          <a:ln>
            <a:noFill/>
          </a:ln>
        </p:spPr>
        <p:txBody>
          <a:bodyPr/>
          <a:lstStyle/>
          <a:p>
            <a:endParaRPr lang="en-US"/>
          </a:p>
        </p:txBody>
      </p:sp>
      <p:sp>
        <p:nvSpPr>
          <p:cNvPr id="783" name="Google Shape;783;p61"/>
          <p:cNvSpPr/>
          <p:nvPr/>
        </p:nvSpPr>
        <p:spPr>
          <a:xfrm>
            <a:off x="842784" y="2195597"/>
            <a:ext cx="7458448" cy="5976655"/>
          </a:xfrm>
          <a:custGeom>
            <a:avLst/>
            <a:gdLst/>
            <a:ahLst/>
            <a:cxnLst/>
            <a:rect l="l" t="t" r="r" b="b"/>
            <a:pathLst>
              <a:path w="3625005" h="2904814" extrusionOk="0">
                <a:moveTo>
                  <a:pt x="3614521" y="27234"/>
                </a:moveTo>
                <a:cubicBezTo>
                  <a:pt x="3605631" y="23424"/>
                  <a:pt x="3596741" y="20884"/>
                  <a:pt x="3587851" y="20884"/>
                </a:cubicBezTo>
                <a:cubicBezTo>
                  <a:pt x="3561181" y="19614"/>
                  <a:pt x="3507586" y="19614"/>
                  <a:pt x="3448458" y="17074"/>
                </a:cubicBezTo>
                <a:cubicBezTo>
                  <a:pt x="3313309" y="11994"/>
                  <a:pt x="3180975" y="5644"/>
                  <a:pt x="3045825" y="3104"/>
                </a:cubicBezTo>
                <a:cubicBezTo>
                  <a:pt x="2936016" y="564"/>
                  <a:pt x="2829023" y="3104"/>
                  <a:pt x="2719214" y="1834"/>
                </a:cubicBezTo>
                <a:cubicBezTo>
                  <a:pt x="2671348" y="1834"/>
                  <a:pt x="2623483" y="-706"/>
                  <a:pt x="2575617" y="1834"/>
                </a:cubicBezTo>
                <a:cubicBezTo>
                  <a:pt x="2460177" y="9454"/>
                  <a:pt x="2344737" y="10724"/>
                  <a:pt x="2226482" y="8184"/>
                </a:cubicBezTo>
                <a:cubicBezTo>
                  <a:pt x="2167353" y="6914"/>
                  <a:pt x="2108226" y="6914"/>
                  <a:pt x="2049098" y="6914"/>
                </a:cubicBezTo>
                <a:cubicBezTo>
                  <a:pt x="1942104" y="6914"/>
                  <a:pt x="1835111" y="6914"/>
                  <a:pt x="1728118" y="5644"/>
                </a:cubicBezTo>
                <a:cubicBezTo>
                  <a:pt x="1615493" y="4374"/>
                  <a:pt x="506141" y="1834"/>
                  <a:pt x="396332" y="564"/>
                </a:cubicBezTo>
                <a:cubicBezTo>
                  <a:pt x="306233" y="-706"/>
                  <a:pt x="218949" y="564"/>
                  <a:pt x="128849" y="564"/>
                </a:cubicBezTo>
                <a:cubicBezTo>
                  <a:pt x="66905" y="564"/>
                  <a:pt x="33020" y="3104"/>
                  <a:pt x="5080" y="4374"/>
                </a:cubicBezTo>
                <a:cubicBezTo>
                  <a:pt x="3810" y="4374"/>
                  <a:pt x="2540" y="6914"/>
                  <a:pt x="0" y="8184"/>
                </a:cubicBezTo>
                <a:cubicBezTo>
                  <a:pt x="1270" y="20884"/>
                  <a:pt x="3810" y="33584"/>
                  <a:pt x="5080" y="46284"/>
                </a:cubicBezTo>
                <a:cubicBezTo>
                  <a:pt x="15240" y="156999"/>
                  <a:pt x="16510" y="284285"/>
                  <a:pt x="17780" y="409337"/>
                </a:cubicBezTo>
                <a:cubicBezTo>
                  <a:pt x="19050" y="536623"/>
                  <a:pt x="17780" y="663909"/>
                  <a:pt x="16510" y="793428"/>
                </a:cubicBezTo>
                <a:cubicBezTo>
                  <a:pt x="15240" y="925180"/>
                  <a:pt x="2540" y="2307458"/>
                  <a:pt x="2540" y="2439210"/>
                </a:cubicBezTo>
                <a:cubicBezTo>
                  <a:pt x="2540" y="2568729"/>
                  <a:pt x="1270" y="2698248"/>
                  <a:pt x="0" y="2827767"/>
                </a:cubicBezTo>
                <a:cubicBezTo>
                  <a:pt x="0" y="2850204"/>
                  <a:pt x="3810" y="2860364"/>
                  <a:pt x="15240" y="2865444"/>
                </a:cubicBezTo>
                <a:cubicBezTo>
                  <a:pt x="22860" y="2869254"/>
                  <a:pt x="31750" y="2871794"/>
                  <a:pt x="40640" y="2873064"/>
                </a:cubicBezTo>
                <a:cubicBezTo>
                  <a:pt x="126033" y="2878144"/>
                  <a:pt x="233027" y="2881954"/>
                  <a:pt x="340020" y="2887034"/>
                </a:cubicBezTo>
                <a:cubicBezTo>
                  <a:pt x="399148" y="2889574"/>
                  <a:pt x="458276" y="2894654"/>
                  <a:pt x="517404" y="2895924"/>
                </a:cubicBezTo>
                <a:cubicBezTo>
                  <a:pt x="615950" y="2898464"/>
                  <a:pt x="1714040" y="2899734"/>
                  <a:pt x="1812586" y="2901004"/>
                </a:cubicBezTo>
                <a:cubicBezTo>
                  <a:pt x="1826664" y="2901004"/>
                  <a:pt x="1840742" y="2901004"/>
                  <a:pt x="1854820" y="2901004"/>
                </a:cubicBezTo>
                <a:cubicBezTo>
                  <a:pt x="1922395" y="2901004"/>
                  <a:pt x="1992786" y="2899734"/>
                  <a:pt x="2060360" y="2899734"/>
                </a:cubicBezTo>
                <a:cubicBezTo>
                  <a:pt x="2139197" y="2899734"/>
                  <a:pt x="2215219" y="2901004"/>
                  <a:pt x="2294056" y="2901004"/>
                </a:cubicBezTo>
                <a:cubicBezTo>
                  <a:pt x="2409496" y="2901004"/>
                  <a:pt x="2527752" y="2901004"/>
                  <a:pt x="2643192" y="2901004"/>
                </a:cubicBezTo>
                <a:cubicBezTo>
                  <a:pt x="2750185" y="2901004"/>
                  <a:pt x="2857179" y="2902274"/>
                  <a:pt x="2964172" y="2903544"/>
                </a:cubicBezTo>
                <a:cubicBezTo>
                  <a:pt x="3012038" y="2903544"/>
                  <a:pt x="3062719" y="2904814"/>
                  <a:pt x="3110584" y="2904814"/>
                </a:cubicBezTo>
                <a:cubicBezTo>
                  <a:pt x="3265443" y="2903544"/>
                  <a:pt x="3417486" y="2897194"/>
                  <a:pt x="3564991" y="2897194"/>
                </a:cubicBezTo>
                <a:cubicBezTo>
                  <a:pt x="3568801" y="2897194"/>
                  <a:pt x="3573881" y="2894654"/>
                  <a:pt x="3577691" y="2892114"/>
                </a:cubicBezTo>
                <a:cubicBezTo>
                  <a:pt x="3582771" y="2888304"/>
                  <a:pt x="3585311" y="2881954"/>
                  <a:pt x="3587851" y="2879414"/>
                </a:cubicBezTo>
                <a:cubicBezTo>
                  <a:pt x="3589121" y="2812135"/>
                  <a:pt x="3590391" y="2718346"/>
                  <a:pt x="3591661" y="2624556"/>
                </a:cubicBezTo>
                <a:cubicBezTo>
                  <a:pt x="3592931" y="2479406"/>
                  <a:pt x="3603091" y="1085962"/>
                  <a:pt x="3604361" y="940811"/>
                </a:cubicBezTo>
                <a:cubicBezTo>
                  <a:pt x="3604361" y="853721"/>
                  <a:pt x="3605631" y="766631"/>
                  <a:pt x="3606901" y="679540"/>
                </a:cubicBezTo>
                <a:cubicBezTo>
                  <a:pt x="3608171" y="585751"/>
                  <a:pt x="3609441" y="491961"/>
                  <a:pt x="3611981" y="398172"/>
                </a:cubicBezTo>
                <a:cubicBezTo>
                  <a:pt x="3613251" y="342345"/>
                  <a:pt x="3613251" y="284285"/>
                  <a:pt x="3618331" y="228458"/>
                </a:cubicBezTo>
                <a:cubicBezTo>
                  <a:pt x="3623411" y="161465"/>
                  <a:pt x="3625951" y="96706"/>
                  <a:pt x="3624681" y="43744"/>
                </a:cubicBezTo>
                <a:cubicBezTo>
                  <a:pt x="3624681" y="37394"/>
                  <a:pt x="3620871" y="29774"/>
                  <a:pt x="3614521" y="27234"/>
                </a:cubicBezTo>
                <a:close/>
              </a:path>
            </a:pathLst>
          </a:custGeom>
          <a:solidFill>
            <a:srgbClr val="EAF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4200" b="1">
                <a:solidFill>
                  <a:schemeClr val="dk1"/>
                </a:solidFill>
                <a:latin typeface="Nunito"/>
                <a:ea typeface="Nunito"/>
                <a:cs typeface="Nunito"/>
                <a:sym typeface="Nunito"/>
              </a:rPr>
              <a:t>Short-term responses:</a:t>
            </a:r>
            <a:endParaRPr sz="4200" b="1">
              <a:solidFill>
                <a:schemeClr val="dk1"/>
              </a:solidFill>
              <a:latin typeface="Nunito"/>
              <a:ea typeface="Nunito"/>
              <a:cs typeface="Nunito"/>
              <a:sym typeface="Nunito"/>
            </a:endParaRPr>
          </a:p>
          <a:p>
            <a:pPr marL="0" lvl="0" indent="0" algn="l" rtl="0">
              <a:spcBef>
                <a:spcPts val="0"/>
              </a:spcBef>
              <a:spcAft>
                <a:spcPts val="0"/>
              </a:spcAft>
              <a:buNone/>
            </a:pPr>
            <a:endParaRPr sz="4200">
              <a:solidFill>
                <a:schemeClr val="dk1"/>
              </a:solidFill>
              <a:latin typeface="Nunito"/>
              <a:ea typeface="Nunito"/>
              <a:cs typeface="Nunito"/>
              <a:sym typeface="Nunito"/>
            </a:endParaRPr>
          </a:p>
          <a:p>
            <a:pPr marL="0" lvl="0" indent="0" algn="l" rtl="0">
              <a:spcBef>
                <a:spcPts val="0"/>
              </a:spcBef>
              <a:spcAft>
                <a:spcPts val="0"/>
              </a:spcAft>
              <a:buNone/>
            </a:pPr>
            <a:r>
              <a:rPr lang="en-US" sz="4200">
                <a:solidFill>
                  <a:schemeClr val="dk1"/>
                </a:solidFill>
                <a:latin typeface="Nunito"/>
                <a:ea typeface="Nunito"/>
                <a:cs typeface="Nunito"/>
                <a:sym typeface="Nunito"/>
              </a:rPr>
              <a:t>Immediate actions taken to reduce the impact of water scarcity quickly. These strategies focus on coping with current shortages and preventing urgent problems. They are usually temporary.</a:t>
            </a:r>
            <a:endParaRPr sz="4200">
              <a:solidFill>
                <a:schemeClr val="dk1"/>
              </a:solidFill>
              <a:latin typeface="Nunito"/>
              <a:ea typeface="Nunito"/>
              <a:cs typeface="Nunito"/>
              <a:sym typeface="Nunito"/>
            </a:endParaRPr>
          </a:p>
        </p:txBody>
      </p:sp>
      <p:sp>
        <p:nvSpPr>
          <p:cNvPr id="784" name="Google Shape;784;p61"/>
          <p:cNvSpPr/>
          <p:nvPr/>
        </p:nvSpPr>
        <p:spPr>
          <a:xfrm>
            <a:off x="-1330424" y="8172251"/>
            <a:ext cx="4586747" cy="3102309"/>
          </a:xfrm>
          <a:custGeom>
            <a:avLst/>
            <a:gdLst/>
            <a:ahLst/>
            <a:cxnLst/>
            <a:rect l="l" t="t" r="r" b="b"/>
            <a:pathLst>
              <a:path w="4586747" h="3102309" extrusionOk="0">
                <a:moveTo>
                  <a:pt x="0" y="0"/>
                </a:moveTo>
                <a:lnTo>
                  <a:pt x="4586747" y="0"/>
                </a:lnTo>
                <a:lnTo>
                  <a:pt x="4586747" y="3102309"/>
                </a:lnTo>
                <a:lnTo>
                  <a:pt x="0" y="3102309"/>
                </a:lnTo>
                <a:lnTo>
                  <a:pt x="0" y="0"/>
                </a:lnTo>
                <a:close/>
              </a:path>
            </a:pathLst>
          </a:custGeom>
          <a:blipFill rotWithShape="1">
            <a:blip r:embed="rId4">
              <a:alphaModFix/>
            </a:blip>
            <a:stretch>
              <a:fillRect/>
            </a:stretch>
          </a:blipFill>
          <a:ln>
            <a:noFill/>
          </a:ln>
        </p:spPr>
        <p:txBody>
          <a:bodyPr/>
          <a:lstStyle/>
          <a:p>
            <a:endParaRPr lang="en-US"/>
          </a:p>
        </p:txBody>
      </p:sp>
      <p:sp>
        <p:nvSpPr>
          <p:cNvPr id="785" name="Google Shape;785;p61"/>
          <p:cNvSpPr/>
          <p:nvPr/>
        </p:nvSpPr>
        <p:spPr>
          <a:xfrm>
            <a:off x="15354298" y="8172259"/>
            <a:ext cx="4586747" cy="3102309"/>
          </a:xfrm>
          <a:custGeom>
            <a:avLst/>
            <a:gdLst/>
            <a:ahLst/>
            <a:cxnLst/>
            <a:rect l="l" t="t" r="r" b="b"/>
            <a:pathLst>
              <a:path w="4586747" h="3102309" extrusionOk="0">
                <a:moveTo>
                  <a:pt x="0" y="0"/>
                </a:moveTo>
                <a:lnTo>
                  <a:pt x="4586747" y="0"/>
                </a:lnTo>
                <a:lnTo>
                  <a:pt x="4586747" y="3102308"/>
                </a:lnTo>
                <a:lnTo>
                  <a:pt x="0" y="3102308"/>
                </a:lnTo>
                <a:lnTo>
                  <a:pt x="0" y="0"/>
                </a:lnTo>
                <a:close/>
              </a:path>
            </a:pathLst>
          </a:custGeom>
          <a:blipFill rotWithShape="1">
            <a:blip r:embed="rId4">
              <a:alphaModFix/>
            </a:blip>
            <a:stretch>
              <a:fillRect/>
            </a:stretch>
          </a:blipFill>
          <a:ln>
            <a:noFill/>
          </a:ln>
        </p:spPr>
        <p:txBody>
          <a:bodyPr/>
          <a:lstStyle/>
          <a:p>
            <a:endParaRPr lang="en-US"/>
          </a:p>
        </p:txBody>
      </p:sp>
      <p:sp>
        <p:nvSpPr>
          <p:cNvPr id="786" name="Google Shape;786;p61"/>
          <p:cNvSpPr txBox="1"/>
          <p:nvPr/>
        </p:nvSpPr>
        <p:spPr>
          <a:xfrm>
            <a:off x="724200" y="796600"/>
            <a:ext cx="16839600" cy="1292662"/>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7000" dirty="0">
                <a:solidFill>
                  <a:srgbClr val="FFFFFF"/>
                </a:solidFill>
                <a:latin typeface="Yeseva One"/>
                <a:ea typeface="Yeseva One"/>
                <a:cs typeface="Yeseva One"/>
                <a:sym typeface="Yeseva One"/>
              </a:rPr>
              <a:t>How can we address water scarcity?</a:t>
            </a:r>
            <a:endParaRPr sz="7000" dirty="0"/>
          </a:p>
        </p:txBody>
      </p:sp>
      <p:sp>
        <p:nvSpPr>
          <p:cNvPr id="787" name="Google Shape;787;p61"/>
          <p:cNvSpPr/>
          <p:nvPr/>
        </p:nvSpPr>
        <p:spPr>
          <a:xfrm>
            <a:off x="-14753" y="-1"/>
            <a:ext cx="1955415" cy="921921"/>
          </a:xfrm>
          <a:custGeom>
            <a:avLst/>
            <a:gdLst/>
            <a:ahLst/>
            <a:cxnLst/>
            <a:rect l="l" t="t" r="r" b="b"/>
            <a:pathLst>
              <a:path w="3834147" h="1610342" extrusionOk="0">
                <a:moveTo>
                  <a:pt x="0" y="0"/>
                </a:moveTo>
                <a:lnTo>
                  <a:pt x="3834147" y="0"/>
                </a:lnTo>
                <a:lnTo>
                  <a:pt x="3834147" y="1610341"/>
                </a:lnTo>
                <a:lnTo>
                  <a:pt x="0" y="1610341"/>
                </a:lnTo>
                <a:lnTo>
                  <a:pt x="0" y="0"/>
                </a:lnTo>
                <a:close/>
              </a:path>
            </a:pathLst>
          </a:custGeom>
          <a:blipFill rotWithShape="1">
            <a:blip r:embed="rId3">
              <a:alphaModFix/>
            </a:blip>
            <a:stretch>
              <a:fillRect/>
            </a:stretch>
          </a:blipFill>
          <a:ln>
            <a:noFill/>
          </a:ln>
        </p:spPr>
        <p:txBody>
          <a:bodyPr/>
          <a:lstStyle/>
          <a:p>
            <a:endParaRPr lang="en-US"/>
          </a:p>
        </p:txBody>
      </p:sp>
      <p:sp>
        <p:nvSpPr>
          <p:cNvPr id="788" name="Google Shape;788;p61"/>
          <p:cNvSpPr/>
          <p:nvPr/>
        </p:nvSpPr>
        <p:spPr>
          <a:xfrm>
            <a:off x="9453375" y="2288150"/>
            <a:ext cx="7458448" cy="5976655"/>
          </a:xfrm>
          <a:custGeom>
            <a:avLst/>
            <a:gdLst/>
            <a:ahLst/>
            <a:cxnLst/>
            <a:rect l="l" t="t" r="r" b="b"/>
            <a:pathLst>
              <a:path w="3625005" h="2904814" extrusionOk="0">
                <a:moveTo>
                  <a:pt x="3614521" y="27234"/>
                </a:moveTo>
                <a:cubicBezTo>
                  <a:pt x="3605631" y="23424"/>
                  <a:pt x="3596741" y="20884"/>
                  <a:pt x="3587851" y="20884"/>
                </a:cubicBezTo>
                <a:cubicBezTo>
                  <a:pt x="3561181" y="19614"/>
                  <a:pt x="3507586" y="19614"/>
                  <a:pt x="3448458" y="17074"/>
                </a:cubicBezTo>
                <a:cubicBezTo>
                  <a:pt x="3313309" y="11994"/>
                  <a:pt x="3180975" y="5644"/>
                  <a:pt x="3045825" y="3104"/>
                </a:cubicBezTo>
                <a:cubicBezTo>
                  <a:pt x="2936016" y="564"/>
                  <a:pt x="2829023" y="3104"/>
                  <a:pt x="2719214" y="1834"/>
                </a:cubicBezTo>
                <a:cubicBezTo>
                  <a:pt x="2671348" y="1834"/>
                  <a:pt x="2623483" y="-706"/>
                  <a:pt x="2575617" y="1834"/>
                </a:cubicBezTo>
                <a:cubicBezTo>
                  <a:pt x="2460177" y="9454"/>
                  <a:pt x="2344737" y="10724"/>
                  <a:pt x="2226482" y="8184"/>
                </a:cubicBezTo>
                <a:cubicBezTo>
                  <a:pt x="2167353" y="6914"/>
                  <a:pt x="2108226" y="6914"/>
                  <a:pt x="2049098" y="6914"/>
                </a:cubicBezTo>
                <a:cubicBezTo>
                  <a:pt x="1942104" y="6914"/>
                  <a:pt x="1835111" y="6914"/>
                  <a:pt x="1728118" y="5644"/>
                </a:cubicBezTo>
                <a:cubicBezTo>
                  <a:pt x="1615493" y="4374"/>
                  <a:pt x="506141" y="1834"/>
                  <a:pt x="396332" y="564"/>
                </a:cubicBezTo>
                <a:cubicBezTo>
                  <a:pt x="306233" y="-706"/>
                  <a:pt x="218949" y="564"/>
                  <a:pt x="128849" y="564"/>
                </a:cubicBezTo>
                <a:cubicBezTo>
                  <a:pt x="66905" y="564"/>
                  <a:pt x="33020" y="3104"/>
                  <a:pt x="5080" y="4374"/>
                </a:cubicBezTo>
                <a:cubicBezTo>
                  <a:pt x="3810" y="4374"/>
                  <a:pt x="2540" y="6914"/>
                  <a:pt x="0" y="8184"/>
                </a:cubicBezTo>
                <a:cubicBezTo>
                  <a:pt x="1270" y="20884"/>
                  <a:pt x="3810" y="33584"/>
                  <a:pt x="5080" y="46284"/>
                </a:cubicBezTo>
                <a:cubicBezTo>
                  <a:pt x="15240" y="156999"/>
                  <a:pt x="16510" y="284285"/>
                  <a:pt x="17780" y="409337"/>
                </a:cubicBezTo>
                <a:cubicBezTo>
                  <a:pt x="19050" y="536623"/>
                  <a:pt x="17780" y="663909"/>
                  <a:pt x="16510" y="793428"/>
                </a:cubicBezTo>
                <a:cubicBezTo>
                  <a:pt x="15240" y="925180"/>
                  <a:pt x="2540" y="2307458"/>
                  <a:pt x="2540" y="2439210"/>
                </a:cubicBezTo>
                <a:cubicBezTo>
                  <a:pt x="2540" y="2568729"/>
                  <a:pt x="1270" y="2698248"/>
                  <a:pt x="0" y="2827767"/>
                </a:cubicBezTo>
                <a:cubicBezTo>
                  <a:pt x="0" y="2850204"/>
                  <a:pt x="3810" y="2860364"/>
                  <a:pt x="15240" y="2865444"/>
                </a:cubicBezTo>
                <a:cubicBezTo>
                  <a:pt x="22860" y="2869254"/>
                  <a:pt x="31750" y="2871794"/>
                  <a:pt x="40640" y="2873064"/>
                </a:cubicBezTo>
                <a:cubicBezTo>
                  <a:pt x="126033" y="2878144"/>
                  <a:pt x="233027" y="2881954"/>
                  <a:pt x="340020" y="2887034"/>
                </a:cubicBezTo>
                <a:cubicBezTo>
                  <a:pt x="399148" y="2889574"/>
                  <a:pt x="458276" y="2894654"/>
                  <a:pt x="517404" y="2895924"/>
                </a:cubicBezTo>
                <a:cubicBezTo>
                  <a:pt x="615950" y="2898464"/>
                  <a:pt x="1714040" y="2899734"/>
                  <a:pt x="1812586" y="2901004"/>
                </a:cubicBezTo>
                <a:cubicBezTo>
                  <a:pt x="1826664" y="2901004"/>
                  <a:pt x="1840742" y="2901004"/>
                  <a:pt x="1854820" y="2901004"/>
                </a:cubicBezTo>
                <a:cubicBezTo>
                  <a:pt x="1922395" y="2901004"/>
                  <a:pt x="1992786" y="2899734"/>
                  <a:pt x="2060360" y="2899734"/>
                </a:cubicBezTo>
                <a:cubicBezTo>
                  <a:pt x="2139197" y="2899734"/>
                  <a:pt x="2215219" y="2901004"/>
                  <a:pt x="2294056" y="2901004"/>
                </a:cubicBezTo>
                <a:cubicBezTo>
                  <a:pt x="2409496" y="2901004"/>
                  <a:pt x="2527752" y="2901004"/>
                  <a:pt x="2643192" y="2901004"/>
                </a:cubicBezTo>
                <a:cubicBezTo>
                  <a:pt x="2750185" y="2901004"/>
                  <a:pt x="2857179" y="2902274"/>
                  <a:pt x="2964172" y="2903544"/>
                </a:cubicBezTo>
                <a:cubicBezTo>
                  <a:pt x="3012038" y="2903544"/>
                  <a:pt x="3062719" y="2904814"/>
                  <a:pt x="3110584" y="2904814"/>
                </a:cubicBezTo>
                <a:cubicBezTo>
                  <a:pt x="3265443" y="2903544"/>
                  <a:pt x="3417486" y="2897194"/>
                  <a:pt x="3564991" y="2897194"/>
                </a:cubicBezTo>
                <a:cubicBezTo>
                  <a:pt x="3568801" y="2897194"/>
                  <a:pt x="3573881" y="2894654"/>
                  <a:pt x="3577691" y="2892114"/>
                </a:cubicBezTo>
                <a:cubicBezTo>
                  <a:pt x="3582771" y="2888304"/>
                  <a:pt x="3585311" y="2881954"/>
                  <a:pt x="3587851" y="2879414"/>
                </a:cubicBezTo>
                <a:cubicBezTo>
                  <a:pt x="3589121" y="2812135"/>
                  <a:pt x="3590391" y="2718346"/>
                  <a:pt x="3591661" y="2624556"/>
                </a:cubicBezTo>
                <a:cubicBezTo>
                  <a:pt x="3592931" y="2479406"/>
                  <a:pt x="3603091" y="1085962"/>
                  <a:pt x="3604361" y="940811"/>
                </a:cubicBezTo>
                <a:cubicBezTo>
                  <a:pt x="3604361" y="853721"/>
                  <a:pt x="3605631" y="766631"/>
                  <a:pt x="3606901" y="679540"/>
                </a:cubicBezTo>
                <a:cubicBezTo>
                  <a:pt x="3608171" y="585751"/>
                  <a:pt x="3609441" y="491961"/>
                  <a:pt x="3611981" y="398172"/>
                </a:cubicBezTo>
                <a:cubicBezTo>
                  <a:pt x="3613251" y="342345"/>
                  <a:pt x="3613251" y="284285"/>
                  <a:pt x="3618331" y="228458"/>
                </a:cubicBezTo>
                <a:cubicBezTo>
                  <a:pt x="3623411" y="161465"/>
                  <a:pt x="3625951" y="96706"/>
                  <a:pt x="3624681" y="43744"/>
                </a:cubicBezTo>
                <a:cubicBezTo>
                  <a:pt x="3624681" y="37394"/>
                  <a:pt x="3620871" y="29774"/>
                  <a:pt x="3614521" y="27234"/>
                </a:cubicBezTo>
                <a:close/>
              </a:path>
            </a:pathLst>
          </a:custGeom>
          <a:solidFill>
            <a:srgbClr val="EAF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4200" b="1">
                <a:solidFill>
                  <a:schemeClr val="dk1"/>
                </a:solidFill>
                <a:latin typeface="Nunito"/>
                <a:ea typeface="Nunito"/>
                <a:cs typeface="Nunito"/>
                <a:sym typeface="Nunito"/>
              </a:rPr>
              <a:t>Long-term responses:</a:t>
            </a:r>
            <a:endParaRPr sz="4200" b="1">
              <a:solidFill>
                <a:schemeClr val="dk1"/>
              </a:solidFill>
              <a:latin typeface="Nunito"/>
              <a:ea typeface="Nunito"/>
              <a:cs typeface="Nunito"/>
              <a:sym typeface="Nunito"/>
            </a:endParaRPr>
          </a:p>
          <a:p>
            <a:pPr marL="0" lvl="0" indent="0" algn="l" rtl="0">
              <a:spcBef>
                <a:spcPts val="0"/>
              </a:spcBef>
              <a:spcAft>
                <a:spcPts val="0"/>
              </a:spcAft>
              <a:buNone/>
            </a:pPr>
            <a:endParaRPr sz="4200">
              <a:solidFill>
                <a:schemeClr val="dk1"/>
              </a:solidFill>
              <a:latin typeface="Nunito"/>
              <a:ea typeface="Nunito"/>
              <a:cs typeface="Nunito"/>
              <a:sym typeface="Nunito"/>
            </a:endParaRPr>
          </a:p>
          <a:p>
            <a:pPr marL="0" lvl="0" indent="0" algn="l" rtl="0">
              <a:spcBef>
                <a:spcPts val="0"/>
              </a:spcBef>
              <a:spcAft>
                <a:spcPts val="0"/>
              </a:spcAft>
              <a:buNone/>
            </a:pPr>
            <a:r>
              <a:rPr lang="en-US" sz="4200">
                <a:solidFill>
                  <a:schemeClr val="dk1"/>
                </a:solidFill>
                <a:latin typeface="Nunito"/>
                <a:ea typeface="Nunito"/>
                <a:cs typeface="Nunito"/>
                <a:sym typeface="Nunito"/>
              </a:rPr>
              <a:t>Planned actions designed to prevent or manage water scarcity in the future. The focus is on sustainability, efficiency, and adapting water systems over time. </a:t>
            </a:r>
            <a:endParaRPr sz="4200">
              <a:solidFill>
                <a:schemeClr val="dk1"/>
              </a:solidFill>
              <a:latin typeface="Nunito"/>
              <a:ea typeface="Nunito"/>
              <a:cs typeface="Nunito"/>
              <a:sym typeface="Nunito"/>
            </a:endParaRPr>
          </a:p>
        </p:txBody>
      </p:sp>
      <p:sp>
        <p:nvSpPr>
          <p:cNvPr id="789" name="Google Shape;789;p61"/>
          <p:cNvSpPr txBox="1"/>
          <p:nvPr/>
        </p:nvSpPr>
        <p:spPr>
          <a:xfrm>
            <a:off x="4076700" y="8493650"/>
            <a:ext cx="10934700" cy="147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4200" b="1">
                <a:solidFill>
                  <a:schemeClr val="lt1"/>
                </a:solidFill>
                <a:latin typeface="Calibri"/>
                <a:ea typeface="Calibri"/>
                <a:cs typeface="Calibri"/>
                <a:sym typeface="Calibri"/>
              </a:rPr>
              <a:t>Complete the worksheet, identifying whether each strategy is short or long term and why.</a:t>
            </a:r>
            <a:endParaRPr sz="4200" b="1">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54C4ED"/>
        </a:solidFill>
        <a:effectLst/>
      </p:bgPr>
    </p:bg>
    <p:spTree>
      <p:nvGrpSpPr>
        <p:cNvPr id="1" name="Shape 793"/>
        <p:cNvGrpSpPr/>
        <p:nvPr/>
      </p:nvGrpSpPr>
      <p:grpSpPr>
        <a:xfrm>
          <a:off x="0" y="0"/>
          <a:ext cx="0" cy="0"/>
          <a:chOff x="0" y="0"/>
          <a:chExt cx="0" cy="0"/>
        </a:xfrm>
      </p:grpSpPr>
      <p:sp>
        <p:nvSpPr>
          <p:cNvPr id="794" name="Google Shape;794;p62"/>
          <p:cNvSpPr/>
          <p:nvPr/>
        </p:nvSpPr>
        <p:spPr>
          <a:xfrm>
            <a:off x="14681602" y="225675"/>
            <a:ext cx="2885196" cy="1308403"/>
          </a:xfrm>
          <a:custGeom>
            <a:avLst/>
            <a:gdLst/>
            <a:ahLst/>
            <a:cxnLst/>
            <a:rect l="l" t="t" r="r" b="b"/>
            <a:pathLst>
              <a:path w="3834147" h="1610342" extrusionOk="0">
                <a:moveTo>
                  <a:pt x="0" y="0"/>
                </a:moveTo>
                <a:lnTo>
                  <a:pt x="3834147" y="0"/>
                </a:lnTo>
                <a:lnTo>
                  <a:pt x="3834147" y="1610341"/>
                </a:lnTo>
                <a:lnTo>
                  <a:pt x="0" y="1610341"/>
                </a:lnTo>
                <a:lnTo>
                  <a:pt x="0" y="0"/>
                </a:lnTo>
                <a:close/>
              </a:path>
            </a:pathLst>
          </a:custGeom>
          <a:blipFill rotWithShape="1">
            <a:blip r:embed="rId3">
              <a:alphaModFix/>
            </a:blip>
            <a:stretch>
              <a:fillRect/>
            </a:stretch>
          </a:blipFill>
          <a:ln>
            <a:noFill/>
          </a:ln>
        </p:spPr>
        <p:txBody>
          <a:bodyPr/>
          <a:lstStyle/>
          <a:p>
            <a:endParaRPr lang="en-US"/>
          </a:p>
        </p:txBody>
      </p:sp>
      <p:sp>
        <p:nvSpPr>
          <p:cNvPr id="795" name="Google Shape;795;p62"/>
          <p:cNvSpPr/>
          <p:nvPr/>
        </p:nvSpPr>
        <p:spPr>
          <a:xfrm>
            <a:off x="842775" y="2195600"/>
            <a:ext cx="7458448" cy="6913457"/>
          </a:xfrm>
          <a:custGeom>
            <a:avLst/>
            <a:gdLst/>
            <a:ahLst/>
            <a:cxnLst/>
            <a:rect l="l" t="t" r="r" b="b"/>
            <a:pathLst>
              <a:path w="3625005" h="2904814" extrusionOk="0">
                <a:moveTo>
                  <a:pt x="3614521" y="27234"/>
                </a:moveTo>
                <a:cubicBezTo>
                  <a:pt x="3605631" y="23424"/>
                  <a:pt x="3596741" y="20884"/>
                  <a:pt x="3587851" y="20884"/>
                </a:cubicBezTo>
                <a:cubicBezTo>
                  <a:pt x="3561181" y="19614"/>
                  <a:pt x="3507586" y="19614"/>
                  <a:pt x="3448458" y="17074"/>
                </a:cubicBezTo>
                <a:cubicBezTo>
                  <a:pt x="3313309" y="11994"/>
                  <a:pt x="3180975" y="5644"/>
                  <a:pt x="3045825" y="3104"/>
                </a:cubicBezTo>
                <a:cubicBezTo>
                  <a:pt x="2936016" y="564"/>
                  <a:pt x="2829023" y="3104"/>
                  <a:pt x="2719214" y="1834"/>
                </a:cubicBezTo>
                <a:cubicBezTo>
                  <a:pt x="2671348" y="1834"/>
                  <a:pt x="2623483" y="-706"/>
                  <a:pt x="2575617" y="1834"/>
                </a:cubicBezTo>
                <a:cubicBezTo>
                  <a:pt x="2460177" y="9454"/>
                  <a:pt x="2344737" y="10724"/>
                  <a:pt x="2226482" y="8184"/>
                </a:cubicBezTo>
                <a:cubicBezTo>
                  <a:pt x="2167353" y="6914"/>
                  <a:pt x="2108226" y="6914"/>
                  <a:pt x="2049098" y="6914"/>
                </a:cubicBezTo>
                <a:cubicBezTo>
                  <a:pt x="1942104" y="6914"/>
                  <a:pt x="1835111" y="6914"/>
                  <a:pt x="1728118" y="5644"/>
                </a:cubicBezTo>
                <a:cubicBezTo>
                  <a:pt x="1615493" y="4374"/>
                  <a:pt x="506141" y="1834"/>
                  <a:pt x="396332" y="564"/>
                </a:cubicBezTo>
                <a:cubicBezTo>
                  <a:pt x="306233" y="-706"/>
                  <a:pt x="218949" y="564"/>
                  <a:pt x="128849" y="564"/>
                </a:cubicBezTo>
                <a:cubicBezTo>
                  <a:pt x="66905" y="564"/>
                  <a:pt x="33020" y="3104"/>
                  <a:pt x="5080" y="4374"/>
                </a:cubicBezTo>
                <a:cubicBezTo>
                  <a:pt x="3810" y="4374"/>
                  <a:pt x="2540" y="6914"/>
                  <a:pt x="0" y="8184"/>
                </a:cubicBezTo>
                <a:cubicBezTo>
                  <a:pt x="1270" y="20884"/>
                  <a:pt x="3810" y="33584"/>
                  <a:pt x="5080" y="46284"/>
                </a:cubicBezTo>
                <a:cubicBezTo>
                  <a:pt x="15240" y="156999"/>
                  <a:pt x="16510" y="284285"/>
                  <a:pt x="17780" y="409337"/>
                </a:cubicBezTo>
                <a:cubicBezTo>
                  <a:pt x="19050" y="536623"/>
                  <a:pt x="17780" y="663909"/>
                  <a:pt x="16510" y="793428"/>
                </a:cubicBezTo>
                <a:cubicBezTo>
                  <a:pt x="15240" y="925180"/>
                  <a:pt x="2540" y="2307458"/>
                  <a:pt x="2540" y="2439210"/>
                </a:cubicBezTo>
                <a:cubicBezTo>
                  <a:pt x="2540" y="2568729"/>
                  <a:pt x="1270" y="2698248"/>
                  <a:pt x="0" y="2827767"/>
                </a:cubicBezTo>
                <a:cubicBezTo>
                  <a:pt x="0" y="2850204"/>
                  <a:pt x="3810" y="2860364"/>
                  <a:pt x="15240" y="2865444"/>
                </a:cubicBezTo>
                <a:cubicBezTo>
                  <a:pt x="22860" y="2869254"/>
                  <a:pt x="31750" y="2871794"/>
                  <a:pt x="40640" y="2873064"/>
                </a:cubicBezTo>
                <a:cubicBezTo>
                  <a:pt x="126033" y="2878144"/>
                  <a:pt x="233027" y="2881954"/>
                  <a:pt x="340020" y="2887034"/>
                </a:cubicBezTo>
                <a:cubicBezTo>
                  <a:pt x="399148" y="2889574"/>
                  <a:pt x="458276" y="2894654"/>
                  <a:pt x="517404" y="2895924"/>
                </a:cubicBezTo>
                <a:cubicBezTo>
                  <a:pt x="615950" y="2898464"/>
                  <a:pt x="1714040" y="2899734"/>
                  <a:pt x="1812586" y="2901004"/>
                </a:cubicBezTo>
                <a:cubicBezTo>
                  <a:pt x="1826664" y="2901004"/>
                  <a:pt x="1840742" y="2901004"/>
                  <a:pt x="1854820" y="2901004"/>
                </a:cubicBezTo>
                <a:cubicBezTo>
                  <a:pt x="1922395" y="2901004"/>
                  <a:pt x="1992786" y="2899734"/>
                  <a:pt x="2060360" y="2899734"/>
                </a:cubicBezTo>
                <a:cubicBezTo>
                  <a:pt x="2139197" y="2899734"/>
                  <a:pt x="2215219" y="2901004"/>
                  <a:pt x="2294056" y="2901004"/>
                </a:cubicBezTo>
                <a:cubicBezTo>
                  <a:pt x="2409496" y="2901004"/>
                  <a:pt x="2527752" y="2901004"/>
                  <a:pt x="2643192" y="2901004"/>
                </a:cubicBezTo>
                <a:cubicBezTo>
                  <a:pt x="2750185" y="2901004"/>
                  <a:pt x="2857179" y="2902274"/>
                  <a:pt x="2964172" y="2903544"/>
                </a:cubicBezTo>
                <a:cubicBezTo>
                  <a:pt x="3012038" y="2903544"/>
                  <a:pt x="3062719" y="2904814"/>
                  <a:pt x="3110584" y="2904814"/>
                </a:cubicBezTo>
                <a:cubicBezTo>
                  <a:pt x="3265443" y="2903544"/>
                  <a:pt x="3417486" y="2897194"/>
                  <a:pt x="3564991" y="2897194"/>
                </a:cubicBezTo>
                <a:cubicBezTo>
                  <a:pt x="3568801" y="2897194"/>
                  <a:pt x="3573881" y="2894654"/>
                  <a:pt x="3577691" y="2892114"/>
                </a:cubicBezTo>
                <a:cubicBezTo>
                  <a:pt x="3582771" y="2888304"/>
                  <a:pt x="3585311" y="2881954"/>
                  <a:pt x="3587851" y="2879414"/>
                </a:cubicBezTo>
                <a:cubicBezTo>
                  <a:pt x="3589121" y="2812135"/>
                  <a:pt x="3590391" y="2718346"/>
                  <a:pt x="3591661" y="2624556"/>
                </a:cubicBezTo>
                <a:cubicBezTo>
                  <a:pt x="3592931" y="2479406"/>
                  <a:pt x="3603091" y="1085962"/>
                  <a:pt x="3604361" y="940811"/>
                </a:cubicBezTo>
                <a:cubicBezTo>
                  <a:pt x="3604361" y="853721"/>
                  <a:pt x="3605631" y="766631"/>
                  <a:pt x="3606901" y="679540"/>
                </a:cubicBezTo>
                <a:cubicBezTo>
                  <a:pt x="3608171" y="585751"/>
                  <a:pt x="3609441" y="491961"/>
                  <a:pt x="3611981" y="398172"/>
                </a:cubicBezTo>
                <a:cubicBezTo>
                  <a:pt x="3613251" y="342345"/>
                  <a:pt x="3613251" y="284285"/>
                  <a:pt x="3618331" y="228458"/>
                </a:cubicBezTo>
                <a:cubicBezTo>
                  <a:pt x="3623411" y="161465"/>
                  <a:pt x="3625951" y="96706"/>
                  <a:pt x="3624681" y="43744"/>
                </a:cubicBezTo>
                <a:cubicBezTo>
                  <a:pt x="3624681" y="37394"/>
                  <a:pt x="3620871" y="29774"/>
                  <a:pt x="3614521" y="27234"/>
                </a:cubicBezTo>
                <a:close/>
              </a:path>
            </a:pathLst>
          </a:custGeom>
          <a:solidFill>
            <a:srgbClr val="EAF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4200" dirty="0">
                <a:solidFill>
                  <a:schemeClr val="dk1"/>
                </a:solidFill>
                <a:latin typeface="Nunito"/>
                <a:ea typeface="Nunito"/>
                <a:cs typeface="Nunito"/>
                <a:sym typeface="Nunito"/>
              </a:rPr>
              <a:t>Desalination is a long term strategy, aiming to address water scarcity. </a:t>
            </a:r>
            <a:endParaRPr sz="4200" dirty="0">
              <a:solidFill>
                <a:schemeClr val="dk1"/>
              </a:solidFill>
              <a:latin typeface="Nunito"/>
              <a:ea typeface="Nunito"/>
              <a:cs typeface="Nunito"/>
              <a:sym typeface="Nunito"/>
            </a:endParaRPr>
          </a:p>
          <a:p>
            <a:pPr marL="0" lvl="0" indent="0" algn="l" rtl="0">
              <a:spcBef>
                <a:spcPts val="1000"/>
              </a:spcBef>
              <a:spcAft>
                <a:spcPts val="1000"/>
              </a:spcAft>
              <a:buNone/>
            </a:pPr>
            <a:r>
              <a:rPr lang="en-US" sz="4200" dirty="0">
                <a:solidFill>
                  <a:schemeClr val="dk1"/>
                </a:solidFill>
                <a:latin typeface="Nunito"/>
                <a:ea typeface="Nunito"/>
                <a:cs typeface="Nunito"/>
                <a:sym typeface="Nunito"/>
              </a:rPr>
              <a:t>It involves filtering salt water (such as from the Ocean) and turning it into freshwater. </a:t>
            </a:r>
            <a:br>
              <a:rPr lang="en-US" sz="4200" dirty="0">
                <a:solidFill>
                  <a:schemeClr val="dk1"/>
                </a:solidFill>
                <a:latin typeface="Nunito"/>
                <a:ea typeface="Nunito"/>
                <a:cs typeface="Nunito"/>
                <a:sym typeface="Nunito"/>
              </a:rPr>
            </a:br>
            <a:br>
              <a:rPr lang="en-US" sz="4200" dirty="0">
                <a:solidFill>
                  <a:schemeClr val="dk1"/>
                </a:solidFill>
                <a:latin typeface="Nunito"/>
                <a:ea typeface="Nunito"/>
                <a:cs typeface="Nunito"/>
                <a:sym typeface="Nunito"/>
              </a:rPr>
            </a:br>
            <a:r>
              <a:rPr lang="en-US" sz="4200" dirty="0">
                <a:solidFill>
                  <a:schemeClr val="dk1"/>
                </a:solidFill>
                <a:latin typeface="Nunito"/>
                <a:ea typeface="Nunito"/>
                <a:cs typeface="Nunito"/>
                <a:sym typeface="Nunito"/>
              </a:rPr>
              <a:t>Watch the video and create a diagram of the process of desalination.</a:t>
            </a:r>
            <a:endParaRPr sz="4200" dirty="0">
              <a:solidFill>
                <a:schemeClr val="dk1"/>
              </a:solidFill>
              <a:latin typeface="Nunito"/>
              <a:ea typeface="Nunito"/>
              <a:cs typeface="Nunito"/>
              <a:sym typeface="Nunito"/>
            </a:endParaRPr>
          </a:p>
        </p:txBody>
      </p:sp>
      <p:sp>
        <p:nvSpPr>
          <p:cNvPr id="796" name="Google Shape;796;p62"/>
          <p:cNvSpPr/>
          <p:nvPr/>
        </p:nvSpPr>
        <p:spPr>
          <a:xfrm>
            <a:off x="-14749" y="8872538"/>
            <a:ext cx="4586747" cy="3102309"/>
          </a:xfrm>
          <a:custGeom>
            <a:avLst/>
            <a:gdLst/>
            <a:ahLst/>
            <a:cxnLst/>
            <a:rect l="l" t="t" r="r" b="b"/>
            <a:pathLst>
              <a:path w="4586747" h="3102309" extrusionOk="0">
                <a:moveTo>
                  <a:pt x="0" y="0"/>
                </a:moveTo>
                <a:lnTo>
                  <a:pt x="4586747" y="0"/>
                </a:lnTo>
                <a:lnTo>
                  <a:pt x="4586747" y="3102309"/>
                </a:lnTo>
                <a:lnTo>
                  <a:pt x="0" y="3102309"/>
                </a:lnTo>
                <a:lnTo>
                  <a:pt x="0" y="0"/>
                </a:lnTo>
                <a:close/>
              </a:path>
            </a:pathLst>
          </a:custGeom>
          <a:blipFill rotWithShape="1">
            <a:blip r:embed="rId4">
              <a:alphaModFix/>
            </a:blip>
            <a:stretch>
              <a:fillRect/>
            </a:stretch>
          </a:blipFill>
          <a:ln>
            <a:noFill/>
          </a:ln>
        </p:spPr>
        <p:txBody>
          <a:bodyPr/>
          <a:lstStyle/>
          <a:p>
            <a:endParaRPr lang="en-US"/>
          </a:p>
        </p:txBody>
      </p:sp>
      <p:sp>
        <p:nvSpPr>
          <p:cNvPr id="797" name="Google Shape;797;p62"/>
          <p:cNvSpPr/>
          <p:nvPr/>
        </p:nvSpPr>
        <p:spPr>
          <a:xfrm>
            <a:off x="13969023" y="8021634"/>
            <a:ext cx="4586747" cy="3102309"/>
          </a:xfrm>
          <a:custGeom>
            <a:avLst/>
            <a:gdLst/>
            <a:ahLst/>
            <a:cxnLst/>
            <a:rect l="l" t="t" r="r" b="b"/>
            <a:pathLst>
              <a:path w="4586747" h="3102309" extrusionOk="0">
                <a:moveTo>
                  <a:pt x="0" y="0"/>
                </a:moveTo>
                <a:lnTo>
                  <a:pt x="4586747" y="0"/>
                </a:lnTo>
                <a:lnTo>
                  <a:pt x="4586747" y="3102308"/>
                </a:lnTo>
                <a:lnTo>
                  <a:pt x="0" y="3102308"/>
                </a:lnTo>
                <a:lnTo>
                  <a:pt x="0" y="0"/>
                </a:lnTo>
                <a:close/>
              </a:path>
            </a:pathLst>
          </a:custGeom>
          <a:blipFill rotWithShape="1">
            <a:blip r:embed="rId4">
              <a:alphaModFix/>
            </a:blip>
            <a:stretch>
              <a:fillRect/>
            </a:stretch>
          </a:blipFill>
          <a:ln>
            <a:noFill/>
          </a:ln>
        </p:spPr>
        <p:txBody>
          <a:bodyPr/>
          <a:lstStyle/>
          <a:p>
            <a:endParaRPr lang="en-US"/>
          </a:p>
        </p:txBody>
      </p:sp>
      <p:sp>
        <p:nvSpPr>
          <p:cNvPr id="798" name="Google Shape;798;p62"/>
          <p:cNvSpPr txBox="1"/>
          <p:nvPr/>
        </p:nvSpPr>
        <p:spPr>
          <a:xfrm>
            <a:off x="619348" y="617066"/>
            <a:ext cx="16839600" cy="1308300"/>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8499" dirty="0">
                <a:solidFill>
                  <a:srgbClr val="FFFFFF"/>
                </a:solidFill>
                <a:latin typeface="Yeseva One"/>
                <a:ea typeface="Yeseva One"/>
                <a:cs typeface="Yeseva One"/>
                <a:sym typeface="Yeseva One"/>
              </a:rPr>
              <a:t>Example: Desalination</a:t>
            </a:r>
            <a:endParaRPr dirty="0"/>
          </a:p>
        </p:txBody>
      </p:sp>
      <p:sp>
        <p:nvSpPr>
          <p:cNvPr id="799" name="Google Shape;799;p62"/>
          <p:cNvSpPr/>
          <p:nvPr/>
        </p:nvSpPr>
        <p:spPr>
          <a:xfrm>
            <a:off x="-14753" y="-1"/>
            <a:ext cx="1955415" cy="921921"/>
          </a:xfrm>
          <a:custGeom>
            <a:avLst/>
            <a:gdLst/>
            <a:ahLst/>
            <a:cxnLst/>
            <a:rect l="l" t="t" r="r" b="b"/>
            <a:pathLst>
              <a:path w="3834147" h="1610342" extrusionOk="0">
                <a:moveTo>
                  <a:pt x="0" y="0"/>
                </a:moveTo>
                <a:lnTo>
                  <a:pt x="3834147" y="0"/>
                </a:lnTo>
                <a:lnTo>
                  <a:pt x="3834147" y="1610341"/>
                </a:lnTo>
                <a:lnTo>
                  <a:pt x="0" y="1610341"/>
                </a:lnTo>
                <a:lnTo>
                  <a:pt x="0" y="0"/>
                </a:lnTo>
                <a:close/>
              </a:path>
            </a:pathLst>
          </a:custGeom>
          <a:blipFill rotWithShape="1">
            <a:blip r:embed="rId3">
              <a:alphaModFix/>
            </a:blip>
            <a:stretch>
              <a:fillRect/>
            </a:stretch>
          </a:blipFill>
          <a:ln>
            <a:noFill/>
          </a:ln>
        </p:spPr>
        <p:txBody>
          <a:bodyPr/>
          <a:lstStyle/>
          <a:p>
            <a:endParaRPr lang="en-US"/>
          </a:p>
        </p:txBody>
      </p:sp>
      <p:pic>
        <p:nvPicPr>
          <p:cNvPr id="800" name="Google Shape;800;p62" descr="Ever wondered how we turn salty sea water into fresh, drinkable water? 🌊💧 In this video, we dive into the science of desalination, the process that helps generate clean water from the ocean. From reverse osmosis to distillation, we explain the technologies behind this life-saving process. Discover how desalination is solving the global water crisis and making a difference in arid regions around the world! 🌍💡&#10;&#10;🔹 How does desalination work?&#10;🔹 What are the different methods used?&#10;🔹 The future of water generation!&#10;&#10;Stay tuned to learn more about this incredible process that could change the future of water supply.&#10;&#10;Find below more video on different Topics&#10;&#10;Valve: https://youtube.com/playlist?list=PLB3q-FrEM4lNw5LSRk-tWEk6Tj-klcIOF&amp;si=k3oa8TjlUkx2n7r5&#10;Gas Turbine: https://youtube.com/playlist?list=PLB3q-FrEM4lPxJv77y94qgKVO0n9w_rc_&amp;si=D9smj4l8iBuFjLTr&#10;Temperature: https://youtube.com/playlist?list=PLB3q-FrEM4lMbPFfv19bC9R2BNTK_kgFA&amp;si=IQa_CJhwrCkgwFNM&#10;Cyber Security Control:https://youtube.com/playlist?list=PLB3q-FrEM4lNhIsJDQxIKUDrGbJ5CiRv4&amp;si=GgDolMQfgg3dRb0j&#10;Power Plant Instrumentation:https://youtube.com/playlist?list=PLB3q-FrEM4lPaSNGV764rUPoUnJc0E9-3&amp;si=SOsl-nBjqbsVBLC6&#10;Analyzers: https://youtube.com/playlist?list=PLB3q-FrEM4lMqQcnsLz_dSFC6KCAhBVQ-&amp;si=qegCppTDNOOkQ5Ap&#10;Steam Turbine: https://youtube.com/playlist?list=PLB3q-FrEM4lNFk7X1OJoSHe_4k9M0b5jr&amp;si=6Sqw8pEe6HKhEJsU&#10;Automation: https://youtube.com/playlist?list=PLB3q-FrEM4lNQgO4LtyciPYir4hym9Oi9&amp;si=w8ef-y_-sK8zSP5q&#10;Pressure Measurement: https://youtube.com/playlist?list=PLB3q-FrEM4lNe9zVIe3rxhed1NSGmhgrF&amp;si=phJFJWM0686DE6Hx&#10;Energy:https://youtube.com/playlist?list=PLB3q-FrEM4lPTuc-Fc3pwZ_R30HaXAe04&amp;si=AW54WgWAX0lLXKHs&#10;Instrumentation: https://youtube.com/playlist?list=PLB3q-FrEM4lMnnl7TsUYLSOcih6zzLSoh&amp;si=3qbFFPRJtUa_z3sB&#10;Flow Measurement: https://youtube.com/playlist?list=PLB3q-FrEM4lPgYbnOxR-lH9j3ljfopEbq&amp;si=9Obz4WSa5Cqr5noc&#10;Level Measurement: https://youtube.com/playlist?list=PLB3q-FrEM4lOil173uWaWPg1MJZaClhEm&amp;si=rYL-zX-2iQIkrul8&#10;Dust and Opacity: https://youtube.com/playlist?list=PLB3q-FrEM4lP3J5-1ai36vsWEiO9Gi3oG&amp;si=7rbrebX_bXJ0JWWb&#10;&#10;#Desalination #SeaWaterToFreshWater #WaterScience #ReverseOsmosis #WaterTech #CleanWater #GlobalWaterCrisis #SustainableWater #OceanToTap #WaterInnovation" title="How Desalination Works: Turning Sea Water into Fresh Water">
            <a:hlinkClick r:id="rId5"/>
          </p:cNvPr>
          <p:cNvPicPr preferRelativeResize="0"/>
          <p:nvPr/>
        </p:nvPicPr>
        <p:blipFill>
          <a:blip r:embed="rId6">
            <a:alphaModFix/>
          </a:blip>
          <a:stretch>
            <a:fillRect/>
          </a:stretch>
        </p:blipFill>
        <p:spPr>
          <a:xfrm>
            <a:off x="8851817" y="2316757"/>
            <a:ext cx="8246750" cy="46388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00"/>
                                        </p:tgtEl>
                                        <p:attrNameLst>
                                          <p:attrName>style.visibility</p:attrName>
                                        </p:attrNameLst>
                                      </p:cBhvr>
                                      <p:to>
                                        <p:strVal val="visible"/>
                                      </p:to>
                                    </p:set>
                                    <p:animEffect transition="in" filter="fade">
                                      <p:cBhvr>
                                        <p:cTn id="7" dur="1000"/>
                                        <p:tgtEl>
                                          <p:spTgt spid="8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54C4ED"/>
        </a:solidFill>
        <a:effectLst/>
      </p:bgPr>
    </p:bg>
    <p:spTree>
      <p:nvGrpSpPr>
        <p:cNvPr id="1" name="Shape 804"/>
        <p:cNvGrpSpPr/>
        <p:nvPr/>
      </p:nvGrpSpPr>
      <p:grpSpPr>
        <a:xfrm>
          <a:off x="0" y="0"/>
          <a:ext cx="0" cy="0"/>
          <a:chOff x="0" y="0"/>
          <a:chExt cx="0" cy="0"/>
        </a:xfrm>
      </p:grpSpPr>
      <p:sp>
        <p:nvSpPr>
          <p:cNvPr id="805" name="Google Shape;805;p63"/>
          <p:cNvSpPr/>
          <p:nvPr/>
        </p:nvSpPr>
        <p:spPr>
          <a:xfrm>
            <a:off x="14681602" y="225675"/>
            <a:ext cx="2885196" cy="1308403"/>
          </a:xfrm>
          <a:custGeom>
            <a:avLst/>
            <a:gdLst/>
            <a:ahLst/>
            <a:cxnLst/>
            <a:rect l="l" t="t" r="r" b="b"/>
            <a:pathLst>
              <a:path w="3834147" h="1610342" extrusionOk="0">
                <a:moveTo>
                  <a:pt x="0" y="0"/>
                </a:moveTo>
                <a:lnTo>
                  <a:pt x="3834147" y="0"/>
                </a:lnTo>
                <a:lnTo>
                  <a:pt x="3834147" y="1610341"/>
                </a:lnTo>
                <a:lnTo>
                  <a:pt x="0" y="1610341"/>
                </a:lnTo>
                <a:lnTo>
                  <a:pt x="0" y="0"/>
                </a:lnTo>
                <a:close/>
              </a:path>
            </a:pathLst>
          </a:custGeom>
          <a:blipFill rotWithShape="1">
            <a:blip r:embed="rId3">
              <a:alphaModFix/>
            </a:blip>
            <a:stretch>
              <a:fillRect/>
            </a:stretch>
          </a:blipFill>
          <a:ln>
            <a:noFill/>
          </a:ln>
        </p:spPr>
        <p:txBody>
          <a:bodyPr/>
          <a:lstStyle/>
          <a:p>
            <a:endParaRPr lang="en-US"/>
          </a:p>
        </p:txBody>
      </p:sp>
      <p:sp>
        <p:nvSpPr>
          <p:cNvPr id="806" name="Google Shape;806;p63"/>
          <p:cNvSpPr/>
          <p:nvPr/>
        </p:nvSpPr>
        <p:spPr>
          <a:xfrm>
            <a:off x="724925" y="3113400"/>
            <a:ext cx="16838148" cy="3899713"/>
          </a:xfrm>
          <a:custGeom>
            <a:avLst/>
            <a:gdLst/>
            <a:ahLst/>
            <a:cxnLst/>
            <a:rect l="l" t="t" r="r" b="b"/>
            <a:pathLst>
              <a:path w="3625005" h="2904814" extrusionOk="0">
                <a:moveTo>
                  <a:pt x="3614521" y="27234"/>
                </a:moveTo>
                <a:cubicBezTo>
                  <a:pt x="3605631" y="23424"/>
                  <a:pt x="3596741" y="20884"/>
                  <a:pt x="3587851" y="20884"/>
                </a:cubicBezTo>
                <a:cubicBezTo>
                  <a:pt x="3561181" y="19614"/>
                  <a:pt x="3507586" y="19614"/>
                  <a:pt x="3448458" y="17074"/>
                </a:cubicBezTo>
                <a:cubicBezTo>
                  <a:pt x="3313309" y="11994"/>
                  <a:pt x="3180975" y="5644"/>
                  <a:pt x="3045825" y="3104"/>
                </a:cubicBezTo>
                <a:cubicBezTo>
                  <a:pt x="2936016" y="564"/>
                  <a:pt x="2829023" y="3104"/>
                  <a:pt x="2719214" y="1834"/>
                </a:cubicBezTo>
                <a:cubicBezTo>
                  <a:pt x="2671348" y="1834"/>
                  <a:pt x="2623483" y="-706"/>
                  <a:pt x="2575617" y="1834"/>
                </a:cubicBezTo>
                <a:cubicBezTo>
                  <a:pt x="2460177" y="9454"/>
                  <a:pt x="2344737" y="10724"/>
                  <a:pt x="2226482" y="8184"/>
                </a:cubicBezTo>
                <a:cubicBezTo>
                  <a:pt x="2167353" y="6914"/>
                  <a:pt x="2108226" y="6914"/>
                  <a:pt x="2049098" y="6914"/>
                </a:cubicBezTo>
                <a:cubicBezTo>
                  <a:pt x="1942104" y="6914"/>
                  <a:pt x="1835111" y="6914"/>
                  <a:pt x="1728118" y="5644"/>
                </a:cubicBezTo>
                <a:cubicBezTo>
                  <a:pt x="1615493" y="4374"/>
                  <a:pt x="506141" y="1834"/>
                  <a:pt x="396332" y="564"/>
                </a:cubicBezTo>
                <a:cubicBezTo>
                  <a:pt x="306233" y="-706"/>
                  <a:pt x="218949" y="564"/>
                  <a:pt x="128849" y="564"/>
                </a:cubicBezTo>
                <a:cubicBezTo>
                  <a:pt x="66905" y="564"/>
                  <a:pt x="33020" y="3104"/>
                  <a:pt x="5080" y="4374"/>
                </a:cubicBezTo>
                <a:cubicBezTo>
                  <a:pt x="3810" y="4374"/>
                  <a:pt x="2540" y="6914"/>
                  <a:pt x="0" y="8184"/>
                </a:cubicBezTo>
                <a:cubicBezTo>
                  <a:pt x="1270" y="20884"/>
                  <a:pt x="3810" y="33584"/>
                  <a:pt x="5080" y="46284"/>
                </a:cubicBezTo>
                <a:cubicBezTo>
                  <a:pt x="15240" y="156999"/>
                  <a:pt x="16510" y="284285"/>
                  <a:pt x="17780" y="409337"/>
                </a:cubicBezTo>
                <a:cubicBezTo>
                  <a:pt x="19050" y="536623"/>
                  <a:pt x="17780" y="663909"/>
                  <a:pt x="16510" y="793428"/>
                </a:cubicBezTo>
                <a:cubicBezTo>
                  <a:pt x="15240" y="925180"/>
                  <a:pt x="2540" y="2307458"/>
                  <a:pt x="2540" y="2439210"/>
                </a:cubicBezTo>
                <a:cubicBezTo>
                  <a:pt x="2540" y="2568729"/>
                  <a:pt x="1270" y="2698248"/>
                  <a:pt x="0" y="2827767"/>
                </a:cubicBezTo>
                <a:cubicBezTo>
                  <a:pt x="0" y="2850204"/>
                  <a:pt x="3810" y="2860364"/>
                  <a:pt x="15240" y="2865444"/>
                </a:cubicBezTo>
                <a:cubicBezTo>
                  <a:pt x="22860" y="2869254"/>
                  <a:pt x="31750" y="2871794"/>
                  <a:pt x="40640" y="2873064"/>
                </a:cubicBezTo>
                <a:cubicBezTo>
                  <a:pt x="126033" y="2878144"/>
                  <a:pt x="233027" y="2881954"/>
                  <a:pt x="340020" y="2887034"/>
                </a:cubicBezTo>
                <a:cubicBezTo>
                  <a:pt x="399148" y="2889574"/>
                  <a:pt x="458276" y="2894654"/>
                  <a:pt x="517404" y="2895924"/>
                </a:cubicBezTo>
                <a:cubicBezTo>
                  <a:pt x="615950" y="2898464"/>
                  <a:pt x="1714040" y="2899734"/>
                  <a:pt x="1812586" y="2901004"/>
                </a:cubicBezTo>
                <a:cubicBezTo>
                  <a:pt x="1826664" y="2901004"/>
                  <a:pt x="1840742" y="2901004"/>
                  <a:pt x="1854820" y="2901004"/>
                </a:cubicBezTo>
                <a:cubicBezTo>
                  <a:pt x="1922395" y="2901004"/>
                  <a:pt x="1992786" y="2899734"/>
                  <a:pt x="2060360" y="2899734"/>
                </a:cubicBezTo>
                <a:cubicBezTo>
                  <a:pt x="2139197" y="2899734"/>
                  <a:pt x="2215219" y="2901004"/>
                  <a:pt x="2294056" y="2901004"/>
                </a:cubicBezTo>
                <a:cubicBezTo>
                  <a:pt x="2409496" y="2901004"/>
                  <a:pt x="2527752" y="2901004"/>
                  <a:pt x="2643192" y="2901004"/>
                </a:cubicBezTo>
                <a:cubicBezTo>
                  <a:pt x="2750185" y="2901004"/>
                  <a:pt x="2857179" y="2902274"/>
                  <a:pt x="2964172" y="2903544"/>
                </a:cubicBezTo>
                <a:cubicBezTo>
                  <a:pt x="3012038" y="2903544"/>
                  <a:pt x="3062719" y="2904814"/>
                  <a:pt x="3110584" y="2904814"/>
                </a:cubicBezTo>
                <a:cubicBezTo>
                  <a:pt x="3265443" y="2903544"/>
                  <a:pt x="3417486" y="2897194"/>
                  <a:pt x="3564991" y="2897194"/>
                </a:cubicBezTo>
                <a:cubicBezTo>
                  <a:pt x="3568801" y="2897194"/>
                  <a:pt x="3573881" y="2894654"/>
                  <a:pt x="3577691" y="2892114"/>
                </a:cubicBezTo>
                <a:cubicBezTo>
                  <a:pt x="3582771" y="2888304"/>
                  <a:pt x="3585311" y="2881954"/>
                  <a:pt x="3587851" y="2879414"/>
                </a:cubicBezTo>
                <a:cubicBezTo>
                  <a:pt x="3589121" y="2812135"/>
                  <a:pt x="3590391" y="2718346"/>
                  <a:pt x="3591661" y="2624556"/>
                </a:cubicBezTo>
                <a:cubicBezTo>
                  <a:pt x="3592931" y="2479406"/>
                  <a:pt x="3603091" y="1085962"/>
                  <a:pt x="3604361" y="940811"/>
                </a:cubicBezTo>
                <a:cubicBezTo>
                  <a:pt x="3604361" y="853721"/>
                  <a:pt x="3605631" y="766631"/>
                  <a:pt x="3606901" y="679540"/>
                </a:cubicBezTo>
                <a:cubicBezTo>
                  <a:pt x="3608171" y="585751"/>
                  <a:pt x="3609441" y="491961"/>
                  <a:pt x="3611981" y="398172"/>
                </a:cubicBezTo>
                <a:cubicBezTo>
                  <a:pt x="3613251" y="342345"/>
                  <a:pt x="3613251" y="284285"/>
                  <a:pt x="3618331" y="228458"/>
                </a:cubicBezTo>
                <a:cubicBezTo>
                  <a:pt x="3623411" y="161465"/>
                  <a:pt x="3625951" y="96706"/>
                  <a:pt x="3624681" y="43744"/>
                </a:cubicBezTo>
                <a:cubicBezTo>
                  <a:pt x="3624681" y="37394"/>
                  <a:pt x="3620871" y="29774"/>
                  <a:pt x="3614521" y="27234"/>
                </a:cubicBezTo>
                <a:close/>
              </a:path>
            </a:pathLst>
          </a:custGeom>
          <a:solidFill>
            <a:srgbClr val="EAF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4200" dirty="0">
                <a:solidFill>
                  <a:schemeClr val="dk1"/>
                </a:solidFill>
                <a:latin typeface="Nunito"/>
                <a:ea typeface="Nunito"/>
                <a:cs typeface="Nunito"/>
                <a:sym typeface="Nunito"/>
              </a:rPr>
              <a:t>Read the information on Desalination and think about its short and long term benefits and disadvantages.</a:t>
            </a:r>
            <a:endParaRPr sz="4200" dirty="0">
              <a:solidFill>
                <a:schemeClr val="dk1"/>
              </a:solidFill>
              <a:latin typeface="Nunito"/>
              <a:ea typeface="Nunito"/>
              <a:cs typeface="Nunito"/>
              <a:sym typeface="Nunito"/>
            </a:endParaRPr>
          </a:p>
          <a:p>
            <a:pPr marL="0" lvl="0" indent="0" algn="l" rtl="0">
              <a:spcBef>
                <a:spcPts val="1000"/>
              </a:spcBef>
              <a:spcAft>
                <a:spcPts val="0"/>
              </a:spcAft>
              <a:buNone/>
            </a:pPr>
            <a:endParaRPr sz="4200" dirty="0">
              <a:solidFill>
                <a:schemeClr val="dk1"/>
              </a:solidFill>
              <a:latin typeface="Nunito"/>
              <a:ea typeface="Nunito"/>
              <a:cs typeface="Nunito"/>
              <a:sym typeface="Nunito"/>
            </a:endParaRPr>
          </a:p>
          <a:p>
            <a:pPr marL="0" lvl="0" indent="0" algn="l" rtl="0">
              <a:spcBef>
                <a:spcPts val="1000"/>
              </a:spcBef>
              <a:spcAft>
                <a:spcPts val="1000"/>
              </a:spcAft>
              <a:buNone/>
            </a:pPr>
            <a:r>
              <a:rPr lang="en-US" sz="4200" dirty="0">
                <a:solidFill>
                  <a:schemeClr val="dk1"/>
                </a:solidFill>
                <a:latin typeface="Nunito"/>
                <a:ea typeface="Nunito"/>
                <a:cs typeface="Nunito"/>
                <a:sym typeface="Nunito"/>
              </a:rPr>
              <a:t>Is it a worthwhile strategy for governments to invest in to?</a:t>
            </a:r>
            <a:endParaRPr sz="4200" dirty="0">
              <a:solidFill>
                <a:schemeClr val="dk1"/>
              </a:solidFill>
              <a:latin typeface="Nunito"/>
              <a:ea typeface="Nunito"/>
              <a:cs typeface="Nunito"/>
              <a:sym typeface="Nunito"/>
            </a:endParaRPr>
          </a:p>
        </p:txBody>
      </p:sp>
      <p:sp>
        <p:nvSpPr>
          <p:cNvPr id="807" name="Google Shape;807;p63"/>
          <p:cNvSpPr/>
          <p:nvPr/>
        </p:nvSpPr>
        <p:spPr>
          <a:xfrm>
            <a:off x="-14749" y="8872538"/>
            <a:ext cx="4586747" cy="3102309"/>
          </a:xfrm>
          <a:custGeom>
            <a:avLst/>
            <a:gdLst/>
            <a:ahLst/>
            <a:cxnLst/>
            <a:rect l="l" t="t" r="r" b="b"/>
            <a:pathLst>
              <a:path w="4586747" h="3102309" extrusionOk="0">
                <a:moveTo>
                  <a:pt x="0" y="0"/>
                </a:moveTo>
                <a:lnTo>
                  <a:pt x="4586747" y="0"/>
                </a:lnTo>
                <a:lnTo>
                  <a:pt x="4586747" y="3102309"/>
                </a:lnTo>
                <a:lnTo>
                  <a:pt x="0" y="3102309"/>
                </a:lnTo>
                <a:lnTo>
                  <a:pt x="0" y="0"/>
                </a:lnTo>
                <a:close/>
              </a:path>
            </a:pathLst>
          </a:custGeom>
          <a:blipFill rotWithShape="1">
            <a:blip r:embed="rId4">
              <a:alphaModFix/>
            </a:blip>
            <a:stretch>
              <a:fillRect/>
            </a:stretch>
          </a:blipFill>
          <a:ln>
            <a:noFill/>
          </a:ln>
        </p:spPr>
        <p:txBody>
          <a:bodyPr/>
          <a:lstStyle/>
          <a:p>
            <a:endParaRPr lang="en-US"/>
          </a:p>
        </p:txBody>
      </p:sp>
      <p:sp>
        <p:nvSpPr>
          <p:cNvPr id="808" name="Google Shape;808;p63"/>
          <p:cNvSpPr/>
          <p:nvPr/>
        </p:nvSpPr>
        <p:spPr>
          <a:xfrm>
            <a:off x="13969023" y="8021634"/>
            <a:ext cx="4586747" cy="3102309"/>
          </a:xfrm>
          <a:custGeom>
            <a:avLst/>
            <a:gdLst/>
            <a:ahLst/>
            <a:cxnLst/>
            <a:rect l="l" t="t" r="r" b="b"/>
            <a:pathLst>
              <a:path w="4586747" h="3102309" extrusionOk="0">
                <a:moveTo>
                  <a:pt x="0" y="0"/>
                </a:moveTo>
                <a:lnTo>
                  <a:pt x="4586747" y="0"/>
                </a:lnTo>
                <a:lnTo>
                  <a:pt x="4586747" y="3102308"/>
                </a:lnTo>
                <a:lnTo>
                  <a:pt x="0" y="3102308"/>
                </a:lnTo>
                <a:lnTo>
                  <a:pt x="0" y="0"/>
                </a:lnTo>
                <a:close/>
              </a:path>
            </a:pathLst>
          </a:custGeom>
          <a:blipFill rotWithShape="1">
            <a:blip r:embed="rId4">
              <a:alphaModFix/>
            </a:blip>
            <a:stretch>
              <a:fillRect/>
            </a:stretch>
          </a:blipFill>
          <a:ln>
            <a:noFill/>
          </a:ln>
        </p:spPr>
        <p:txBody>
          <a:bodyPr/>
          <a:lstStyle/>
          <a:p>
            <a:endParaRPr lang="en-US"/>
          </a:p>
        </p:txBody>
      </p:sp>
      <p:sp>
        <p:nvSpPr>
          <p:cNvPr id="809" name="Google Shape;809;p63"/>
          <p:cNvSpPr txBox="1"/>
          <p:nvPr/>
        </p:nvSpPr>
        <p:spPr>
          <a:xfrm>
            <a:off x="724200" y="796600"/>
            <a:ext cx="16839600" cy="1308300"/>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8499">
                <a:solidFill>
                  <a:srgbClr val="FFFFFF"/>
                </a:solidFill>
                <a:latin typeface="Yeseva One"/>
                <a:ea typeface="Yeseva One"/>
                <a:cs typeface="Yeseva One"/>
                <a:sym typeface="Yeseva One"/>
              </a:rPr>
              <a:t>Example: Desalination</a:t>
            </a:r>
            <a:endParaRPr/>
          </a:p>
        </p:txBody>
      </p:sp>
      <p:sp>
        <p:nvSpPr>
          <p:cNvPr id="810" name="Google Shape;810;p63"/>
          <p:cNvSpPr/>
          <p:nvPr/>
        </p:nvSpPr>
        <p:spPr>
          <a:xfrm>
            <a:off x="-14753" y="-1"/>
            <a:ext cx="1955415" cy="921921"/>
          </a:xfrm>
          <a:custGeom>
            <a:avLst/>
            <a:gdLst/>
            <a:ahLst/>
            <a:cxnLst/>
            <a:rect l="l" t="t" r="r" b="b"/>
            <a:pathLst>
              <a:path w="3834147" h="1610342" extrusionOk="0">
                <a:moveTo>
                  <a:pt x="0" y="0"/>
                </a:moveTo>
                <a:lnTo>
                  <a:pt x="3834147" y="0"/>
                </a:lnTo>
                <a:lnTo>
                  <a:pt x="3834147" y="1610341"/>
                </a:lnTo>
                <a:lnTo>
                  <a:pt x="0" y="1610341"/>
                </a:lnTo>
                <a:lnTo>
                  <a:pt x="0" y="0"/>
                </a:lnTo>
                <a:close/>
              </a:path>
            </a:pathLst>
          </a:custGeom>
          <a:blipFill rotWithShape="1">
            <a:blip r:embed="rId3">
              <a:alphaModFix/>
            </a:blip>
            <a:stretch>
              <a:fillRect/>
            </a:stretch>
          </a:blipFill>
          <a:ln>
            <a:noFill/>
          </a:ln>
        </p:spPr>
        <p:txBody>
          <a:bodyPr/>
          <a:lstStyle/>
          <a:p>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814"/>
        <p:cNvGrpSpPr/>
        <p:nvPr/>
      </p:nvGrpSpPr>
      <p:grpSpPr>
        <a:xfrm>
          <a:off x="0" y="0"/>
          <a:ext cx="0" cy="0"/>
          <a:chOff x="0" y="0"/>
          <a:chExt cx="0" cy="0"/>
        </a:xfrm>
      </p:grpSpPr>
      <p:sp>
        <p:nvSpPr>
          <p:cNvPr id="815" name="Google Shape;815;p64"/>
          <p:cNvSpPr/>
          <p:nvPr/>
        </p:nvSpPr>
        <p:spPr>
          <a:xfrm>
            <a:off x="14681602" y="225675"/>
            <a:ext cx="2885196" cy="1308403"/>
          </a:xfrm>
          <a:custGeom>
            <a:avLst/>
            <a:gdLst/>
            <a:ahLst/>
            <a:cxnLst/>
            <a:rect l="l" t="t" r="r" b="b"/>
            <a:pathLst>
              <a:path w="3834147" h="1610342" extrusionOk="0">
                <a:moveTo>
                  <a:pt x="0" y="0"/>
                </a:moveTo>
                <a:lnTo>
                  <a:pt x="3834147" y="0"/>
                </a:lnTo>
                <a:lnTo>
                  <a:pt x="3834147" y="1610341"/>
                </a:lnTo>
                <a:lnTo>
                  <a:pt x="0" y="1610341"/>
                </a:lnTo>
                <a:lnTo>
                  <a:pt x="0" y="0"/>
                </a:lnTo>
                <a:close/>
              </a:path>
            </a:pathLst>
          </a:custGeom>
          <a:blipFill rotWithShape="1">
            <a:blip r:embed="rId3">
              <a:alphaModFix/>
            </a:blip>
            <a:stretch>
              <a:fillRect/>
            </a:stretch>
          </a:blipFill>
          <a:ln>
            <a:noFill/>
          </a:ln>
        </p:spPr>
        <p:txBody>
          <a:bodyPr/>
          <a:lstStyle/>
          <a:p>
            <a:endParaRPr lang="en-US"/>
          </a:p>
        </p:txBody>
      </p:sp>
      <p:sp>
        <p:nvSpPr>
          <p:cNvPr id="816" name="Google Shape;816;p64"/>
          <p:cNvSpPr/>
          <p:nvPr/>
        </p:nvSpPr>
        <p:spPr>
          <a:xfrm>
            <a:off x="842774" y="2376026"/>
            <a:ext cx="7458448" cy="5976655"/>
          </a:xfrm>
          <a:custGeom>
            <a:avLst/>
            <a:gdLst/>
            <a:ahLst/>
            <a:cxnLst/>
            <a:rect l="l" t="t" r="r" b="b"/>
            <a:pathLst>
              <a:path w="3625005" h="2904814" extrusionOk="0">
                <a:moveTo>
                  <a:pt x="3614521" y="27234"/>
                </a:moveTo>
                <a:cubicBezTo>
                  <a:pt x="3605631" y="23424"/>
                  <a:pt x="3596741" y="20884"/>
                  <a:pt x="3587851" y="20884"/>
                </a:cubicBezTo>
                <a:cubicBezTo>
                  <a:pt x="3561181" y="19614"/>
                  <a:pt x="3507586" y="19614"/>
                  <a:pt x="3448458" y="17074"/>
                </a:cubicBezTo>
                <a:cubicBezTo>
                  <a:pt x="3313309" y="11994"/>
                  <a:pt x="3180975" y="5644"/>
                  <a:pt x="3045825" y="3104"/>
                </a:cubicBezTo>
                <a:cubicBezTo>
                  <a:pt x="2936016" y="564"/>
                  <a:pt x="2829023" y="3104"/>
                  <a:pt x="2719214" y="1834"/>
                </a:cubicBezTo>
                <a:cubicBezTo>
                  <a:pt x="2671348" y="1834"/>
                  <a:pt x="2623483" y="-706"/>
                  <a:pt x="2575617" y="1834"/>
                </a:cubicBezTo>
                <a:cubicBezTo>
                  <a:pt x="2460177" y="9454"/>
                  <a:pt x="2344737" y="10724"/>
                  <a:pt x="2226482" y="8184"/>
                </a:cubicBezTo>
                <a:cubicBezTo>
                  <a:pt x="2167353" y="6914"/>
                  <a:pt x="2108226" y="6914"/>
                  <a:pt x="2049098" y="6914"/>
                </a:cubicBezTo>
                <a:cubicBezTo>
                  <a:pt x="1942104" y="6914"/>
                  <a:pt x="1835111" y="6914"/>
                  <a:pt x="1728118" y="5644"/>
                </a:cubicBezTo>
                <a:cubicBezTo>
                  <a:pt x="1615493" y="4374"/>
                  <a:pt x="506141" y="1834"/>
                  <a:pt x="396332" y="564"/>
                </a:cubicBezTo>
                <a:cubicBezTo>
                  <a:pt x="306233" y="-706"/>
                  <a:pt x="218949" y="564"/>
                  <a:pt x="128849" y="564"/>
                </a:cubicBezTo>
                <a:cubicBezTo>
                  <a:pt x="66905" y="564"/>
                  <a:pt x="33020" y="3104"/>
                  <a:pt x="5080" y="4374"/>
                </a:cubicBezTo>
                <a:cubicBezTo>
                  <a:pt x="3810" y="4374"/>
                  <a:pt x="2540" y="6914"/>
                  <a:pt x="0" y="8184"/>
                </a:cubicBezTo>
                <a:cubicBezTo>
                  <a:pt x="1270" y="20884"/>
                  <a:pt x="3810" y="33584"/>
                  <a:pt x="5080" y="46284"/>
                </a:cubicBezTo>
                <a:cubicBezTo>
                  <a:pt x="15240" y="156999"/>
                  <a:pt x="16510" y="284285"/>
                  <a:pt x="17780" y="409337"/>
                </a:cubicBezTo>
                <a:cubicBezTo>
                  <a:pt x="19050" y="536623"/>
                  <a:pt x="17780" y="663909"/>
                  <a:pt x="16510" y="793428"/>
                </a:cubicBezTo>
                <a:cubicBezTo>
                  <a:pt x="15240" y="925180"/>
                  <a:pt x="2540" y="2307458"/>
                  <a:pt x="2540" y="2439210"/>
                </a:cubicBezTo>
                <a:cubicBezTo>
                  <a:pt x="2540" y="2568729"/>
                  <a:pt x="1270" y="2698248"/>
                  <a:pt x="0" y="2827767"/>
                </a:cubicBezTo>
                <a:cubicBezTo>
                  <a:pt x="0" y="2850204"/>
                  <a:pt x="3810" y="2860364"/>
                  <a:pt x="15240" y="2865444"/>
                </a:cubicBezTo>
                <a:cubicBezTo>
                  <a:pt x="22860" y="2869254"/>
                  <a:pt x="31750" y="2871794"/>
                  <a:pt x="40640" y="2873064"/>
                </a:cubicBezTo>
                <a:cubicBezTo>
                  <a:pt x="126033" y="2878144"/>
                  <a:pt x="233027" y="2881954"/>
                  <a:pt x="340020" y="2887034"/>
                </a:cubicBezTo>
                <a:cubicBezTo>
                  <a:pt x="399148" y="2889574"/>
                  <a:pt x="458276" y="2894654"/>
                  <a:pt x="517404" y="2895924"/>
                </a:cubicBezTo>
                <a:cubicBezTo>
                  <a:pt x="615950" y="2898464"/>
                  <a:pt x="1714040" y="2899734"/>
                  <a:pt x="1812586" y="2901004"/>
                </a:cubicBezTo>
                <a:cubicBezTo>
                  <a:pt x="1826664" y="2901004"/>
                  <a:pt x="1840742" y="2901004"/>
                  <a:pt x="1854820" y="2901004"/>
                </a:cubicBezTo>
                <a:cubicBezTo>
                  <a:pt x="1922395" y="2901004"/>
                  <a:pt x="1992786" y="2899734"/>
                  <a:pt x="2060360" y="2899734"/>
                </a:cubicBezTo>
                <a:cubicBezTo>
                  <a:pt x="2139197" y="2899734"/>
                  <a:pt x="2215219" y="2901004"/>
                  <a:pt x="2294056" y="2901004"/>
                </a:cubicBezTo>
                <a:cubicBezTo>
                  <a:pt x="2409496" y="2901004"/>
                  <a:pt x="2527752" y="2901004"/>
                  <a:pt x="2643192" y="2901004"/>
                </a:cubicBezTo>
                <a:cubicBezTo>
                  <a:pt x="2750185" y="2901004"/>
                  <a:pt x="2857179" y="2902274"/>
                  <a:pt x="2964172" y="2903544"/>
                </a:cubicBezTo>
                <a:cubicBezTo>
                  <a:pt x="3012038" y="2903544"/>
                  <a:pt x="3062719" y="2904814"/>
                  <a:pt x="3110584" y="2904814"/>
                </a:cubicBezTo>
                <a:cubicBezTo>
                  <a:pt x="3265443" y="2903544"/>
                  <a:pt x="3417486" y="2897194"/>
                  <a:pt x="3564991" y="2897194"/>
                </a:cubicBezTo>
                <a:cubicBezTo>
                  <a:pt x="3568801" y="2897194"/>
                  <a:pt x="3573881" y="2894654"/>
                  <a:pt x="3577691" y="2892114"/>
                </a:cubicBezTo>
                <a:cubicBezTo>
                  <a:pt x="3582771" y="2888304"/>
                  <a:pt x="3585311" y="2881954"/>
                  <a:pt x="3587851" y="2879414"/>
                </a:cubicBezTo>
                <a:cubicBezTo>
                  <a:pt x="3589121" y="2812135"/>
                  <a:pt x="3590391" y="2718346"/>
                  <a:pt x="3591661" y="2624556"/>
                </a:cubicBezTo>
                <a:cubicBezTo>
                  <a:pt x="3592931" y="2479406"/>
                  <a:pt x="3603091" y="1085962"/>
                  <a:pt x="3604361" y="940811"/>
                </a:cubicBezTo>
                <a:cubicBezTo>
                  <a:pt x="3604361" y="853721"/>
                  <a:pt x="3605631" y="766631"/>
                  <a:pt x="3606901" y="679540"/>
                </a:cubicBezTo>
                <a:cubicBezTo>
                  <a:pt x="3608171" y="585751"/>
                  <a:pt x="3609441" y="491961"/>
                  <a:pt x="3611981" y="398172"/>
                </a:cubicBezTo>
                <a:cubicBezTo>
                  <a:pt x="3613251" y="342345"/>
                  <a:pt x="3613251" y="284285"/>
                  <a:pt x="3618331" y="228458"/>
                </a:cubicBezTo>
                <a:cubicBezTo>
                  <a:pt x="3623411" y="161465"/>
                  <a:pt x="3625951" y="96706"/>
                  <a:pt x="3624681" y="43744"/>
                </a:cubicBezTo>
                <a:cubicBezTo>
                  <a:pt x="3624681" y="37394"/>
                  <a:pt x="3620871" y="29774"/>
                  <a:pt x="3614521" y="27234"/>
                </a:cubicBezTo>
                <a:close/>
              </a:path>
            </a:pathLst>
          </a:custGeom>
          <a:solidFill>
            <a:srgbClr val="EAF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4200" dirty="0">
                <a:solidFill>
                  <a:schemeClr val="dk1"/>
                </a:solidFill>
                <a:latin typeface="Nunito"/>
                <a:ea typeface="Nunito"/>
                <a:cs typeface="Nunito"/>
                <a:sym typeface="Nunito"/>
              </a:rPr>
              <a:t>Some places have access to </a:t>
            </a:r>
            <a:r>
              <a:rPr lang="en-US" sz="4200" b="1" dirty="0">
                <a:solidFill>
                  <a:schemeClr val="dk1"/>
                </a:solidFill>
                <a:latin typeface="Nunito"/>
                <a:ea typeface="Nunito"/>
                <a:cs typeface="Nunito"/>
                <a:sym typeface="Nunito"/>
              </a:rPr>
              <a:t>improved</a:t>
            </a:r>
            <a:r>
              <a:rPr lang="en-US" sz="4200" dirty="0">
                <a:solidFill>
                  <a:schemeClr val="dk1"/>
                </a:solidFill>
                <a:latin typeface="Nunito"/>
                <a:ea typeface="Nunito"/>
                <a:cs typeface="Nunito"/>
                <a:sym typeface="Nunito"/>
              </a:rPr>
              <a:t> water sources. These are </a:t>
            </a:r>
            <a:r>
              <a:rPr lang="en-US" sz="4200" b="1" dirty="0">
                <a:solidFill>
                  <a:schemeClr val="dk1"/>
                </a:solidFill>
                <a:latin typeface="Nunito"/>
                <a:ea typeface="Nunito"/>
                <a:cs typeface="Nunito"/>
                <a:sym typeface="Nunito"/>
              </a:rPr>
              <a:t>long term</a:t>
            </a:r>
            <a:r>
              <a:rPr lang="en-US" sz="4200" dirty="0">
                <a:solidFill>
                  <a:schemeClr val="dk1"/>
                </a:solidFill>
                <a:latin typeface="Nunito"/>
                <a:ea typeface="Nunito"/>
                <a:cs typeface="Nunito"/>
                <a:sym typeface="Nunito"/>
              </a:rPr>
              <a:t> water supplies that are protected from contamination, such as piped water, protected wells, boreholes, rainwater tanks and properly maintained public standpipes</a:t>
            </a:r>
            <a:endParaRPr dirty="0"/>
          </a:p>
        </p:txBody>
      </p:sp>
      <p:sp>
        <p:nvSpPr>
          <p:cNvPr id="817" name="Google Shape;817;p64"/>
          <p:cNvSpPr/>
          <p:nvPr/>
        </p:nvSpPr>
        <p:spPr>
          <a:xfrm>
            <a:off x="-14749" y="8262938"/>
            <a:ext cx="4586747" cy="3102309"/>
          </a:xfrm>
          <a:custGeom>
            <a:avLst/>
            <a:gdLst/>
            <a:ahLst/>
            <a:cxnLst/>
            <a:rect l="l" t="t" r="r" b="b"/>
            <a:pathLst>
              <a:path w="4586747" h="3102309" extrusionOk="0">
                <a:moveTo>
                  <a:pt x="0" y="0"/>
                </a:moveTo>
                <a:lnTo>
                  <a:pt x="4586747" y="0"/>
                </a:lnTo>
                <a:lnTo>
                  <a:pt x="4586747" y="3102309"/>
                </a:lnTo>
                <a:lnTo>
                  <a:pt x="0" y="3102309"/>
                </a:lnTo>
                <a:lnTo>
                  <a:pt x="0" y="0"/>
                </a:lnTo>
                <a:close/>
              </a:path>
            </a:pathLst>
          </a:custGeom>
          <a:blipFill rotWithShape="1">
            <a:blip r:embed="rId4">
              <a:alphaModFix/>
            </a:blip>
            <a:stretch>
              <a:fillRect/>
            </a:stretch>
          </a:blipFill>
          <a:ln>
            <a:noFill/>
          </a:ln>
        </p:spPr>
        <p:txBody>
          <a:bodyPr/>
          <a:lstStyle/>
          <a:p>
            <a:endParaRPr lang="en-US"/>
          </a:p>
        </p:txBody>
      </p:sp>
      <p:sp>
        <p:nvSpPr>
          <p:cNvPr id="818" name="Google Shape;818;p64"/>
          <p:cNvSpPr/>
          <p:nvPr/>
        </p:nvSpPr>
        <p:spPr>
          <a:xfrm>
            <a:off x="13969023" y="8021634"/>
            <a:ext cx="4586747" cy="3102309"/>
          </a:xfrm>
          <a:custGeom>
            <a:avLst/>
            <a:gdLst/>
            <a:ahLst/>
            <a:cxnLst/>
            <a:rect l="l" t="t" r="r" b="b"/>
            <a:pathLst>
              <a:path w="4586747" h="3102309" extrusionOk="0">
                <a:moveTo>
                  <a:pt x="0" y="0"/>
                </a:moveTo>
                <a:lnTo>
                  <a:pt x="4586747" y="0"/>
                </a:lnTo>
                <a:lnTo>
                  <a:pt x="4586747" y="3102308"/>
                </a:lnTo>
                <a:lnTo>
                  <a:pt x="0" y="3102308"/>
                </a:lnTo>
                <a:lnTo>
                  <a:pt x="0" y="0"/>
                </a:lnTo>
                <a:close/>
              </a:path>
            </a:pathLst>
          </a:custGeom>
          <a:blipFill rotWithShape="1">
            <a:blip r:embed="rId4">
              <a:alphaModFix/>
            </a:blip>
            <a:stretch>
              <a:fillRect/>
            </a:stretch>
          </a:blipFill>
          <a:ln>
            <a:noFill/>
          </a:ln>
        </p:spPr>
        <p:txBody>
          <a:bodyPr/>
          <a:lstStyle/>
          <a:p>
            <a:endParaRPr lang="en-US"/>
          </a:p>
        </p:txBody>
      </p:sp>
      <p:sp>
        <p:nvSpPr>
          <p:cNvPr id="819" name="Google Shape;819;p64"/>
          <p:cNvSpPr txBox="1"/>
          <p:nvPr/>
        </p:nvSpPr>
        <p:spPr>
          <a:xfrm>
            <a:off x="724200" y="796600"/>
            <a:ext cx="16839600" cy="1308300"/>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8499">
                <a:solidFill>
                  <a:srgbClr val="FFFFFF"/>
                </a:solidFill>
                <a:latin typeface="Yeseva One"/>
                <a:ea typeface="Yeseva One"/>
                <a:cs typeface="Yeseva One"/>
                <a:sym typeface="Yeseva One"/>
              </a:rPr>
              <a:t>Who has high quality water?</a:t>
            </a:r>
            <a:endParaRPr/>
          </a:p>
        </p:txBody>
      </p:sp>
      <p:sp>
        <p:nvSpPr>
          <p:cNvPr id="820" name="Google Shape;820;p64"/>
          <p:cNvSpPr/>
          <p:nvPr/>
        </p:nvSpPr>
        <p:spPr>
          <a:xfrm>
            <a:off x="-14753" y="-1"/>
            <a:ext cx="1955415" cy="921921"/>
          </a:xfrm>
          <a:custGeom>
            <a:avLst/>
            <a:gdLst/>
            <a:ahLst/>
            <a:cxnLst/>
            <a:rect l="l" t="t" r="r" b="b"/>
            <a:pathLst>
              <a:path w="3834147" h="1610342" extrusionOk="0">
                <a:moveTo>
                  <a:pt x="0" y="0"/>
                </a:moveTo>
                <a:lnTo>
                  <a:pt x="3834147" y="0"/>
                </a:lnTo>
                <a:lnTo>
                  <a:pt x="3834147" y="1610341"/>
                </a:lnTo>
                <a:lnTo>
                  <a:pt x="0" y="1610341"/>
                </a:lnTo>
                <a:lnTo>
                  <a:pt x="0" y="0"/>
                </a:lnTo>
                <a:close/>
              </a:path>
            </a:pathLst>
          </a:custGeom>
          <a:blipFill rotWithShape="1">
            <a:blip r:embed="rId3">
              <a:alphaModFix/>
            </a:blip>
            <a:stretch>
              <a:fillRect/>
            </a:stretch>
          </a:blipFill>
          <a:ln>
            <a:noFill/>
          </a:ln>
        </p:spPr>
        <p:txBody>
          <a:bodyPr/>
          <a:lstStyle/>
          <a:p>
            <a:endParaRPr lang="en-US"/>
          </a:p>
        </p:txBody>
      </p:sp>
      <p:pic>
        <p:nvPicPr>
          <p:cNvPr id="821" name="Google Shape;821;p64"/>
          <p:cNvPicPr preferRelativeResize="0"/>
          <p:nvPr/>
        </p:nvPicPr>
        <p:blipFill>
          <a:blip r:embed="rId5">
            <a:alphaModFix/>
          </a:blip>
          <a:stretch>
            <a:fillRect/>
          </a:stretch>
        </p:blipFill>
        <p:spPr>
          <a:xfrm>
            <a:off x="8978580" y="2330679"/>
            <a:ext cx="8585220" cy="606735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4684AF"/>
        </a:solidFill>
        <a:effectLst/>
      </p:bgPr>
    </p:bg>
    <p:spTree>
      <p:nvGrpSpPr>
        <p:cNvPr id="1" name="Shape 825"/>
        <p:cNvGrpSpPr/>
        <p:nvPr/>
      </p:nvGrpSpPr>
      <p:grpSpPr>
        <a:xfrm>
          <a:off x="0" y="0"/>
          <a:ext cx="0" cy="0"/>
          <a:chOff x="0" y="0"/>
          <a:chExt cx="0" cy="0"/>
        </a:xfrm>
      </p:grpSpPr>
      <p:pic>
        <p:nvPicPr>
          <p:cNvPr id="826" name="Google Shape;826;p65" title="Screenshot 2025-12-09 at 1.47.19 pm.png"/>
          <p:cNvPicPr preferRelativeResize="0"/>
          <p:nvPr/>
        </p:nvPicPr>
        <p:blipFill>
          <a:blip r:embed="rId3">
            <a:alphaModFix/>
          </a:blip>
          <a:stretch>
            <a:fillRect/>
          </a:stretch>
        </p:blipFill>
        <p:spPr>
          <a:xfrm>
            <a:off x="2439363" y="361690"/>
            <a:ext cx="13409274" cy="9388174"/>
          </a:xfrm>
          <a:prstGeom prst="rect">
            <a:avLst/>
          </a:prstGeom>
          <a:noFill/>
          <a:ln>
            <a:noFill/>
          </a:ln>
        </p:spPr>
      </p:pic>
      <p:sp>
        <p:nvSpPr>
          <p:cNvPr id="827" name="Google Shape;827;p65"/>
          <p:cNvSpPr txBox="1"/>
          <p:nvPr/>
        </p:nvSpPr>
        <p:spPr>
          <a:xfrm>
            <a:off x="11369842" y="9749864"/>
            <a:ext cx="6477000" cy="43085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b="1" dirty="0">
                <a:solidFill>
                  <a:schemeClr val="lt1"/>
                </a:solidFill>
                <a:latin typeface="Calibri"/>
                <a:ea typeface="Calibri"/>
                <a:cs typeface="Calibri"/>
                <a:sym typeface="Calibri"/>
              </a:rPr>
              <a:t>Source: Our World in Data</a:t>
            </a:r>
            <a:endParaRPr sz="1600" b="1" dirty="0">
              <a:solidFill>
                <a:schemeClr val="lt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54C4ED"/>
        </a:solidFill>
        <a:effectLst/>
      </p:bgPr>
    </p:bg>
    <p:spTree>
      <p:nvGrpSpPr>
        <p:cNvPr id="1" name="Shape 831"/>
        <p:cNvGrpSpPr/>
        <p:nvPr/>
      </p:nvGrpSpPr>
      <p:grpSpPr>
        <a:xfrm>
          <a:off x="0" y="0"/>
          <a:ext cx="0" cy="0"/>
          <a:chOff x="0" y="0"/>
          <a:chExt cx="0" cy="0"/>
        </a:xfrm>
      </p:grpSpPr>
      <p:sp>
        <p:nvSpPr>
          <p:cNvPr id="832" name="Google Shape;832;p66"/>
          <p:cNvSpPr/>
          <p:nvPr/>
        </p:nvSpPr>
        <p:spPr>
          <a:xfrm>
            <a:off x="14681602" y="225675"/>
            <a:ext cx="2885196" cy="1308403"/>
          </a:xfrm>
          <a:custGeom>
            <a:avLst/>
            <a:gdLst/>
            <a:ahLst/>
            <a:cxnLst/>
            <a:rect l="l" t="t" r="r" b="b"/>
            <a:pathLst>
              <a:path w="3834147" h="1610342" extrusionOk="0">
                <a:moveTo>
                  <a:pt x="0" y="0"/>
                </a:moveTo>
                <a:lnTo>
                  <a:pt x="3834147" y="0"/>
                </a:lnTo>
                <a:lnTo>
                  <a:pt x="3834147" y="1610341"/>
                </a:lnTo>
                <a:lnTo>
                  <a:pt x="0" y="1610341"/>
                </a:lnTo>
                <a:lnTo>
                  <a:pt x="0" y="0"/>
                </a:lnTo>
                <a:close/>
              </a:path>
            </a:pathLst>
          </a:custGeom>
          <a:blipFill rotWithShape="1">
            <a:blip r:embed="rId3">
              <a:alphaModFix/>
            </a:blip>
            <a:stretch>
              <a:fillRect/>
            </a:stretch>
          </a:blipFill>
          <a:ln>
            <a:noFill/>
          </a:ln>
        </p:spPr>
        <p:txBody>
          <a:bodyPr/>
          <a:lstStyle/>
          <a:p>
            <a:endParaRPr lang="en-US"/>
          </a:p>
        </p:txBody>
      </p:sp>
      <p:sp>
        <p:nvSpPr>
          <p:cNvPr id="833" name="Google Shape;833;p66"/>
          <p:cNvSpPr/>
          <p:nvPr/>
        </p:nvSpPr>
        <p:spPr>
          <a:xfrm>
            <a:off x="842784" y="2195597"/>
            <a:ext cx="7458448" cy="5976655"/>
          </a:xfrm>
          <a:custGeom>
            <a:avLst/>
            <a:gdLst/>
            <a:ahLst/>
            <a:cxnLst/>
            <a:rect l="l" t="t" r="r" b="b"/>
            <a:pathLst>
              <a:path w="3625005" h="2904814" extrusionOk="0">
                <a:moveTo>
                  <a:pt x="3614521" y="27234"/>
                </a:moveTo>
                <a:cubicBezTo>
                  <a:pt x="3605631" y="23424"/>
                  <a:pt x="3596741" y="20884"/>
                  <a:pt x="3587851" y="20884"/>
                </a:cubicBezTo>
                <a:cubicBezTo>
                  <a:pt x="3561181" y="19614"/>
                  <a:pt x="3507586" y="19614"/>
                  <a:pt x="3448458" y="17074"/>
                </a:cubicBezTo>
                <a:cubicBezTo>
                  <a:pt x="3313309" y="11994"/>
                  <a:pt x="3180975" y="5644"/>
                  <a:pt x="3045825" y="3104"/>
                </a:cubicBezTo>
                <a:cubicBezTo>
                  <a:pt x="2936016" y="564"/>
                  <a:pt x="2829023" y="3104"/>
                  <a:pt x="2719214" y="1834"/>
                </a:cubicBezTo>
                <a:cubicBezTo>
                  <a:pt x="2671348" y="1834"/>
                  <a:pt x="2623483" y="-706"/>
                  <a:pt x="2575617" y="1834"/>
                </a:cubicBezTo>
                <a:cubicBezTo>
                  <a:pt x="2460177" y="9454"/>
                  <a:pt x="2344737" y="10724"/>
                  <a:pt x="2226482" y="8184"/>
                </a:cubicBezTo>
                <a:cubicBezTo>
                  <a:pt x="2167353" y="6914"/>
                  <a:pt x="2108226" y="6914"/>
                  <a:pt x="2049098" y="6914"/>
                </a:cubicBezTo>
                <a:cubicBezTo>
                  <a:pt x="1942104" y="6914"/>
                  <a:pt x="1835111" y="6914"/>
                  <a:pt x="1728118" y="5644"/>
                </a:cubicBezTo>
                <a:cubicBezTo>
                  <a:pt x="1615493" y="4374"/>
                  <a:pt x="506141" y="1834"/>
                  <a:pt x="396332" y="564"/>
                </a:cubicBezTo>
                <a:cubicBezTo>
                  <a:pt x="306233" y="-706"/>
                  <a:pt x="218949" y="564"/>
                  <a:pt x="128849" y="564"/>
                </a:cubicBezTo>
                <a:cubicBezTo>
                  <a:pt x="66905" y="564"/>
                  <a:pt x="33020" y="3104"/>
                  <a:pt x="5080" y="4374"/>
                </a:cubicBezTo>
                <a:cubicBezTo>
                  <a:pt x="3810" y="4374"/>
                  <a:pt x="2540" y="6914"/>
                  <a:pt x="0" y="8184"/>
                </a:cubicBezTo>
                <a:cubicBezTo>
                  <a:pt x="1270" y="20884"/>
                  <a:pt x="3810" y="33584"/>
                  <a:pt x="5080" y="46284"/>
                </a:cubicBezTo>
                <a:cubicBezTo>
                  <a:pt x="15240" y="156999"/>
                  <a:pt x="16510" y="284285"/>
                  <a:pt x="17780" y="409337"/>
                </a:cubicBezTo>
                <a:cubicBezTo>
                  <a:pt x="19050" y="536623"/>
                  <a:pt x="17780" y="663909"/>
                  <a:pt x="16510" y="793428"/>
                </a:cubicBezTo>
                <a:cubicBezTo>
                  <a:pt x="15240" y="925180"/>
                  <a:pt x="2540" y="2307458"/>
                  <a:pt x="2540" y="2439210"/>
                </a:cubicBezTo>
                <a:cubicBezTo>
                  <a:pt x="2540" y="2568729"/>
                  <a:pt x="1270" y="2698248"/>
                  <a:pt x="0" y="2827767"/>
                </a:cubicBezTo>
                <a:cubicBezTo>
                  <a:pt x="0" y="2850204"/>
                  <a:pt x="3810" y="2860364"/>
                  <a:pt x="15240" y="2865444"/>
                </a:cubicBezTo>
                <a:cubicBezTo>
                  <a:pt x="22860" y="2869254"/>
                  <a:pt x="31750" y="2871794"/>
                  <a:pt x="40640" y="2873064"/>
                </a:cubicBezTo>
                <a:cubicBezTo>
                  <a:pt x="126033" y="2878144"/>
                  <a:pt x="233027" y="2881954"/>
                  <a:pt x="340020" y="2887034"/>
                </a:cubicBezTo>
                <a:cubicBezTo>
                  <a:pt x="399148" y="2889574"/>
                  <a:pt x="458276" y="2894654"/>
                  <a:pt x="517404" y="2895924"/>
                </a:cubicBezTo>
                <a:cubicBezTo>
                  <a:pt x="615950" y="2898464"/>
                  <a:pt x="1714040" y="2899734"/>
                  <a:pt x="1812586" y="2901004"/>
                </a:cubicBezTo>
                <a:cubicBezTo>
                  <a:pt x="1826664" y="2901004"/>
                  <a:pt x="1840742" y="2901004"/>
                  <a:pt x="1854820" y="2901004"/>
                </a:cubicBezTo>
                <a:cubicBezTo>
                  <a:pt x="1922395" y="2901004"/>
                  <a:pt x="1992786" y="2899734"/>
                  <a:pt x="2060360" y="2899734"/>
                </a:cubicBezTo>
                <a:cubicBezTo>
                  <a:pt x="2139197" y="2899734"/>
                  <a:pt x="2215219" y="2901004"/>
                  <a:pt x="2294056" y="2901004"/>
                </a:cubicBezTo>
                <a:cubicBezTo>
                  <a:pt x="2409496" y="2901004"/>
                  <a:pt x="2527752" y="2901004"/>
                  <a:pt x="2643192" y="2901004"/>
                </a:cubicBezTo>
                <a:cubicBezTo>
                  <a:pt x="2750185" y="2901004"/>
                  <a:pt x="2857179" y="2902274"/>
                  <a:pt x="2964172" y="2903544"/>
                </a:cubicBezTo>
                <a:cubicBezTo>
                  <a:pt x="3012038" y="2903544"/>
                  <a:pt x="3062719" y="2904814"/>
                  <a:pt x="3110584" y="2904814"/>
                </a:cubicBezTo>
                <a:cubicBezTo>
                  <a:pt x="3265443" y="2903544"/>
                  <a:pt x="3417486" y="2897194"/>
                  <a:pt x="3564991" y="2897194"/>
                </a:cubicBezTo>
                <a:cubicBezTo>
                  <a:pt x="3568801" y="2897194"/>
                  <a:pt x="3573881" y="2894654"/>
                  <a:pt x="3577691" y="2892114"/>
                </a:cubicBezTo>
                <a:cubicBezTo>
                  <a:pt x="3582771" y="2888304"/>
                  <a:pt x="3585311" y="2881954"/>
                  <a:pt x="3587851" y="2879414"/>
                </a:cubicBezTo>
                <a:cubicBezTo>
                  <a:pt x="3589121" y="2812135"/>
                  <a:pt x="3590391" y="2718346"/>
                  <a:pt x="3591661" y="2624556"/>
                </a:cubicBezTo>
                <a:cubicBezTo>
                  <a:pt x="3592931" y="2479406"/>
                  <a:pt x="3603091" y="1085962"/>
                  <a:pt x="3604361" y="940811"/>
                </a:cubicBezTo>
                <a:cubicBezTo>
                  <a:pt x="3604361" y="853721"/>
                  <a:pt x="3605631" y="766631"/>
                  <a:pt x="3606901" y="679540"/>
                </a:cubicBezTo>
                <a:cubicBezTo>
                  <a:pt x="3608171" y="585751"/>
                  <a:pt x="3609441" y="491961"/>
                  <a:pt x="3611981" y="398172"/>
                </a:cubicBezTo>
                <a:cubicBezTo>
                  <a:pt x="3613251" y="342345"/>
                  <a:pt x="3613251" y="284285"/>
                  <a:pt x="3618331" y="228458"/>
                </a:cubicBezTo>
                <a:cubicBezTo>
                  <a:pt x="3623411" y="161465"/>
                  <a:pt x="3625951" y="96706"/>
                  <a:pt x="3624681" y="43744"/>
                </a:cubicBezTo>
                <a:cubicBezTo>
                  <a:pt x="3624681" y="37394"/>
                  <a:pt x="3620871" y="29774"/>
                  <a:pt x="3614521" y="27234"/>
                </a:cubicBezTo>
                <a:close/>
              </a:path>
            </a:pathLst>
          </a:custGeom>
          <a:solidFill>
            <a:srgbClr val="EAF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4200">
                <a:solidFill>
                  <a:schemeClr val="dk1"/>
                </a:solidFill>
                <a:latin typeface="Nunito"/>
                <a:ea typeface="Nunito"/>
                <a:cs typeface="Nunito"/>
                <a:sym typeface="Nunito"/>
              </a:rPr>
              <a:t>Some places have access to </a:t>
            </a:r>
            <a:r>
              <a:rPr lang="en-US" sz="4200" b="1">
                <a:solidFill>
                  <a:schemeClr val="dk1"/>
                </a:solidFill>
                <a:latin typeface="Nunito"/>
                <a:ea typeface="Nunito"/>
                <a:cs typeface="Nunito"/>
                <a:sym typeface="Nunito"/>
              </a:rPr>
              <a:t>improved</a:t>
            </a:r>
            <a:r>
              <a:rPr lang="en-US" sz="4200">
                <a:solidFill>
                  <a:schemeClr val="dk1"/>
                </a:solidFill>
                <a:latin typeface="Nunito"/>
                <a:ea typeface="Nunito"/>
                <a:cs typeface="Nunito"/>
                <a:sym typeface="Nunito"/>
              </a:rPr>
              <a:t> water sources. These are water supplies that are protected from contamination, such as piped water, protected wells, boreholes, rainwater tanks and properly maintained public standpipes</a:t>
            </a:r>
            <a:endParaRPr/>
          </a:p>
        </p:txBody>
      </p:sp>
      <p:sp>
        <p:nvSpPr>
          <p:cNvPr id="834" name="Google Shape;834;p66"/>
          <p:cNvSpPr/>
          <p:nvPr/>
        </p:nvSpPr>
        <p:spPr>
          <a:xfrm>
            <a:off x="-14749" y="8262938"/>
            <a:ext cx="4586747" cy="3102309"/>
          </a:xfrm>
          <a:custGeom>
            <a:avLst/>
            <a:gdLst/>
            <a:ahLst/>
            <a:cxnLst/>
            <a:rect l="l" t="t" r="r" b="b"/>
            <a:pathLst>
              <a:path w="4586747" h="3102309" extrusionOk="0">
                <a:moveTo>
                  <a:pt x="0" y="0"/>
                </a:moveTo>
                <a:lnTo>
                  <a:pt x="4586747" y="0"/>
                </a:lnTo>
                <a:lnTo>
                  <a:pt x="4586747" y="3102309"/>
                </a:lnTo>
                <a:lnTo>
                  <a:pt x="0" y="3102309"/>
                </a:lnTo>
                <a:lnTo>
                  <a:pt x="0" y="0"/>
                </a:lnTo>
                <a:close/>
              </a:path>
            </a:pathLst>
          </a:custGeom>
          <a:blipFill rotWithShape="1">
            <a:blip r:embed="rId4">
              <a:alphaModFix/>
            </a:blip>
            <a:stretch>
              <a:fillRect/>
            </a:stretch>
          </a:blipFill>
          <a:ln>
            <a:noFill/>
          </a:ln>
        </p:spPr>
        <p:txBody>
          <a:bodyPr/>
          <a:lstStyle/>
          <a:p>
            <a:endParaRPr lang="en-US"/>
          </a:p>
        </p:txBody>
      </p:sp>
      <p:sp>
        <p:nvSpPr>
          <p:cNvPr id="835" name="Google Shape;835;p66"/>
          <p:cNvSpPr/>
          <p:nvPr/>
        </p:nvSpPr>
        <p:spPr>
          <a:xfrm>
            <a:off x="13969023" y="8021634"/>
            <a:ext cx="4586747" cy="3102309"/>
          </a:xfrm>
          <a:custGeom>
            <a:avLst/>
            <a:gdLst/>
            <a:ahLst/>
            <a:cxnLst/>
            <a:rect l="l" t="t" r="r" b="b"/>
            <a:pathLst>
              <a:path w="4586747" h="3102309" extrusionOk="0">
                <a:moveTo>
                  <a:pt x="0" y="0"/>
                </a:moveTo>
                <a:lnTo>
                  <a:pt x="4586747" y="0"/>
                </a:lnTo>
                <a:lnTo>
                  <a:pt x="4586747" y="3102308"/>
                </a:lnTo>
                <a:lnTo>
                  <a:pt x="0" y="3102308"/>
                </a:lnTo>
                <a:lnTo>
                  <a:pt x="0" y="0"/>
                </a:lnTo>
                <a:close/>
              </a:path>
            </a:pathLst>
          </a:custGeom>
          <a:blipFill rotWithShape="1">
            <a:blip r:embed="rId4">
              <a:alphaModFix/>
            </a:blip>
            <a:stretch>
              <a:fillRect/>
            </a:stretch>
          </a:blipFill>
          <a:ln>
            <a:noFill/>
          </a:ln>
        </p:spPr>
        <p:txBody>
          <a:bodyPr/>
          <a:lstStyle/>
          <a:p>
            <a:endParaRPr lang="en-US"/>
          </a:p>
        </p:txBody>
      </p:sp>
      <p:sp>
        <p:nvSpPr>
          <p:cNvPr id="836" name="Google Shape;836;p66"/>
          <p:cNvSpPr txBox="1"/>
          <p:nvPr/>
        </p:nvSpPr>
        <p:spPr>
          <a:xfrm>
            <a:off x="724200" y="460959"/>
            <a:ext cx="16839600" cy="1308300"/>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8499" dirty="0">
                <a:solidFill>
                  <a:srgbClr val="FFFFFF"/>
                </a:solidFill>
                <a:latin typeface="Yeseva One"/>
                <a:ea typeface="Yeseva One"/>
                <a:cs typeface="Yeseva One"/>
                <a:sym typeface="Yeseva One"/>
              </a:rPr>
              <a:t>Improved water sources</a:t>
            </a:r>
            <a:endParaRPr dirty="0"/>
          </a:p>
        </p:txBody>
      </p:sp>
      <p:sp>
        <p:nvSpPr>
          <p:cNvPr id="837" name="Google Shape;837;p66"/>
          <p:cNvSpPr/>
          <p:nvPr/>
        </p:nvSpPr>
        <p:spPr>
          <a:xfrm>
            <a:off x="9492950" y="3428999"/>
            <a:ext cx="7458448" cy="4030429"/>
          </a:xfrm>
          <a:custGeom>
            <a:avLst/>
            <a:gdLst/>
            <a:ahLst/>
            <a:cxnLst/>
            <a:rect l="l" t="t" r="r" b="b"/>
            <a:pathLst>
              <a:path w="3625005" h="2904814" extrusionOk="0">
                <a:moveTo>
                  <a:pt x="3614521" y="27234"/>
                </a:moveTo>
                <a:cubicBezTo>
                  <a:pt x="3605631" y="23424"/>
                  <a:pt x="3596741" y="20884"/>
                  <a:pt x="3587851" y="20884"/>
                </a:cubicBezTo>
                <a:cubicBezTo>
                  <a:pt x="3561181" y="19614"/>
                  <a:pt x="3507586" y="19614"/>
                  <a:pt x="3448458" y="17074"/>
                </a:cubicBezTo>
                <a:cubicBezTo>
                  <a:pt x="3313309" y="11994"/>
                  <a:pt x="3180975" y="5644"/>
                  <a:pt x="3045825" y="3104"/>
                </a:cubicBezTo>
                <a:cubicBezTo>
                  <a:pt x="2936016" y="564"/>
                  <a:pt x="2829023" y="3104"/>
                  <a:pt x="2719214" y="1834"/>
                </a:cubicBezTo>
                <a:cubicBezTo>
                  <a:pt x="2671348" y="1834"/>
                  <a:pt x="2623483" y="-706"/>
                  <a:pt x="2575617" y="1834"/>
                </a:cubicBezTo>
                <a:cubicBezTo>
                  <a:pt x="2460177" y="9454"/>
                  <a:pt x="2344737" y="10724"/>
                  <a:pt x="2226482" y="8184"/>
                </a:cubicBezTo>
                <a:cubicBezTo>
                  <a:pt x="2167353" y="6914"/>
                  <a:pt x="2108226" y="6914"/>
                  <a:pt x="2049098" y="6914"/>
                </a:cubicBezTo>
                <a:cubicBezTo>
                  <a:pt x="1942104" y="6914"/>
                  <a:pt x="1835111" y="6914"/>
                  <a:pt x="1728118" y="5644"/>
                </a:cubicBezTo>
                <a:cubicBezTo>
                  <a:pt x="1615493" y="4374"/>
                  <a:pt x="506141" y="1834"/>
                  <a:pt x="396332" y="564"/>
                </a:cubicBezTo>
                <a:cubicBezTo>
                  <a:pt x="306233" y="-706"/>
                  <a:pt x="218949" y="564"/>
                  <a:pt x="128849" y="564"/>
                </a:cubicBezTo>
                <a:cubicBezTo>
                  <a:pt x="66905" y="564"/>
                  <a:pt x="33020" y="3104"/>
                  <a:pt x="5080" y="4374"/>
                </a:cubicBezTo>
                <a:cubicBezTo>
                  <a:pt x="3810" y="4374"/>
                  <a:pt x="2540" y="6914"/>
                  <a:pt x="0" y="8184"/>
                </a:cubicBezTo>
                <a:cubicBezTo>
                  <a:pt x="1270" y="20884"/>
                  <a:pt x="3810" y="33584"/>
                  <a:pt x="5080" y="46284"/>
                </a:cubicBezTo>
                <a:cubicBezTo>
                  <a:pt x="15240" y="156999"/>
                  <a:pt x="16510" y="284285"/>
                  <a:pt x="17780" y="409337"/>
                </a:cubicBezTo>
                <a:cubicBezTo>
                  <a:pt x="19050" y="536623"/>
                  <a:pt x="17780" y="663909"/>
                  <a:pt x="16510" y="793428"/>
                </a:cubicBezTo>
                <a:cubicBezTo>
                  <a:pt x="15240" y="925180"/>
                  <a:pt x="2540" y="2307458"/>
                  <a:pt x="2540" y="2439210"/>
                </a:cubicBezTo>
                <a:cubicBezTo>
                  <a:pt x="2540" y="2568729"/>
                  <a:pt x="1270" y="2698248"/>
                  <a:pt x="0" y="2827767"/>
                </a:cubicBezTo>
                <a:cubicBezTo>
                  <a:pt x="0" y="2850204"/>
                  <a:pt x="3810" y="2860364"/>
                  <a:pt x="15240" y="2865444"/>
                </a:cubicBezTo>
                <a:cubicBezTo>
                  <a:pt x="22860" y="2869254"/>
                  <a:pt x="31750" y="2871794"/>
                  <a:pt x="40640" y="2873064"/>
                </a:cubicBezTo>
                <a:cubicBezTo>
                  <a:pt x="126033" y="2878144"/>
                  <a:pt x="233027" y="2881954"/>
                  <a:pt x="340020" y="2887034"/>
                </a:cubicBezTo>
                <a:cubicBezTo>
                  <a:pt x="399148" y="2889574"/>
                  <a:pt x="458276" y="2894654"/>
                  <a:pt x="517404" y="2895924"/>
                </a:cubicBezTo>
                <a:cubicBezTo>
                  <a:pt x="615950" y="2898464"/>
                  <a:pt x="1714040" y="2899734"/>
                  <a:pt x="1812586" y="2901004"/>
                </a:cubicBezTo>
                <a:cubicBezTo>
                  <a:pt x="1826664" y="2901004"/>
                  <a:pt x="1840742" y="2901004"/>
                  <a:pt x="1854820" y="2901004"/>
                </a:cubicBezTo>
                <a:cubicBezTo>
                  <a:pt x="1922395" y="2901004"/>
                  <a:pt x="1992786" y="2899734"/>
                  <a:pt x="2060360" y="2899734"/>
                </a:cubicBezTo>
                <a:cubicBezTo>
                  <a:pt x="2139197" y="2899734"/>
                  <a:pt x="2215219" y="2901004"/>
                  <a:pt x="2294056" y="2901004"/>
                </a:cubicBezTo>
                <a:cubicBezTo>
                  <a:pt x="2409496" y="2901004"/>
                  <a:pt x="2527752" y="2901004"/>
                  <a:pt x="2643192" y="2901004"/>
                </a:cubicBezTo>
                <a:cubicBezTo>
                  <a:pt x="2750185" y="2901004"/>
                  <a:pt x="2857179" y="2902274"/>
                  <a:pt x="2964172" y="2903544"/>
                </a:cubicBezTo>
                <a:cubicBezTo>
                  <a:pt x="3012038" y="2903544"/>
                  <a:pt x="3062719" y="2904814"/>
                  <a:pt x="3110584" y="2904814"/>
                </a:cubicBezTo>
                <a:cubicBezTo>
                  <a:pt x="3265443" y="2903544"/>
                  <a:pt x="3417486" y="2897194"/>
                  <a:pt x="3564991" y="2897194"/>
                </a:cubicBezTo>
                <a:cubicBezTo>
                  <a:pt x="3568801" y="2897194"/>
                  <a:pt x="3573881" y="2894654"/>
                  <a:pt x="3577691" y="2892114"/>
                </a:cubicBezTo>
                <a:cubicBezTo>
                  <a:pt x="3582771" y="2888304"/>
                  <a:pt x="3585311" y="2881954"/>
                  <a:pt x="3587851" y="2879414"/>
                </a:cubicBezTo>
                <a:cubicBezTo>
                  <a:pt x="3589121" y="2812135"/>
                  <a:pt x="3590391" y="2718346"/>
                  <a:pt x="3591661" y="2624556"/>
                </a:cubicBezTo>
                <a:cubicBezTo>
                  <a:pt x="3592931" y="2479406"/>
                  <a:pt x="3603091" y="1085962"/>
                  <a:pt x="3604361" y="940811"/>
                </a:cubicBezTo>
                <a:cubicBezTo>
                  <a:pt x="3604361" y="853721"/>
                  <a:pt x="3605631" y="766631"/>
                  <a:pt x="3606901" y="679540"/>
                </a:cubicBezTo>
                <a:cubicBezTo>
                  <a:pt x="3608171" y="585751"/>
                  <a:pt x="3609441" y="491961"/>
                  <a:pt x="3611981" y="398172"/>
                </a:cubicBezTo>
                <a:cubicBezTo>
                  <a:pt x="3613251" y="342345"/>
                  <a:pt x="3613251" y="284285"/>
                  <a:pt x="3618331" y="228458"/>
                </a:cubicBezTo>
                <a:cubicBezTo>
                  <a:pt x="3623411" y="161465"/>
                  <a:pt x="3625951" y="96706"/>
                  <a:pt x="3624681" y="43744"/>
                </a:cubicBezTo>
                <a:cubicBezTo>
                  <a:pt x="3624681" y="37394"/>
                  <a:pt x="3620871" y="29774"/>
                  <a:pt x="3614521" y="27234"/>
                </a:cubicBezTo>
                <a:close/>
              </a:path>
            </a:pathLst>
          </a:custGeom>
          <a:solidFill>
            <a:srgbClr val="EAFAFF"/>
          </a:solidFill>
          <a:ln w="762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4200" dirty="0">
                <a:solidFill>
                  <a:schemeClr val="dk1"/>
                </a:solidFill>
                <a:latin typeface="Nunito"/>
                <a:ea typeface="Nunito"/>
                <a:cs typeface="Nunito"/>
                <a:sym typeface="Nunito"/>
              </a:rPr>
              <a:t>Create a line graph demonstrating the change in access to improved water sources for different places in the world and answer the questions.</a:t>
            </a:r>
            <a:endParaRPr dirty="0"/>
          </a:p>
        </p:txBody>
      </p:sp>
      <p:sp>
        <p:nvSpPr>
          <p:cNvPr id="838" name="Google Shape;838;p66"/>
          <p:cNvSpPr/>
          <p:nvPr/>
        </p:nvSpPr>
        <p:spPr>
          <a:xfrm>
            <a:off x="-14753" y="-1"/>
            <a:ext cx="1955415" cy="921921"/>
          </a:xfrm>
          <a:custGeom>
            <a:avLst/>
            <a:gdLst/>
            <a:ahLst/>
            <a:cxnLst/>
            <a:rect l="l" t="t" r="r" b="b"/>
            <a:pathLst>
              <a:path w="3834147" h="1610342" extrusionOk="0">
                <a:moveTo>
                  <a:pt x="0" y="0"/>
                </a:moveTo>
                <a:lnTo>
                  <a:pt x="3834147" y="0"/>
                </a:lnTo>
                <a:lnTo>
                  <a:pt x="3834147" y="1610341"/>
                </a:lnTo>
                <a:lnTo>
                  <a:pt x="0" y="1610341"/>
                </a:lnTo>
                <a:lnTo>
                  <a:pt x="0" y="0"/>
                </a:lnTo>
                <a:close/>
              </a:path>
            </a:pathLst>
          </a:custGeom>
          <a:blipFill rotWithShape="1">
            <a:blip r:embed="rId3">
              <a:alphaModFix/>
            </a:blip>
            <a:stretch>
              <a:fillRect/>
            </a:stretch>
          </a:blipFill>
          <a:ln>
            <a:noFill/>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TotalTime>
  <Words>4707</Words>
  <Application>Microsoft Macintosh PowerPoint</Application>
  <PresentationFormat>Custom</PresentationFormat>
  <Paragraphs>427</Paragraphs>
  <Slides>81</Slides>
  <Notes>81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81</vt:i4>
      </vt:variant>
    </vt:vector>
  </HeadingPairs>
  <TitlesOfParts>
    <vt:vector size="90" baseType="lpstr">
      <vt:lpstr>Impact</vt:lpstr>
      <vt:lpstr>Yeseva One</vt:lpstr>
      <vt:lpstr>Arial</vt:lpstr>
      <vt:lpstr>Calibri</vt:lpstr>
      <vt:lpstr>Nunito Sans</vt:lpstr>
      <vt:lpstr>Poppins</vt:lpstr>
      <vt:lpstr>Nunito</vt:lpstr>
      <vt:lpstr>Comic Sans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Lorraine Chaffer</cp:lastModifiedBy>
  <cp:revision>6</cp:revision>
  <dcterms:modified xsi:type="dcterms:W3CDTF">2026-02-10T12:40:39Z</dcterms:modified>
</cp:coreProperties>
</file>
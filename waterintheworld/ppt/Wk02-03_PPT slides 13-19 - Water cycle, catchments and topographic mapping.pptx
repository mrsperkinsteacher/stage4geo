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trictFirstAndLastChars="0" embedTrueTypeFonts="1" saveSubsetFonts="1" autoCompressPictures="0">
  <p:sldMasterIdLst>
    <p:sldMasterId id="2147483659" r:id="rId1"/>
  </p:sldMasterIdLst>
  <p:notesMasterIdLst>
    <p:notesMasterId r:id="rId83"/>
  </p:notesMasterIdLst>
  <p:sldIdLst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Comic Sans MS" panose="030F0902030302020204" pitchFamily="66" charset="0"/>
      <p:regular r:id="rId84"/>
    </p:embeddedFont>
    <p:embeddedFont>
      <p:font typeface="Impact" panose="020B0806030902050204" pitchFamily="34" charset="0"/>
      <p:regular r:id="rId85"/>
    </p:embeddedFont>
    <p:embeddedFont>
      <p:font typeface="Nunito" pitchFamily="2" charset="77"/>
      <p:regular r:id="rId86"/>
      <p:bold r:id="rId87"/>
      <p:italic r:id="rId88"/>
      <p:boldItalic r:id="rId89"/>
    </p:embeddedFont>
    <p:embeddedFont>
      <p:font typeface="Nunito Sans" pitchFamily="2" charset="77"/>
      <p:regular r:id="rId90"/>
      <p:bold r:id="rId91"/>
      <p:italic r:id="rId92"/>
      <p:boldItalic r:id="rId93"/>
    </p:embeddedFont>
    <p:embeddedFont>
      <p:font typeface="Poppins" pitchFamily="2" charset="77"/>
      <p:regular r:id="rId94"/>
      <p:bold r:id="rId95"/>
      <p:italic r:id="rId96"/>
      <p:boldItalic r:id="rId97"/>
    </p:embeddedFont>
    <p:embeddedFont>
      <p:font typeface="Yeseva One"/>
      <p:regular r:id="rId98"/>
    </p:embeddedFont>
  </p:embeddedFontLst>
  <p:defaultTextStyle>
    <ns2:defPPr marR="0" lvl="0" algn="l" rtl="0">
      <ns2:lnSpc>
        <ns2:spcPct val="100000"/>
      </ns2:lnSpc>
      <ns2:spcBef>
        <ns2:spcPts val="0"/>
      </ns2:spcBef>
      <ns2:spcAft>
        <ns2:spcPts val="0"/>
      </ns2:spcAft>
    </ns2:defPPr>
    <ns2:lvl1pPr marR="0" lvl="0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marR="0" lvl="1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marR="0" lvl="2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marR="0" lvl="3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marR="0" lvl="4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marR="0" lvl="5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marR="0" lvl="6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marR="0" lvl="7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marR="0" lvl="8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9pPr>
  </p:defaultTextStyle>
  <p:extLst>
    <p:ext uri="{EFAFB233-063F-42B5-8137-9DF3F51BA10A}">
      <ns3:sldGuideLst>
        <ns3:guide id="1" orient="horz" pos="2160">
          <ns3:clr>
            <ns2:srgbClr val="000000"/>
          </ns3:clr>
        </ns3:guide>
        <ns3:guide id="2" pos="2880">
          <ns3:clr>
            <ns2:srgbClr val="000000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624FBE-0219-4BFE-B597-DF52CD3AB8CC}">
  <a:tblStyle styleId="{B9624FBE-0219-4BFE-B597-DF52CD3AB8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4" Type="http://schemas.openxmlformats.org/officeDocument/2006/relationships/font" Target="fonts/font1.fntdata" /><ns0:Relationship Id="rId89" Type="http://schemas.openxmlformats.org/officeDocument/2006/relationships/font" Target="fonts/font6.fntdata" /><ns0:Relationship Id="rId16" Type="http://schemas.openxmlformats.org/officeDocument/2006/relationships/slide" Target="slides/slide15.xml" /><ns0:Relationship Id="rId102" Type="http://schemas.openxmlformats.org/officeDocument/2006/relationships/tableStyles" Target="tableStyles.xml" /><ns0:Relationship Id="rId90" Type="http://schemas.openxmlformats.org/officeDocument/2006/relationships/font" Target="fonts/font7.fntdata" /><ns0:Relationship Id="rId95" Type="http://schemas.openxmlformats.org/officeDocument/2006/relationships/font" Target="fonts/font12.fntdata" /><ns0:Relationship Id="rId85" Type="http://schemas.openxmlformats.org/officeDocument/2006/relationships/font" Target="fonts/font2.fntdata" /><ns0:Relationship Id="rId17" Type="http://schemas.openxmlformats.org/officeDocument/2006/relationships/slide" Target="slides/slide16.xml" /><ns0:Relationship Id="rId20" Type="http://schemas.openxmlformats.org/officeDocument/2006/relationships/slide" Target="slides/slide19.xml" /><ns0:Relationship Id="rId83" Type="http://schemas.openxmlformats.org/officeDocument/2006/relationships/notesMaster" Target="notesMasters/notesMaster1.xml" /><ns0:Relationship Id="rId88" Type="http://schemas.openxmlformats.org/officeDocument/2006/relationships/font" Target="fonts/font5.fntdata" /><ns0:Relationship Id="rId91" Type="http://schemas.openxmlformats.org/officeDocument/2006/relationships/font" Target="fonts/font8.fntdata" /><ns0:Relationship Id="rId96" Type="http://schemas.openxmlformats.org/officeDocument/2006/relationships/font" Target="fonts/font13.fntdata" /><ns0:Relationship Id="rId1" Type="http://schemas.openxmlformats.org/officeDocument/2006/relationships/slideMaster" Target="slideMasters/slideMaster1.xml" /><ns0:Relationship Id="rId15" Type="http://schemas.openxmlformats.org/officeDocument/2006/relationships/slide" Target="slides/slide14.xml" /><ns0:Relationship Id="rId86" Type="http://schemas.openxmlformats.org/officeDocument/2006/relationships/font" Target="fonts/font3.fntdata" /><ns0:Relationship Id="rId94" Type="http://schemas.openxmlformats.org/officeDocument/2006/relationships/font" Target="fonts/font11.fntdata" /><ns0:Relationship Id="rId99" Type="http://schemas.openxmlformats.org/officeDocument/2006/relationships/presProps" Target="presProps.xml" /><ns0:Relationship Id="rId101" Type="http://schemas.openxmlformats.org/officeDocument/2006/relationships/theme" Target="theme/theme1.xml" /><ns0:Relationship Id="rId18" Type="http://schemas.openxmlformats.org/officeDocument/2006/relationships/slide" Target="slides/slide17.xml" /><ns0:Relationship Id="rId97" Type="http://schemas.openxmlformats.org/officeDocument/2006/relationships/font" Target="fonts/font14.fntdata" /><ns0:Relationship Id="rId92" Type="http://schemas.openxmlformats.org/officeDocument/2006/relationships/font" Target="fonts/font9.fntdata" /><ns0:Relationship Id="rId87" Type="http://schemas.openxmlformats.org/officeDocument/2006/relationships/font" Target="fonts/font4.fntdata" /><ns0:Relationship Id="rId19" Type="http://schemas.openxmlformats.org/officeDocument/2006/relationships/slide" Target="slides/slide18.xml" /><ns0:Relationship Id="rId14" Type="http://schemas.openxmlformats.org/officeDocument/2006/relationships/slide" Target="slides/slide13.xml" /><ns0:Relationship Id="rId100" Type="http://schemas.openxmlformats.org/officeDocument/2006/relationships/viewProps" Target="viewProps.xml" /><ns0:Relationship Id="rId93" Type="http://schemas.openxmlformats.org/officeDocument/2006/relationships/font" Target="fonts/font10.fntdata" /><ns0:Relationship Id="rId98" Type="http://schemas.openxmlformats.org/officeDocument/2006/relationships/font" Target="fonts/font15.fntdata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e6d2bd0bf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3ae6d2bd0bf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e6d2bd0bf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ae6d2bd0bf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e6d2bd0bf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g3ae6d2bd0bf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e6d2bd0bf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3ae6d2bd0bf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e6d2bd0bf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3ae6d2bd0bf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e6d2bd0bf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Worksheet 2.1</a:t>
            </a:r>
            <a:endParaRPr/>
          </a:p>
        </p:txBody>
      </p:sp>
      <p:sp>
        <p:nvSpPr>
          <p:cNvPr id="383" name="Google Shape;383;g3ae6d2bd0bf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e6d2bd0bf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Worksheet 2.2</a:t>
            </a:r>
            <a:endParaRPr/>
          </a:p>
        </p:txBody>
      </p:sp>
      <p:sp>
        <p:nvSpPr>
          <p:cNvPr id="394" name="Google Shape;394;g3ae6d2bd0bf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9DD6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/>
          <p:nvPr/>
        </p:nvSpPr>
        <p:spPr>
          <a:xfrm>
            <a:off x="1818046" y="6609167"/>
            <a:ext cx="2198602" cy="923413"/>
          </a:xfrm>
          <a:custGeom>
            <a:avLst/>
            <a:gdLst/>
            <a:ahLst/>
            <a:cxnLst/>
            <a:rect l="l" t="t" r="r" b="b"/>
            <a:pathLst>
              <a:path w="2198602" h="923413" extrusionOk="0">
                <a:moveTo>
                  <a:pt x="0" y="0"/>
                </a:moveTo>
                <a:lnTo>
                  <a:pt x="2198602" y="0"/>
                </a:lnTo>
                <a:lnTo>
                  <a:pt x="2198602" y="923413"/>
                </a:lnTo>
                <a:lnTo>
                  <a:pt x="0" y="923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" name="Google Shape;300;p25"/>
          <p:cNvSpPr/>
          <p:nvPr/>
        </p:nvSpPr>
        <p:spPr>
          <a:xfrm>
            <a:off x="2144138" y="2554675"/>
            <a:ext cx="13999728" cy="5649814"/>
          </a:xfrm>
          <a:custGeom>
            <a:avLst/>
            <a:gdLst/>
            <a:ahLst/>
            <a:cxnLst/>
            <a:rect l="l" t="t" r="r" b="b"/>
            <a:pathLst>
              <a:path w="4274726" h="1818122" extrusionOk="0">
                <a:moveTo>
                  <a:pt x="0" y="0"/>
                </a:moveTo>
                <a:lnTo>
                  <a:pt x="4274726" y="0"/>
                </a:lnTo>
                <a:lnTo>
                  <a:pt x="4274726" y="1818122"/>
                </a:lnTo>
                <a:lnTo>
                  <a:pt x="0" y="1818122"/>
                </a:lnTo>
                <a:close/>
              </a:path>
            </a:pathLst>
          </a:custGeom>
          <a:solidFill>
            <a:srgbClr val="77CF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Google Shape;301;p25"/>
          <p:cNvSpPr/>
          <p:nvPr/>
        </p:nvSpPr>
        <p:spPr>
          <a:xfrm>
            <a:off x="0" y="7607403"/>
            <a:ext cx="3868185" cy="2679597"/>
          </a:xfrm>
          <a:custGeom>
            <a:avLst/>
            <a:gdLst/>
            <a:ahLst/>
            <a:cxnLst/>
            <a:rect l="l" t="t" r="r" b="b"/>
            <a:pathLst>
              <a:path w="3868185" h="2679597" extrusionOk="0">
                <a:moveTo>
                  <a:pt x="0" y="0"/>
                </a:moveTo>
                <a:lnTo>
                  <a:pt x="3868185" y="0"/>
                </a:lnTo>
                <a:lnTo>
                  <a:pt x="3868185" y="2679597"/>
                </a:lnTo>
                <a:lnTo>
                  <a:pt x="0" y="2679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Google Shape;302;p25"/>
          <p:cNvSpPr/>
          <p:nvPr/>
        </p:nvSpPr>
        <p:spPr>
          <a:xfrm>
            <a:off x="12866449" y="5641726"/>
            <a:ext cx="5854303" cy="4937760"/>
          </a:xfrm>
          <a:custGeom>
            <a:avLst/>
            <a:gdLst/>
            <a:ahLst/>
            <a:cxnLst/>
            <a:rect l="l" t="t" r="r" b="b"/>
            <a:pathLst>
              <a:path w="5238750" h="4114800" extrusionOk="0">
                <a:moveTo>
                  <a:pt x="0" y="0"/>
                </a:moveTo>
                <a:lnTo>
                  <a:pt x="5238750" y="0"/>
                </a:lnTo>
                <a:lnTo>
                  <a:pt x="52387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Google Shape;303;p25"/>
          <p:cNvSpPr/>
          <p:nvPr/>
        </p:nvSpPr>
        <p:spPr>
          <a:xfrm>
            <a:off x="0" y="52650"/>
            <a:ext cx="2538943" cy="2502013"/>
          </a:xfrm>
          <a:custGeom>
            <a:avLst/>
            <a:gdLst/>
            <a:ahLst/>
            <a:cxnLst/>
            <a:rect l="l" t="t" r="r" b="b"/>
            <a:pathLst>
              <a:path w="2538943" h="2502013" extrusionOk="0">
                <a:moveTo>
                  <a:pt x="0" y="0"/>
                </a:moveTo>
                <a:lnTo>
                  <a:pt x="2538943" y="0"/>
                </a:lnTo>
                <a:lnTo>
                  <a:pt x="2538943" y="2502013"/>
                </a:lnTo>
                <a:lnTo>
                  <a:pt x="0" y="2502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Google Shape;304;p25"/>
          <p:cNvSpPr txBox="1"/>
          <p:nvPr/>
        </p:nvSpPr>
        <p:spPr>
          <a:xfrm>
            <a:off x="2553165" y="687913"/>
            <a:ext cx="13181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What is a catchment?</a:t>
            </a:r>
            <a:endParaRPr sz="8000"/>
          </a:p>
        </p:txBody>
      </p:sp>
      <p:sp>
        <p:nvSpPr>
          <p:cNvPr id="305" name="Google Shape;305;p25"/>
          <p:cNvSpPr txBox="1"/>
          <p:nvPr/>
        </p:nvSpPr>
        <p:spPr>
          <a:xfrm>
            <a:off x="2553149" y="2817388"/>
            <a:ext cx="13181700" cy="5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catchment is an area of land where all rain and runoff flow into the same river, lake or wetland. Hills, slopes and natural ridges determine where water travels.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Everything that happens in a catchment affects the water within it.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C2E2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6"/>
          <p:cNvGrpSpPr/>
          <p:nvPr/>
        </p:nvGrpSpPr>
        <p:grpSpPr>
          <a:xfrm>
            <a:off x="599225" y="2906575"/>
            <a:ext cx="17089555" cy="6806329"/>
            <a:chOff x="0" y="0"/>
            <a:chExt cx="4500923" cy="1984700"/>
          </a:xfrm>
        </p:grpSpPr>
        <p:sp>
          <p:nvSpPr>
            <p:cNvPr id="311" name="Google Shape;311;p26"/>
            <p:cNvSpPr/>
            <p:nvPr/>
          </p:nvSpPr>
          <p:spPr>
            <a:xfrm>
              <a:off x="0" y="0"/>
              <a:ext cx="4500923" cy="1984618"/>
            </a:xfrm>
            <a:custGeom>
              <a:avLst/>
              <a:gdLst/>
              <a:ahLst/>
              <a:cxnLst/>
              <a:rect l="l" t="t" r="r" b="b"/>
              <a:pathLst>
                <a:path w="4500923" h="1922148" extrusionOk="0">
                  <a:moveTo>
                    <a:pt x="0" y="0"/>
                  </a:moveTo>
                  <a:lnTo>
                    <a:pt x="4500923" y="0"/>
                  </a:lnTo>
                  <a:lnTo>
                    <a:pt x="4500923" y="1922148"/>
                  </a:lnTo>
                  <a:lnTo>
                    <a:pt x="0" y="1922148"/>
                  </a:lnTo>
                  <a:close/>
                </a:path>
              </a:pathLst>
            </a:custGeom>
            <a:solidFill>
              <a:srgbClr val="A9DEF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Google Shape;312;p26"/>
            <p:cNvSpPr txBox="1"/>
            <p:nvPr/>
          </p:nvSpPr>
          <p:spPr>
            <a:xfrm>
              <a:off x="43983" y="26900"/>
              <a:ext cx="3328200" cy="19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Precipitation</a:t>
              </a:r>
              <a:r>
                <a:rPr lang="en-US" sz="48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: Water falls as rain, hail or snow and enters the catchment.</a:t>
              </a:r>
              <a:endParaRPr sz="4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Infiltration</a:t>
              </a:r>
              <a:r>
                <a:rPr lang="en-US" sz="48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: Some water soaks into the soil. This helps recharge groundwater and aquifers.</a:t>
              </a:r>
              <a:endParaRPr sz="4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4800" b="1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Runoff</a:t>
              </a:r>
              <a:r>
                <a:rPr lang="en-US" sz="48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: Water that cannot soak in flows over the land surface into creeks and rivers.</a:t>
              </a:r>
              <a:endParaRPr sz="4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313" name="Google Shape;313;p26"/>
          <p:cNvSpPr txBox="1"/>
          <p:nvPr/>
        </p:nvSpPr>
        <p:spPr>
          <a:xfrm>
            <a:off x="516100" y="181825"/>
            <a:ext cx="14960400" cy="24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What processes cause water to </a:t>
            </a:r>
            <a:r>
              <a:rPr lang="en-US" sz="7799" b="1" u="sng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enter</a:t>
            </a:r>
            <a:r>
              <a:rPr lang="en-US" sz="77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 a catchment?</a:t>
            </a:r>
            <a:endParaRPr sz="700"/>
          </a:p>
        </p:txBody>
      </p:sp>
      <p:sp>
        <p:nvSpPr>
          <p:cNvPr id="314" name="Google Shape;314;p26"/>
          <p:cNvSpPr/>
          <p:nvPr/>
        </p:nvSpPr>
        <p:spPr>
          <a:xfrm>
            <a:off x="13402522" y="809993"/>
            <a:ext cx="4039924" cy="1696768"/>
          </a:xfrm>
          <a:custGeom>
            <a:avLst/>
            <a:gdLst/>
            <a:ahLst/>
            <a:cxnLst/>
            <a:rect l="l" t="t" r="r" b="b"/>
            <a:pathLst>
              <a:path w="4039924" h="1696768" extrusionOk="0">
                <a:moveTo>
                  <a:pt x="0" y="0"/>
                </a:moveTo>
                <a:lnTo>
                  <a:pt x="4039924" y="0"/>
                </a:lnTo>
                <a:lnTo>
                  <a:pt x="4039924" y="1696768"/>
                </a:lnTo>
                <a:lnTo>
                  <a:pt x="0" y="16967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Google Shape;315;p26"/>
          <p:cNvSpPr/>
          <p:nvPr/>
        </p:nvSpPr>
        <p:spPr>
          <a:xfrm>
            <a:off x="16871949" y="8837850"/>
            <a:ext cx="1136321" cy="1357841"/>
          </a:xfrm>
          <a:custGeom>
            <a:avLst/>
            <a:gdLst/>
            <a:ahLst/>
            <a:cxnLst/>
            <a:rect l="l" t="t" r="r" b="b"/>
            <a:pathLst>
              <a:path w="1825416" h="2351239" extrusionOk="0">
                <a:moveTo>
                  <a:pt x="0" y="0"/>
                </a:moveTo>
                <a:lnTo>
                  <a:pt x="1825416" y="0"/>
                </a:lnTo>
                <a:lnTo>
                  <a:pt x="1825416" y="2351239"/>
                </a:lnTo>
                <a:lnTo>
                  <a:pt x="0" y="2351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p26"/>
          <p:cNvSpPr/>
          <p:nvPr/>
        </p:nvSpPr>
        <p:spPr>
          <a:xfrm>
            <a:off x="11715788" y="1327875"/>
            <a:ext cx="2806870" cy="1178885"/>
          </a:xfrm>
          <a:custGeom>
            <a:avLst/>
            <a:gdLst/>
            <a:ahLst/>
            <a:cxnLst/>
            <a:rect l="l" t="t" r="r" b="b"/>
            <a:pathLst>
              <a:path w="2806870" h="1178885" extrusionOk="0">
                <a:moveTo>
                  <a:pt x="0" y="0"/>
                </a:moveTo>
                <a:lnTo>
                  <a:pt x="2806870" y="0"/>
                </a:lnTo>
                <a:lnTo>
                  <a:pt x="2806870" y="1178886"/>
                </a:lnTo>
                <a:lnTo>
                  <a:pt x="0" y="1178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8" name="Google Shape;318;p26"/>
          <p:cNvSpPr/>
          <p:nvPr/>
        </p:nvSpPr>
        <p:spPr>
          <a:xfrm>
            <a:off x="13402515" y="1536543"/>
            <a:ext cx="2806870" cy="1178885"/>
          </a:xfrm>
          <a:custGeom>
            <a:avLst/>
            <a:gdLst/>
            <a:ahLst/>
            <a:cxnLst/>
            <a:rect l="l" t="t" r="r" b="b"/>
            <a:pathLst>
              <a:path w="2806870" h="1178885" extrusionOk="0">
                <a:moveTo>
                  <a:pt x="0" y="0"/>
                </a:moveTo>
                <a:lnTo>
                  <a:pt x="2806870" y="0"/>
                </a:lnTo>
                <a:lnTo>
                  <a:pt x="2806870" y="1178885"/>
                </a:lnTo>
                <a:lnTo>
                  <a:pt x="0" y="1178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9" name="Google Shape;319;p26"/>
          <p:cNvSpPr/>
          <p:nvPr/>
        </p:nvSpPr>
        <p:spPr>
          <a:xfrm>
            <a:off x="15476521" y="2582722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0" name="Google Shape;320;p26"/>
          <p:cNvSpPr/>
          <p:nvPr/>
        </p:nvSpPr>
        <p:spPr>
          <a:xfrm>
            <a:off x="14468806" y="2906572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1" name="Google Shape;321;p26"/>
          <p:cNvSpPr/>
          <p:nvPr/>
        </p:nvSpPr>
        <p:spPr>
          <a:xfrm>
            <a:off x="13684635" y="2906572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2" name="Google Shape;322;p26"/>
          <p:cNvSpPr/>
          <p:nvPr/>
        </p:nvSpPr>
        <p:spPr>
          <a:xfrm>
            <a:off x="12574644" y="2715434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1"/>
                </a:lnTo>
                <a:lnTo>
                  <a:pt x="0" y="18169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3" name="Google Shape;323;p26"/>
          <p:cNvSpPr/>
          <p:nvPr/>
        </p:nvSpPr>
        <p:spPr>
          <a:xfrm>
            <a:off x="11328295" y="2187748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4" name="Google Shape;324;p26"/>
          <p:cNvSpPr/>
          <p:nvPr/>
        </p:nvSpPr>
        <p:spPr>
          <a:xfrm>
            <a:off x="13819338" y="6488611"/>
            <a:ext cx="4882710" cy="4199130"/>
          </a:xfrm>
          <a:custGeom>
            <a:avLst/>
            <a:gdLst/>
            <a:ahLst/>
            <a:cxnLst/>
            <a:rect l="l" t="t" r="r" b="b"/>
            <a:pathLst>
              <a:path w="4882710" h="4199130" extrusionOk="0">
                <a:moveTo>
                  <a:pt x="0" y="0"/>
                </a:moveTo>
                <a:lnTo>
                  <a:pt x="4882710" y="0"/>
                </a:lnTo>
                <a:lnTo>
                  <a:pt x="4882710" y="4199131"/>
                </a:lnTo>
                <a:lnTo>
                  <a:pt x="0" y="4199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C2E2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27"/>
          <p:cNvGrpSpPr/>
          <p:nvPr/>
        </p:nvGrpSpPr>
        <p:grpSpPr>
          <a:xfrm>
            <a:off x="599225" y="2506750"/>
            <a:ext cx="17089555" cy="7206251"/>
            <a:chOff x="0" y="0"/>
            <a:chExt cx="4500923" cy="1984701"/>
          </a:xfrm>
        </p:grpSpPr>
        <p:sp>
          <p:nvSpPr>
            <p:cNvPr id="330" name="Google Shape;330;p27"/>
            <p:cNvSpPr/>
            <p:nvPr/>
          </p:nvSpPr>
          <p:spPr>
            <a:xfrm>
              <a:off x="0" y="0"/>
              <a:ext cx="4500923" cy="1984618"/>
            </a:xfrm>
            <a:custGeom>
              <a:avLst/>
              <a:gdLst/>
              <a:ahLst/>
              <a:cxnLst/>
              <a:rect l="l" t="t" r="r" b="b"/>
              <a:pathLst>
                <a:path w="4500923" h="1922148" extrusionOk="0">
                  <a:moveTo>
                    <a:pt x="0" y="0"/>
                  </a:moveTo>
                  <a:lnTo>
                    <a:pt x="4500923" y="0"/>
                  </a:lnTo>
                  <a:lnTo>
                    <a:pt x="4500923" y="1922148"/>
                  </a:lnTo>
                  <a:lnTo>
                    <a:pt x="0" y="1922148"/>
                  </a:lnTo>
                  <a:close/>
                </a:path>
              </a:pathLst>
            </a:custGeom>
            <a:solidFill>
              <a:srgbClr val="A9DEF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Google Shape;331;p27"/>
            <p:cNvSpPr txBox="1"/>
            <p:nvPr/>
          </p:nvSpPr>
          <p:spPr>
            <a:xfrm>
              <a:off x="43983" y="26901"/>
              <a:ext cx="2943600" cy="19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Surface flow: </a:t>
              </a:r>
              <a:r>
                <a:rPr lang="en-US" sz="48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Water travels through streams and rivers from higher to lower areas.</a:t>
              </a:r>
              <a:endParaRPr sz="4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endParaRPr sz="48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4800" b="1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Groundwater flow: </a:t>
              </a:r>
              <a:r>
                <a:rPr lang="en-US" sz="48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Water stored underground slowly moves through rocks and sediments, feeding springs and rivers.</a:t>
              </a:r>
              <a:endParaRPr sz="4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332" name="Google Shape;332;p27"/>
          <p:cNvSpPr txBox="1"/>
          <p:nvPr/>
        </p:nvSpPr>
        <p:spPr>
          <a:xfrm>
            <a:off x="516100" y="181825"/>
            <a:ext cx="14960400" cy="24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How does water move through a catchment?</a:t>
            </a:r>
            <a:endParaRPr sz="700"/>
          </a:p>
        </p:txBody>
      </p:sp>
      <p:sp>
        <p:nvSpPr>
          <p:cNvPr id="333" name="Google Shape;333;p27"/>
          <p:cNvSpPr/>
          <p:nvPr/>
        </p:nvSpPr>
        <p:spPr>
          <a:xfrm>
            <a:off x="13402522" y="809993"/>
            <a:ext cx="4039924" cy="1696768"/>
          </a:xfrm>
          <a:custGeom>
            <a:avLst/>
            <a:gdLst/>
            <a:ahLst/>
            <a:cxnLst/>
            <a:rect l="l" t="t" r="r" b="b"/>
            <a:pathLst>
              <a:path w="4039924" h="1696768" extrusionOk="0">
                <a:moveTo>
                  <a:pt x="0" y="0"/>
                </a:moveTo>
                <a:lnTo>
                  <a:pt x="4039924" y="0"/>
                </a:lnTo>
                <a:lnTo>
                  <a:pt x="4039924" y="1696768"/>
                </a:lnTo>
                <a:lnTo>
                  <a:pt x="0" y="16967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4" name="Google Shape;334;p27"/>
          <p:cNvSpPr/>
          <p:nvPr/>
        </p:nvSpPr>
        <p:spPr>
          <a:xfrm>
            <a:off x="16871949" y="8837850"/>
            <a:ext cx="1136321" cy="1357841"/>
          </a:xfrm>
          <a:custGeom>
            <a:avLst/>
            <a:gdLst/>
            <a:ahLst/>
            <a:cxnLst/>
            <a:rect l="l" t="t" r="r" b="b"/>
            <a:pathLst>
              <a:path w="1825416" h="2351239" extrusionOk="0">
                <a:moveTo>
                  <a:pt x="0" y="0"/>
                </a:moveTo>
                <a:lnTo>
                  <a:pt x="1825416" y="0"/>
                </a:lnTo>
                <a:lnTo>
                  <a:pt x="1825416" y="2351239"/>
                </a:lnTo>
                <a:lnTo>
                  <a:pt x="0" y="2351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5" name="Google Shape;335;p27"/>
          <p:cNvSpPr/>
          <p:nvPr/>
        </p:nvSpPr>
        <p:spPr>
          <a:xfrm>
            <a:off x="11715788" y="1327875"/>
            <a:ext cx="2806870" cy="1178885"/>
          </a:xfrm>
          <a:custGeom>
            <a:avLst/>
            <a:gdLst/>
            <a:ahLst/>
            <a:cxnLst/>
            <a:rect l="l" t="t" r="r" b="b"/>
            <a:pathLst>
              <a:path w="2806870" h="1178885" extrusionOk="0">
                <a:moveTo>
                  <a:pt x="0" y="0"/>
                </a:moveTo>
                <a:lnTo>
                  <a:pt x="2806870" y="0"/>
                </a:lnTo>
                <a:lnTo>
                  <a:pt x="2806870" y="1178886"/>
                </a:lnTo>
                <a:lnTo>
                  <a:pt x="0" y="1178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7" name="Google Shape;337;p27"/>
          <p:cNvSpPr/>
          <p:nvPr/>
        </p:nvSpPr>
        <p:spPr>
          <a:xfrm>
            <a:off x="13402515" y="1536543"/>
            <a:ext cx="2806870" cy="1178885"/>
          </a:xfrm>
          <a:custGeom>
            <a:avLst/>
            <a:gdLst/>
            <a:ahLst/>
            <a:cxnLst/>
            <a:rect l="l" t="t" r="r" b="b"/>
            <a:pathLst>
              <a:path w="2806870" h="1178885" extrusionOk="0">
                <a:moveTo>
                  <a:pt x="0" y="0"/>
                </a:moveTo>
                <a:lnTo>
                  <a:pt x="2806870" y="0"/>
                </a:lnTo>
                <a:lnTo>
                  <a:pt x="2806870" y="1178885"/>
                </a:lnTo>
                <a:lnTo>
                  <a:pt x="0" y="1178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8" name="Google Shape;338;p27"/>
          <p:cNvSpPr/>
          <p:nvPr/>
        </p:nvSpPr>
        <p:spPr>
          <a:xfrm>
            <a:off x="15476521" y="2582722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9" name="Google Shape;339;p27"/>
          <p:cNvSpPr/>
          <p:nvPr/>
        </p:nvSpPr>
        <p:spPr>
          <a:xfrm>
            <a:off x="14468806" y="2906572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0" name="Google Shape;340;p27"/>
          <p:cNvSpPr/>
          <p:nvPr/>
        </p:nvSpPr>
        <p:spPr>
          <a:xfrm>
            <a:off x="13684635" y="2906572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1" name="Google Shape;341;p27"/>
          <p:cNvSpPr/>
          <p:nvPr/>
        </p:nvSpPr>
        <p:spPr>
          <a:xfrm>
            <a:off x="12574644" y="2715434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1"/>
                </a:lnTo>
                <a:lnTo>
                  <a:pt x="0" y="18169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2" name="Google Shape;342;p27"/>
          <p:cNvSpPr/>
          <p:nvPr/>
        </p:nvSpPr>
        <p:spPr>
          <a:xfrm>
            <a:off x="11328295" y="2187748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C2E2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28"/>
          <p:cNvGrpSpPr/>
          <p:nvPr/>
        </p:nvGrpSpPr>
        <p:grpSpPr>
          <a:xfrm>
            <a:off x="599225" y="2506750"/>
            <a:ext cx="17089555" cy="7206251"/>
            <a:chOff x="0" y="0"/>
            <a:chExt cx="4500923" cy="1984701"/>
          </a:xfrm>
        </p:grpSpPr>
        <p:sp>
          <p:nvSpPr>
            <p:cNvPr id="348" name="Google Shape;348;p28"/>
            <p:cNvSpPr/>
            <p:nvPr/>
          </p:nvSpPr>
          <p:spPr>
            <a:xfrm>
              <a:off x="0" y="0"/>
              <a:ext cx="4500923" cy="1984618"/>
            </a:xfrm>
            <a:custGeom>
              <a:avLst/>
              <a:gdLst/>
              <a:ahLst/>
              <a:cxnLst/>
              <a:rect l="l" t="t" r="r" b="b"/>
              <a:pathLst>
                <a:path w="4500923" h="1922148" extrusionOk="0">
                  <a:moveTo>
                    <a:pt x="0" y="0"/>
                  </a:moveTo>
                  <a:lnTo>
                    <a:pt x="4500923" y="0"/>
                  </a:lnTo>
                  <a:lnTo>
                    <a:pt x="4500923" y="1922148"/>
                  </a:lnTo>
                  <a:lnTo>
                    <a:pt x="0" y="1922148"/>
                  </a:lnTo>
                  <a:close/>
                </a:path>
              </a:pathLst>
            </a:custGeom>
            <a:solidFill>
              <a:srgbClr val="A9DEF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9" name="Google Shape;349;p28"/>
            <p:cNvSpPr txBox="1"/>
            <p:nvPr/>
          </p:nvSpPr>
          <p:spPr>
            <a:xfrm>
              <a:off x="171219" y="26901"/>
              <a:ext cx="3940200" cy="19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Surface: </a:t>
              </a:r>
              <a:r>
                <a:rPr lang="en-US" sz="48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Water is stored above the ground in rivers, lakes, wetlands and dams. This water moves through the catchment and is used by people, plants and animals.</a:t>
              </a:r>
              <a:endParaRPr sz="4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4800" b="1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Groundwater: </a:t>
              </a:r>
              <a:r>
                <a:rPr lang="en-US" sz="48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Water is also stored underground in layers of rock, sand or gravel called </a:t>
              </a:r>
              <a:r>
                <a:rPr lang="en-US" sz="4800" i="1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aquifers</a:t>
              </a:r>
              <a:r>
                <a:rPr lang="en-US" sz="480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. It fills the spaces between particles and can be pumped up through bores.</a:t>
              </a:r>
              <a:endParaRPr sz="4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350" name="Google Shape;350;p28"/>
          <p:cNvSpPr txBox="1"/>
          <p:nvPr/>
        </p:nvSpPr>
        <p:spPr>
          <a:xfrm>
            <a:off x="516100" y="181825"/>
            <a:ext cx="14960400" cy="24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Where is water stored in a catchment?</a:t>
            </a:r>
            <a:endParaRPr sz="700"/>
          </a:p>
        </p:txBody>
      </p:sp>
      <p:sp>
        <p:nvSpPr>
          <p:cNvPr id="351" name="Google Shape;351;p28"/>
          <p:cNvSpPr/>
          <p:nvPr/>
        </p:nvSpPr>
        <p:spPr>
          <a:xfrm>
            <a:off x="13402522" y="809993"/>
            <a:ext cx="4039924" cy="1696768"/>
          </a:xfrm>
          <a:custGeom>
            <a:avLst/>
            <a:gdLst/>
            <a:ahLst/>
            <a:cxnLst/>
            <a:rect l="l" t="t" r="r" b="b"/>
            <a:pathLst>
              <a:path w="4039924" h="1696768" extrusionOk="0">
                <a:moveTo>
                  <a:pt x="0" y="0"/>
                </a:moveTo>
                <a:lnTo>
                  <a:pt x="4039924" y="0"/>
                </a:lnTo>
                <a:lnTo>
                  <a:pt x="4039924" y="1696768"/>
                </a:lnTo>
                <a:lnTo>
                  <a:pt x="0" y="16967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2" name="Google Shape;352;p28"/>
          <p:cNvSpPr/>
          <p:nvPr/>
        </p:nvSpPr>
        <p:spPr>
          <a:xfrm>
            <a:off x="16871949" y="8837850"/>
            <a:ext cx="1136321" cy="1357841"/>
          </a:xfrm>
          <a:custGeom>
            <a:avLst/>
            <a:gdLst/>
            <a:ahLst/>
            <a:cxnLst/>
            <a:rect l="l" t="t" r="r" b="b"/>
            <a:pathLst>
              <a:path w="1825416" h="2351239" extrusionOk="0">
                <a:moveTo>
                  <a:pt x="0" y="0"/>
                </a:moveTo>
                <a:lnTo>
                  <a:pt x="1825416" y="0"/>
                </a:lnTo>
                <a:lnTo>
                  <a:pt x="1825416" y="2351239"/>
                </a:lnTo>
                <a:lnTo>
                  <a:pt x="0" y="2351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3" name="Google Shape;353;p28"/>
          <p:cNvSpPr/>
          <p:nvPr/>
        </p:nvSpPr>
        <p:spPr>
          <a:xfrm>
            <a:off x="11715788" y="1327875"/>
            <a:ext cx="2806870" cy="1178885"/>
          </a:xfrm>
          <a:custGeom>
            <a:avLst/>
            <a:gdLst/>
            <a:ahLst/>
            <a:cxnLst/>
            <a:rect l="l" t="t" r="r" b="b"/>
            <a:pathLst>
              <a:path w="2806870" h="1178885" extrusionOk="0">
                <a:moveTo>
                  <a:pt x="0" y="0"/>
                </a:moveTo>
                <a:lnTo>
                  <a:pt x="2806870" y="0"/>
                </a:lnTo>
                <a:lnTo>
                  <a:pt x="2806870" y="1178886"/>
                </a:lnTo>
                <a:lnTo>
                  <a:pt x="0" y="1178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5" name="Google Shape;355;p28"/>
          <p:cNvSpPr/>
          <p:nvPr/>
        </p:nvSpPr>
        <p:spPr>
          <a:xfrm>
            <a:off x="13402515" y="1536543"/>
            <a:ext cx="2806870" cy="1178885"/>
          </a:xfrm>
          <a:custGeom>
            <a:avLst/>
            <a:gdLst/>
            <a:ahLst/>
            <a:cxnLst/>
            <a:rect l="l" t="t" r="r" b="b"/>
            <a:pathLst>
              <a:path w="2806870" h="1178885" extrusionOk="0">
                <a:moveTo>
                  <a:pt x="0" y="0"/>
                </a:moveTo>
                <a:lnTo>
                  <a:pt x="2806870" y="0"/>
                </a:lnTo>
                <a:lnTo>
                  <a:pt x="2806870" y="1178885"/>
                </a:lnTo>
                <a:lnTo>
                  <a:pt x="0" y="1178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p28"/>
          <p:cNvSpPr/>
          <p:nvPr/>
        </p:nvSpPr>
        <p:spPr>
          <a:xfrm>
            <a:off x="15476521" y="2582722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7" name="Google Shape;357;p28"/>
          <p:cNvSpPr/>
          <p:nvPr/>
        </p:nvSpPr>
        <p:spPr>
          <a:xfrm>
            <a:off x="14468806" y="2906572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8" name="Google Shape;358;p28"/>
          <p:cNvSpPr/>
          <p:nvPr/>
        </p:nvSpPr>
        <p:spPr>
          <a:xfrm>
            <a:off x="13684635" y="2906572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9" name="Google Shape;359;p28"/>
          <p:cNvSpPr/>
          <p:nvPr/>
        </p:nvSpPr>
        <p:spPr>
          <a:xfrm>
            <a:off x="12574644" y="2715434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1"/>
                </a:lnTo>
                <a:lnTo>
                  <a:pt x="0" y="18169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0" name="Google Shape;360;p28"/>
          <p:cNvSpPr/>
          <p:nvPr/>
        </p:nvSpPr>
        <p:spPr>
          <a:xfrm>
            <a:off x="11328295" y="2187748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1" name="Google Shape;361;p28"/>
          <p:cNvSpPr/>
          <p:nvPr/>
        </p:nvSpPr>
        <p:spPr>
          <a:xfrm>
            <a:off x="15252972" y="8034178"/>
            <a:ext cx="3930582" cy="2404002"/>
          </a:xfrm>
          <a:custGeom>
            <a:avLst/>
            <a:gdLst/>
            <a:ahLst/>
            <a:cxnLst/>
            <a:rect l="l" t="t" r="r" b="b"/>
            <a:pathLst>
              <a:path w="4882710" h="4199130" extrusionOk="0">
                <a:moveTo>
                  <a:pt x="0" y="0"/>
                </a:moveTo>
                <a:lnTo>
                  <a:pt x="4882710" y="0"/>
                </a:lnTo>
                <a:lnTo>
                  <a:pt x="4882710" y="4199131"/>
                </a:lnTo>
                <a:lnTo>
                  <a:pt x="0" y="4199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2" name="Google Shape;362;p28"/>
          <p:cNvSpPr/>
          <p:nvPr/>
        </p:nvSpPr>
        <p:spPr>
          <a:xfrm>
            <a:off x="14799200" y="9080328"/>
            <a:ext cx="1879843" cy="1354219"/>
          </a:xfrm>
          <a:custGeom>
            <a:avLst/>
            <a:gdLst/>
            <a:ahLst/>
            <a:cxnLst/>
            <a:rect l="l" t="t" r="r" b="b"/>
            <a:pathLst>
              <a:path w="4882710" h="4199130" extrusionOk="0">
                <a:moveTo>
                  <a:pt x="0" y="0"/>
                </a:moveTo>
                <a:lnTo>
                  <a:pt x="4882710" y="0"/>
                </a:lnTo>
                <a:lnTo>
                  <a:pt x="4882710" y="4199131"/>
                </a:lnTo>
                <a:lnTo>
                  <a:pt x="0" y="4199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C2E2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29"/>
          <p:cNvGrpSpPr/>
          <p:nvPr/>
        </p:nvGrpSpPr>
        <p:grpSpPr>
          <a:xfrm>
            <a:off x="599225" y="2506750"/>
            <a:ext cx="17089555" cy="7383969"/>
            <a:chOff x="0" y="0"/>
            <a:chExt cx="4500923" cy="2292161"/>
          </a:xfrm>
        </p:grpSpPr>
        <p:sp>
          <p:nvSpPr>
            <p:cNvPr id="368" name="Google Shape;368;p29"/>
            <p:cNvSpPr/>
            <p:nvPr/>
          </p:nvSpPr>
          <p:spPr>
            <a:xfrm>
              <a:off x="0" y="0"/>
              <a:ext cx="4500923" cy="2292161"/>
            </a:xfrm>
            <a:custGeom>
              <a:avLst/>
              <a:gdLst/>
              <a:ahLst/>
              <a:cxnLst/>
              <a:rect l="l" t="t" r="r" b="b"/>
              <a:pathLst>
                <a:path w="4500923" h="1922148" extrusionOk="0">
                  <a:moveTo>
                    <a:pt x="0" y="0"/>
                  </a:moveTo>
                  <a:lnTo>
                    <a:pt x="4500923" y="0"/>
                  </a:lnTo>
                  <a:lnTo>
                    <a:pt x="4500923" y="1922148"/>
                  </a:lnTo>
                  <a:lnTo>
                    <a:pt x="0" y="1922148"/>
                  </a:lnTo>
                  <a:close/>
                </a:path>
              </a:pathLst>
            </a:custGeom>
            <a:solidFill>
              <a:srgbClr val="A9DEF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" name="Google Shape;369;p29"/>
            <p:cNvSpPr txBox="1"/>
            <p:nvPr/>
          </p:nvSpPr>
          <p:spPr>
            <a:xfrm>
              <a:off x="195258" y="24430"/>
              <a:ext cx="3609000" cy="19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t" anchorCtr="0">
              <a:noAutofit/>
            </a:bodyPr>
            <a:lstStyle/>
            <a:p>
              <a:pPr marL="0" marR="0" lvl="0" indent="0" algn="l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Evaporation: </a:t>
              </a:r>
              <a:r>
                <a:rPr lang="en-US" sz="48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Heat turns water on surfaces back into vapour.</a:t>
              </a:r>
              <a:endParaRPr sz="48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4800" b="1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Transpiration: </a:t>
              </a:r>
              <a:r>
                <a:rPr lang="en-US" sz="48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Plants release water vapour from their leaves.</a:t>
              </a:r>
              <a:endParaRPr sz="48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4800" b="1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Evapotranspiration: </a:t>
              </a:r>
              <a:r>
                <a:rPr lang="en-US" sz="48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Combined water loss from land and plants.</a:t>
              </a:r>
              <a:endParaRPr sz="48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l" rtl="0">
                <a:lnSpc>
                  <a:spcPct val="116666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US" sz="4800" b="1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Outflow: </a:t>
              </a:r>
              <a:r>
                <a:rPr lang="en-US" sz="48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rPr>
                <a:t>Rivers eventually carry water out of the catchment into another river, lake or the ocean.</a:t>
              </a:r>
              <a:endParaRPr sz="4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370" name="Google Shape;370;p29"/>
          <p:cNvSpPr txBox="1"/>
          <p:nvPr/>
        </p:nvSpPr>
        <p:spPr>
          <a:xfrm>
            <a:off x="516100" y="181825"/>
            <a:ext cx="14960400" cy="24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What processes cause water to </a:t>
            </a:r>
            <a:r>
              <a:rPr lang="en-US" sz="7799" b="1" u="sng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leave</a:t>
            </a:r>
            <a:r>
              <a:rPr lang="en-US" sz="77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 a catchment?</a:t>
            </a:r>
            <a:endParaRPr sz="700"/>
          </a:p>
        </p:txBody>
      </p:sp>
      <p:sp>
        <p:nvSpPr>
          <p:cNvPr id="371" name="Google Shape;371;p29"/>
          <p:cNvSpPr/>
          <p:nvPr/>
        </p:nvSpPr>
        <p:spPr>
          <a:xfrm>
            <a:off x="13402522" y="809993"/>
            <a:ext cx="4039924" cy="1696768"/>
          </a:xfrm>
          <a:custGeom>
            <a:avLst/>
            <a:gdLst/>
            <a:ahLst/>
            <a:cxnLst/>
            <a:rect l="l" t="t" r="r" b="b"/>
            <a:pathLst>
              <a:path w="4039924" h="1696768" extrusionOk="0">
                <a:moveTo>
                  <a:pt x="0" y="0"/>
                </a:moveTo>
                <a:lnTo>
                  <a:pt x="4039924" y="0"/>
                </a:lnTo>
                <a:lnTo>
                  <a:pt x="4039924" y="1696768"/>
                </a:lnTo>
                <a:lnTo>
                  <a:pt x="0" y="16967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2" name="Google Shape;372;p29"/>
          <p:cNvSpPr/>
          <p:nvPr/>
        </p:nvSpPr>
        <p:spPr>
          <a:xfrm>
            <a:off x="16871949" y="8837850"/>
            <a:ext cx="1136321" cy="1357841"/>
          </a:xfrm>
          <a:custGeom>
            <a:avLst/>
            <a:gdLst/>
            <a:ahLst/>
            <a:cxnLst/>
            <a:rect l="l" t="t" r="r" b="b"/>
            <a:pathLst>
              <a:path w="1825416" h="2351239" extrusionOk="0">
                <a:moveTo>
                  <a:pt x="0" y="0"/>
                </a:moveTo>
                <a:lnTo>
                  <a:pt x="1825416" y="0"/>
                </a:lnTo>
                <a:lnTo>
                  <a:pt x="1825416" y="2351239"/>
                </a:lnTo>
                <a:lnTo>
                  <a:pt x="0" y="2351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3" name="Google Shape;373;p29"/>
          <p:cNvSpPr/>
          <p:nvPr/>
        </p:nvSpPr>
        <p:spPr>
          <a:xfrm>
            <a:off x="11715788" y="1327875"/>
            <a:ext cx="2806870" cy="1178885"/>
          </a:xfrm>
          <a:custGeom>
            <a:avLst/>
            <a:gdLst/>
            <a:ahLst/>
            <a:cxnLst/>
            <a:rect l="l" t="t" r="r" b="b"/>
            <a:pathLst>
              <a:path w="2806870" h="1178885" extrusionOk="0">
                <a:moveTo>
                  <a:pt x="0" y="0"/>
                </a:moveTo>
                <a:lnTo>
                  <a:pt x="2806870" y="0"/>
                </a:lnTo>
                <a:lnTo>
                  <a:pt x="2806870" y="1178886"/>
                </a:lnTo>
                <a:lnTo>
                  <a:pt x="0" y="1178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4" name="Google Shape;374;p29"/>
          <p:cNvSpPr/>
          <p:nvPr/>
        </p:nvSpPr>
        <p:spPr>
          <a:xfrm>
            <a:off x="341049" y="8475324"/>
            <a:ext cx="566598" cy="1718872"/>
          </a:xfrm>
          <a:custGeom>
            <a:avLst/>
            <a:gdLst/>
            <a:ahLst/>
            <a:cxnLst/>
            <a:rect l="l" t="t" r="r" b="b"/>
            <a:pathLst>
              <a:path w="566598" h="1718872" extrusionOk="0">
                <a:moveTo>
                  <a:pt x="0" y="0"/>
                </a:moveTo>
                <a:lnTo>
                  <a:pt x="566598" y="0"/>
                </a:lnTo>
                <a:lnTo>
                  <a:pt x="566598" y="1718872"/>
                </a:lnTo>
                <a:lnTo>
                  <a:pt x="0" y="1718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5" name="Google Shape;375;p29"/>
          <p:cNvSpPr/>
          <p:nvPr/>
        </p:nvSpPr>
        <p:spPr>
          <a:xfrm>
            <a:off x="13402515" y="1536543"/>
            <a:ext cx="2806870" cy="1178885"/>
          </a:xfrm>
          <a:custGeom>
            <a:avLst/>
            <a:gdLst/>
            <a:ahLst/>
            <a:cxnLst/>
            <a:rect l="l" t="t" r="r" b="b"/>
            <a:pathLst>
              <a:path w="2806870" h="1178885" extrusionOk="0">
                <a:moveTo>
                  <a:pt x="0" y="0"/>
                </a:moveTo>
                <a:lnTo>
                  <a:pt x="2806870" y="0"/>
                </a:lnTo>
                <a:lnTo>
                  <a:pt x="2806870" y="1178885"/>
                </a:lnTo>
                <a:lnTo>
                  <a:pt x="0" y="1178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6" name="Google Shape;376;p29"/>
          <p:cNvSpPr/>
          <p:nvPr/>
        </p:nvSpPr>
        <p:spPr>
          <a:xfrm>
            <a:off x="15476521" y="2582722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29"/>
          <p:cNvSpPr/>
          <p:nvPr/>
        </p:nvSpPr>
        <p:spPr>
          <a:xfrm>
            <a:off x="14468806" y="2906572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8" name="Google Shape;378;p29"/>
          <p:cNvSpPr/>
          <p:nvPr/>
        </p:nvSpPr>
        <p:spPr>
          <a:xfrm>
            <a:off x="13684635" y="2906572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9" name="Google Shape;379;p29"/>
          <p:cNvSpPr/>
          <p:nvPr/>
        </p:nvSpPr>
        <p:spPr>
          <a:xfrm>
            <a:off x="12574644" y="2715434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1"/>
                </a:lnTo>
                <a:lnTo>
                  <a:pt x="0" y="18169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" name="Google Shape;380;p29"/>
          <p:cNvSpPr/>
          <p:nvPr/>
        </p:nvSpPr>
        <p:spPr>
          <a:xfrm>
            <a:off x="11328295" y="2187748"/>
            <a:ext cx="1568342" cy="1816910"/>
          </a:xfrm>
          <a:custGeom>
            <a:avLst/>
            <a:gdLst/>
            <a:ahLst/>
            <a:cxnLst/>
            <a:rect l="l" t="t" r="r" b="b"/>
            <a:pathLst>
              <a:path w="1568342" h="1816910" extrusionOk="0">
                <a:moveTo>
                  <a:pt x="0" y="0"/>
                </a:moveTo>
                <a:lnTo>
                  <a:pt x="1568342" y="0"/>
                </a:lnTo>
                <a:lnTo>
                  <a:pt x="1568342" y="1816910"/>
                </a:lnTo>
                <a:lnTo>
                  <a:pt x="0" y="181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126829" b="-65008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4C4ED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0"/>
          <p:cNvSpPr/>
          <p:nvPr/>
        </p:nvSpPr>
        <p:spPr>
          <a:xfrm>
            <a:off x="1818046" y="6609167"/>
            <a:ext cx="2198602" cy="923413"/>
          </a:xfrm>
          <a:custGeom>
            <a:avLst/>
            <a:gdLst/>
            <a:ahLst/>
            <a:cxnLst/>
            <a:rect l="l" t="t" r="r" b="b"/>
            <a:pathLst>
              <a:path w="2198602" h="923413" extrusionOk="0">
                <a:moveTo>
                  <a:pt x="0" y="0"/>
                </a:moveTo>
                <a:lnTo>
                  <a:pt x="2198602" y="0"/>
                </a:lnTo>
                <a:lnTo>
                  <a:pt x="2198602" y="923413"/>
                </a:lnTo>
                <a:lnTo>
                  <a:pt x="0" y="923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6" name="Google Shape;386;p30"/>
          <p:cNvSpPr/>
          <p:nvPr/>
        </p:nvSpPr>
        <p:spPr>
          <a:xfrm>
            <a:off x="2144138" y="2554675"/>
            <a:ext cx="13999728" cy="5649814"/>
          </a:xfrm>
          <a:custGeom>
            <a:avLst/>
            <a:gdLst/>
            <a:ahLst/>
            <a:cxnLst/>
            <a:rect l="l" t="t" r="r" b="b"/>
            <a:pathLst>
              <a:path w="4274726" h="1818122" extrusionOk="0">
                <a:moveTo>
                  <a:pt x="0" y="0"/>
                </a:moveTo>
                <a:lnTo>
                  <a:pt x="4274726" y="0"/>
                </a:lnTo>
                <a:lnTo>
                  <a:pt x="4274726" y="1818122"/>
                </a:lnTo>
                <a:lnTo>
                  <a:pt x="0" y="1818122"/>
                </a:lnTo>
                <a:close/>
              </a:path>
            </a:pathLst>
          </a:custGeom>
          <a:solidFill>
            <a:srgbClr val="77CF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7" name="Google Shape;387;p30"/>
          <p:cNvSpPr/>
          <p:nvPr/>
        </p:nvSpPr>
        <p:spPr>
          <a:xfrm>
            <a:off x="0" y="7607403"/>
            <a:ext cx="3868185" cy="2679597"/>
          </a:xfrm>
          <a:custGeom>
            <a:avLst/>
            <a:gdLst/>
            <a:ahLst/>
            <a:cxnLst/>
            <a:rect l="l" t="t" r="r" b="b"/>
            <a:pathLst>
              <a:path w="3868185" h="2679597" extrusionOk="0">
                <a:moveTo>
                  <a:pt x="0" y="0"/>
                </a:moveTo>
                <a:lnTo>
                  <a:pt x="3868185" y="0"/>
                </a:lnTo>
                <a:lnTo>
                  <a:pt x="3868185" y="2679597"/>
                </a:lnTo>
                <a:lnTo>
                  <a:pt x="0" y="2679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8" name="Google Shape;388;p30"/>
          <p:cNvSpPr/>
          <p:nvPr/>
        </p:nvSpPr>
        <p:spPr>
          <a:xfrm>
            <a:off x="12866449" y="5641726"/>
            <a:ext cx="5854303" cy="4937760"/>
          </a:xfrm>
          <a:custGeom>
            <a:avLst/>
            <a:gdLst/>
            <a:ahLst/>
            <a:cxnLst/>
            <a:rect l="l" t="t" r="r" b="b"/>
            <a:pathLst>
              <a:path w="5238750" h="4114800" extrusionOk="0">
                <a:moveTo>
                  <a:pt x="0" y="0"/>
                </a:moveTo>
                <a:lnTo>
                  <a:pt x="5238750" y="0"/>
                </a:lnTo>
                <a:lnTo>
                  <a:pt x="52387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9" name="Google Shape;389;p30"/>
          <p:cNvSpPr/>
          <p:nvPr/>
        </p:nvSpPr>
        <p:spPr>
          <a:xfrm>
            <a:off x="0" y="52650"/>
            <a:ext cx="2538943" cy="2502013"/>
          </a:xfrm>
          <a:custGeom>
            <a:avLst/>
            <a:gdLst/>
            <a:ahLst/>
            <a:cxnLst/>
            <a:rect l="l" t="t" r="r" b="b"/>
            <a:pathLst>
              <a:path w="2538943" h="2502013" extrusionOk="0">
                <a:moveTo>
                  <a:pt x="0" y="0"/>
                </a:moveTo>
                <a:lnTo>
                  <a:pt x="2538943" y="0"/>
                </a:lnTo>
                <a:lnTo>
                  <a:pt x="2538943" y="2502013"/>
                </a:lnTo>
                <a:lnTo>
                  <a:pt x="0" y="2502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" name="Google Shape;390;p30"/>
          <p:cNvSpPr txBox="1"/>
          <p:nvPr/>
        </p:nvSpPr>
        <p:spPr>
          <a:xfrm>
            <a:off x="2553165" y="687913"/>
            <a:ext cx="13181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What is a catchment?</a:t>
            </a:r>
            <a:endParaRPr sz="8000"/>
          </a:p>
        </p:txBody>
      </p:sp>
      <p:sp>
        <p:nvSpPr>
          <p:cNvPr id="391" name="Google Shape;391;p30"/>
          <p:cNvSpPr txBox="1"/>
          <p:nvPr/>
        </p:nvSpPr>
        <p:spPr>
          <a:xfrm>
            <a:off x="2553149" y="3424350"/>
            <a:ext cx="131817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 the diagram of the water cycle, identifying all the processes that influence how water moves through a catchment.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DEF8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"/>
          <p:cNvSpPr/>
          <p:nvPr/>
        </p:nvSpPr>
        <p:spPr>
          <a:xfrm>
            <a:off x="1818046" y="6609167"/>
            <a:ext cx="2198602" cy="923413"/>
          </a:xfrm>
          <a:custGeom>
            <a:avLst/>
            <a:gdLst/>
            <a:ahLst/>
            <a:cxnLst/>
            <a:rect l="l" t="t" r="r" b="b"/>
            <a:pathLst>
              <a:path w="2198602" h="923413" extrusionOk="0">
                <a:moveTo>
                  <a:pt x="0" y="0"/>
                </a:moveTo>
                <a:lnTo>
                  <a:pt x="2198602" y="0"/>
                </a:lnTo>
                <a:lnTo>
                  <a:pt x="2198602" y="923413"/>
                </a:lnTo>
                <a:lnTo>
                  <a:pt x="0" y="9234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7" name="Google Shape;397;p31"/>
          <p:cNvSpPr/>
          <p:nvPr/>
        </p:nvSpPr>
        <p:spPr>
          <a:xfrm>
            <a:off x="2144138" y="2554675"/>
            <a:ext cx="13999728" cy="5649814"/>
          </a:xfrm>
          <a:custGeom>
            <a:avLst/>
            <a:gdLst/>
            <a:ahLst/>
            <a:cxnLst/>
            <a:rect l="l" t="t" r="r" b="b"/>
            <a:pathLst>
              <a:path w="4274726" h="1818122" extrusionOk="0">
                <a:moveTo>
                  <a:pt x="0" y="0"/>
                </a:moveTo>
                <a:lnTo>
                  <a:pt x="4274726" y="0"/>
                </a:lnTo>
                <a:lnTo>
                  <a:pt x="4274726" y="1818122"/>
                </a:lnTo>
                <a:lnTo>
                  <a:pt x="0" y="1818122"/>
                </a:lnTo>
                <a:close/>
              </a:path>
            </a:pathLst>
          </a:custGeom>
          <a:solidFill>
            <a:srgbClr val="77CF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8" name="Google Shape;398;p31"/>
          <p:cNvSpPr/>
          <p:nvPr/>
        </p:nvSpPr>
        <p:spPr>
          <a:xfrm>
            <a:off x="0" y="7607403"/>
            <a:ext cx="3868185" cy="2679597"/>
          </a:xfrm>
          <a:custGeom>
            <a:avLst/>
            <a:gdLst/>
            <a:ahLst/>
            <a:cxnLst/>
            <a:rect l="l" t="t" r="r" b="b"/>
            <a:pathLst>
              <a:path w="3868185" h="2679597" extrusionOk="0">
                <a:moveTo>
                  <a:pt x="0" y="0"/>
                </a:moveTo>
                <a:lnTo>
                  <a:pt x="3868185" y="0"/>
                </a:lnTo>
                <a:lnTo>
                  <a:pt x="3868185" y="2679597"/>
                </a:lnTo>
                <a:lnTo>
                  <a:pt x="0" y="2679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9" name="Google Shape;399;p31"/>
          <p:cNvSpPr/>
          <p:nvPr/>
        </p:nvSpPr>
        <p:spPr>
          <a:xfrm>
            <a:off x="12866449" y="5641726"/>
            <a:ext cx="5854303" cy="4937760"/>
          </a:xfrm>
          <a:custGeom>
            <a:avLst/>
            <a:gdLst/>
            <a:ahLst/>
            <a:cxnLst/>
            <a:rect l="l" t="t" r="r" b="b"/>
            <a:pathLst>
              <a:path w="5238750" h="4114800" extrusionOk="0">
                <a:moveTo>
                  <a:pt x="0" y="0"/>
                </a:moveTo>
                <a:lnTo>
                  <a:pt x="5238750" y="0"/>
                </a:lnTo>
                <a:lnTo>
                  <a:pt x="52387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0" name="Google Shape;400;p31"/>
          <p:cNvSpPr/>
          <p:nvPr/>
        </p:nvSpPr>
        <p:spPr>
          <a:xfrm>
            <a:off x="0" y="52650"/>
            <a:ext cx="2538943" cy="2502013"/>
          </a:xfrm>
          <a:custGeom>
            <a:avLst/>
            <a:gdLst/>
            <a:ahLst/>
            <a:cxnLst/>
            <a:rect l="l" t="t" r="r" b="b"/>
            <a:pathLst>
              <a:path w="2538943" h="2502013" extrusionOk="0">
                <a:moveTo>
                  <a:pt x="0" y="0"/>
                </a:moveTo>
                <a:lnTo>
                  <a:pt x="2538943" y="0"/>
                </a:lnTo>
                <a:lnTo>
                  <a:pt x="2538943" y="2502013"/>
                </a:lnTo>
                <a:lnTo>
                  <a:pt x="0" y="2502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1" name="Google Shape;401;p31"/>
          <p:cNvSpPr txBox="1"/>
          <p:nvPr/>
        </p:nvSpPr>
        <p:spPr>
          <a:xfrm>
            <a:off x="2553165" y="687913"/>
            <a:ext cx="13181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Follow the raindrop!</a:t>
            </a:r>
            <a:endParaRPr sz="8000"/>
          </a:p>
        </p:txBody>
      </p:sp>
      <p:sp>
        <p:nvSpPr>
          <p:cNvPr id="402" name="Google Shape;402;p31"/>
          <p:cNvSpPr txBox="1"/>
          <p:nvPr/>
        </p:nvSpPr>
        <p:spPr>
          <a:xfrm>
            <a:off x="2553149" y="3032800"/>
            <a:ext cx="13181700" cy="5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the Global River Runner tool, investigate how water moves through different landscapes. </a:t>
            </a:r>
            <a:endParaRPr sz="5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two locations and explore a series of raindrop challenges to understand how topography and place influence water flow.</a:t>
            </a:r>
            <a:endParaRPr sz="5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4707</Words>
  <Application>Microsoft Macintosh PowerPoint</Application>
  <PresentationFormat>Custom</PresentationFormat>
  <Paragraphs>427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0" baseType="lpstr">
      <vt:lpstr>Impact</vt:lpstr>
      <vt:lpstr>Yeseva One</vt:lpstr>
      <vt:lpstr>Arial</vt:lpstr>
      <vt:lpstr>Calibri</vt:lpstr>
      <vt:lpstr>Nunito Sans</vt:lpstr>
      <vt:lpstr>Poppins</vt:lpstr>
      <vt:lpstr>Nunito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Lorraine Chaffer</cp:lastModifiedBy>
  <cp:revision>6</cp:revision>
  <dcterms:modified xsi:type="dcterms:W3CDTF">2026-02-10T12:40:39Z</dcterms:modified>
</cp:coreProperties>
</file>
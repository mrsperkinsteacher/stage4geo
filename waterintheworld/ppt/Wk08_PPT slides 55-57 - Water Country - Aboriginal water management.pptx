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ns2="http://schemas.openxmlformats.org/drawingml/2006/main" xmlns:ns3="http://schemas.microsoft.com/office/powerpoint/2012/main" xmlns:p="http://schemas.openxmlformats.org/presentationml/2006/main" xmlns:r="http://schemas.openxmlformats.org/officeDocument/2006/relationships" strictFirstAndLastChars="0" embedTrueTypeFonts="1" saveSubsetFonts="1" autoCompressPictures="0">
  <p:sldMasterIdLst>
    <p:sldMasterId id="2147483659" r:id="rId1"/>
  </p:sldMasterIdLst>
  <p:notesMasterIdLst>
    <p:notesMasterId r:id="rId83"/>
  </p:notesMasterIdLst>
  <p:sldIdLst>
    <p:sldId id="311" r:id="rId56"/>
    <p:sldId id="312" r:id="rId57"/>
    <p:sldId id="313" r:id="rId58"/>
  </p:sldIdLst>
  <p:sldSz cx="18288000" cy="10287000"/>
  <p:notesSz cx="6858000" cy="9144000"/>
  <p:embeddedFontLst>
    <p:embeddedFont>
      <p:font typeface="Comic Sans MS" panose="030F0902030302020204" pitchFamily="66" charset="0"/>
      <p:regular r:id="rId84"/>
    </p:embeddedFont>
    <p:embeddedFont>
      <p:font typeface="Impact" panose="020B0806030902050204" pitchFamily="34" charset="0"/>
      <p:regular r:id="rId85"/>
    </p:embeddedFont>
    <p:embeddedFont>
      <p:font typeface="Nunito" pitchFamily="2" charset="77"/>
      <p:regular r:id="rId86"/>
      <p:bold r:id="rId87"/>
      <p:italic r:id="rId88"/>
      <p:boldItalic r:id="rId89"/>
    </p:embeddedFont>
    <p:embeddedFont>
      <p:font typeface="Nunito Sans" pitchFamily="2" charset="77"/>
      <p:regular r:id="rId90"/>
      <p:bold r:id="rId91"/>
      <p:italic r:id="rId92"/>
      <p:boldItalic r:id="rId93"/>
    </p:embeddedFont>
    <p:embeddedFont>
      <p:font typeface="Poppins" pitchFamily="2" charset="77"/>
      <p:regular r:id="rId94"/>
      <p:bold r:id="rId95"/>
      <p:italic r:id="rId96"/>
      <p:boldItalic r:id="rId97"/>
    </p:embeddedFont>
    <p:embeddedFont>
      <p:font typeface="Yeseva One"/>
      <p:regular r:id="rId98"/>
    </p:embeddedFont>
  </p:embeddedFontLst>
  <p:defaultTextStyle>
    <ns2:defPPr marR="0" lvl="0" algn="l" rtl="0">
      <ns2:lnSpc>
        <ns2:spcPct val="100000"/>
      </ns2:lnSpc>
      <ns2:spcBef>
        <ns2:spcPts val="0"/>
      </ns2:spcBef>
      <ns2:spcAft>
        <ns2:spcPts val="0"/>
      </ns2:spcAft>
    </ns2:defPPr>
    <ns2:lvl1pPr marR="0" lvl="0" algn="l" rtl="0">
      <ns2:lnSpc>
        <ns2:spcPct val="100000"/>
      </ns2:lnSpc>
      <ns2:spcBef>
        <ns2:spcPts val="0"/>
      </ns2:spcBef>
      <ns2:spcAft>
        <ns2:spcPts val="0"/>
      </ns2:spcAft>
      <ns2:buClr>
        <ns2:srgbClr val="000000"/>
      </ns2:buClr>
      <ns2:buFont typeface="Arial"/>
      <ns2:defRPr sz="1400" b="0" i="0" u="none" strike="noStrike" cap="none">
        <ns2:solidFill>
          <ns2:srgbClr val="000000"/>
        </ns2:solidFill>
        <ns2:latin typeface="Arial"/>
        <ns2:ea typeface="Arial"/>
        <ns2:cs typeface="Arial"/>
        <ns2:sym typeface="Arial"/>
      </ns2:defRPr>
    </ns2:lvl1pPr>
    <ns2:lvl2pPr marR="0" lvl="1" algn="l" rtl="0">
      <ns2:lnSpc>
        <ns2:spcPct val="100000"/>
      </ns2:lnSpc>
      <ns2:spcBef>
        <ns2:spcPts val="0"/>
      </ns2:spcBef>
      <ns2:spcAft>
        <ns2:spcPts val="0"/>
      </ns2:spcAft>
      <ns2:buClr>
        <ns2:srgbClr val="000000"/>
      </ns2:buClr>
      <ns2:buFont typeface="Arial"/>
      <ns2:defRPr sz="1400" b="0" i="0" u="none" strike="noStrike" cap="none">
        <ns2:solidFill>
          <ns2:srgbClr val="000000"/>
        </ns2:solidFill>
        <ns2:latin typeface="Arial"/>
        <ns2:ea typeface="Arial"/>
        <ns2:cs typeface="Arial"/>
        <ns2:sym typeface="Arial"/>
      </ns2:defRPr>
    </ns2:lvl2pPr>
    <ns2:lvl3pPr marR="0" lvl="2" algn="l" rtl="0">
      <ns2:lnSpc>
        <ns2:spcPct val="100000"/>
      </ns2:lnSpc>
      <ns2:spcBef>
        <ns2:spcPts val="0"/>
      </ns2:spcBef>
      <ns2:spcAft>
        <ns2:spcPts val="0"/>
      </ns2:spcAft>
      <ns2:buClr>
        <ns2:srgbClr val="000000"/>
      </ns2:buClr>
      <ns2:buFont typeface="Arial"/>
      <ns2:defRPr sz="1400" b="0" i="0" u="none" strike="noStrike" cap="none">
        <ns2:solidFill>
          <ns2:srgbClr val="000000"/>
        </ns2:solidFill>
        <ns2:latin typeface="Arial"/>
        <ns2:ea typeface="Arial"/>
        <ns2:cs typeface="Arial"/>
        <ns2:sym typeface="Arial"/>
      </ns2:defRPr>
    </ns2:lvl3pPr>
    <ns2:lvl4pPr marR="0" lvl="3" algn="l" rtl="0">
      <ns2:lnSpc>
        <ns2:spcPct val="100000"/>
      </ns2:lnSpc>
      <ns2:spcBef>
        <ns2:spcPts val="0"/>
      </ns2:spcBef>
      <ns2:spcAft>
        <ns2:spcPts val="0"/>
      </ns2:spcAft>
      <ns2:buClr>
        <ns2:srgbClr val="000000"/>
      </ns2:buClr>
      <ns2:buFont typeface="Arial"/>
      <ns2:defRPr sz="1400" b="0" i="0" u="none" strike="noStrike" cap="none">
        <ns2:solidFill>
          <ns2:srgbClr val="000000"/>
        </ns2:solidFill>
        <ns2:latin typeface="Arial"/>
        <ns2:ea typeface="Arial"/>
        <ns2:cs typeface="Arial"/>
        <ns2:sym typeface="Arial"/>
      </ns2:defRPr>
    </ns2:lvl4pPr>
    <ns2:lvl5pPr marR="0" lvl="4" algn="l" rtl="0">
      <ns2:lnSpc>
        <ns2:spcPct val="100000"/>
      </ns2:lnSpc>
      <ns2:spcBef>
        <ns2:spcPts val="0"/>
      </ns2:spcBef>
      <ns2:spcAft>
        <ns2:spcPts val="0"/>
      </ns2:spcAft>
      <ns2:buClr>
        <ns2:srgbClr val="000000"/>
      </ns2:buClr>
      <ns2:buFont typeface="Arial"/>
      <ns2:defRPr sz="1400" b="0" i="0" u="none" strike="noStrike" cap="none">
        <ns2:solidFill>
          <ns2:srgbClr val="000000"/>
        </ns2:solidFill>
        <ns2:latin typeface="Arial"/>
        <ns2:ea typeface="Arial"/>
        <ns2:cs typeface="Arial"/>
        <ns2:sym typeface="Arial"/>
      </ns2:defRPr>
    </ns2:lvl5pPr>
    <ns2:lvl6pPr marR="0" lvl="5" algn="l" rtl="0">
      <ns2:lnSpc>
        <ns2:spcPct val="100000"/>
      </ns2:lnSpc>
      <ns2:spcBef>
        <ns2:spcPts val="0"/>
      </ns2:spcBef>
      <ns2:spcAft>
        <ns2:spcPts val="0"/>
      </ns2:spcAft>
      <ns2:buClr>
        <ns2:srgbClr val="000000"/>
      </ns2:buClr>
      <ns2:buFont typeface="Arial"/>
      <ns2:defRPr sz="1400" b="0" i="0" u="none" strike="noStrike" cap="none">
        <ns2:solidFill>
          <ns2:srgbClr val="000000"/>
        </ns2:solidFill>
        <ns2:latin typeface="Arial"/>
        <ns2:ea typeface="Arial"/>
        <ns2:cs typeface="Arial"/>
        <ns2:sym typeface="Arial"/>
      </ns2:defRPr>
    </ns2:lvl6pPr>
    <ns2:lvl7pPr marR="0" lvl="6" algn="l" rtl="0">
      <ns2:lnSpc>
        <ns2:spcPct val="100000"/>
      </ns2:lnSpc>
      <ns2:spcBef>
        <ns2:spcPts val="0"/>
      </ns2:spcBef>
      <ns2:spcAft>
        <ns2:spcPts val="0"/>
      </ns2:spcAft>
      <ns2:buClr>
        <ns2:srgbClr val="000000"/>
      </ns2:buClr>
      <ns2:buFont typeface="Arial"/>
      <ns2:defRPr sz="1400" b="0" i="0" u="none" strike="noStrike" cap="none">
        <ns2:solidFill>
          <ns2:srgbClr val="000000"/>
        </ns2:solidFill>
        <ns2:latin typeface="Arial"/>
        <ns2:ea typeface="Arial"/>
        <ns2:cs typeface="Arial"/>
        <ns2:sym typeface="Arial"/>
      </ns2:defRPr>
    </ns2:lvl7pPr>
    <ns2:lvl8pPr marR="0" lvl="7" algn="l" rtl="0">
      <ns2:lnSpc>
        <ns2:spcPct val="100000"/>
      </ns2:lnSpc>
      <ns2:spcBef>
        <ns2:spcPts val="0"/>
      </ns2:spcBef>
      <ns2:spcAft>
        <ns2:spcPts val="0"/>
      </ns2:spcAft>
      <ns2:buClr>
        <ns2:srgbClr val="000000"/>
      </ns2:buClr>
      <ns2:buFont typeface="Arial"/>
      <ns2:defRPr sz="1400" b="0" i="0" u="none" strike="noStrike" cap="none">
        <ns2:solidFill>
          <ns2:srgbClr val="000000"/>
        </ns2:solidFill>
        <ns2:latin typeface="Arial"/>
        <ns2:ea typeface="Arial"/>
        <ns2:cs typeface="Arial"/>
        <ns2:sym typeface="Arial"/>
      </ns2:defRPr>
    </ns2:lvl8pPr>
    <ns2:lvl9pPr marR="0" lvl="8" algn="l" rtl="0">
      <ns2:lnSpc>
        <ns2:spcPct val="100000"/>
      </ns2:lnSpc>
      <ns2:spcBef>
        <ns2:spcPts val="0"/>
      </ns2:spcBef>
      <ns2:spcAft>
        <ns2:spcPts val="0"/>
      </ns2:spcAft>
      <ns2:buClr>
        <ns2:srgbClr val="000000"/>
      </ns2:buClr>
      <ns2:buFont typeface="Arial"/>
      <ns2:defRPr sz="1400" b="0" i="0" u="none" strike="noStrike" cap="none">
        <ns2:solidFill>
          <ns2:srgbClr val="000000"/>
        </ns2:solidFill>
        <ns2:latin typeface="Arial"/>
        <ns2:ea typeface="Arial"/>
        <ns2:cs typeface="Arial"/>
        <ns2:sym typeface="Arial"/>
      </ns2:defRPr>
    </ns2:lvl9pPr>
  </p:defaultTextStyle>
  <p:extLst>
    <p:ext uri="{EFAFB233-063F-42B5-8137-9DF3F51BA10A}">
      <ns3:sldGuideLst>
        <ns3:guide id="1" orient="horz" pos="2160">
          <ns3:clr>
            <ns2:srgbClr val="000000"/>
          </ns3:clr>
        </ns3:guide>
        <ns3:guide id="2" pos="2880">
          <ns3:clr>
            <ns2:srgbClr val="000000"/>
          </ns3:clr>
        </ns3:guide>
      </ns3: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9624FBE-0219-4BFE-B597-DF52CD3AB8CC}">
  <a:tblStyle styleId="{B9624FBE-0219-4BFE-B597-DF52CD3AB8CC}"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80" d="100"/>
          <a:sy n="80" d="100"/>
        </p:scale>
        <p:origin x="824" y="22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ns0:Relationships xmlns:ns0="http://schemas.openxmlformats.org/package/2006/relationships"><ns0:Relationship Id="rId84" Type="http://schemas.openxmlformats.org/officeDocument/2006/relationships/font" Target="fonts/font1.fntdata" /><ns0:Relationship Id="rId89" Type="http://schemas.openxmlformats.org/officeDocument/2006/relationships/font" Target="fonts/font6.fntdata" /><ns0:Relationship Id="rId58" Type="http://schemas.openxmlformats.org/officeDocument/2006/relationships/slide" Target="slides/slide57.xml" /><ns0:Relationship Id="rId102" Type="http://schemas.openxmlformats.org/officeDocument/2006/relationships/tableStyles" Target="tableStyles.xml" /><ns0:Relationship Id="rId90" Type="http://schemas.openxmlformats.org/officeDocument/2006/relationships/font" Target="fonts/font7.fntdata" /><ns0:Relationship Id="rId95" Type="http://schemas.openxmlformats.org/officeDocument/2006/relationships/font" Target="fonts/font12.fntdata" /><ns0:Relationship Id="rId85" Type="http://schemas.openxmlformats.org/officeDocument/2006/relationships/font" Target="fonts/font2.fntdata" /><ns0:Relationship Id="rId83" Type="http://schemas.openxmlformats.org/officeDocument/2006/relationships/notesMaster" Target="notesMasters/notesMaster1.xml" /><ns0:Relationship Id="rId88" Type="http://schemas.openxmlformats.org/officeDocument/2006/relationships/font" Target="fonts/font5.fntdata" /><ns0:Relationship Id="rId91" Type="http://schemas.openxmlformats.org/officeDocument/2006/relationships/font" Target="fonts/font8.fntdata" /><ns0:Relationship Id="rId96" Type="http://schemas.openxmlformats.org/officeDocument/2006/relationships/font" Target="fonts/font13.fntdata" /><ns0:Relationship Id="rId1" Type="http://schemas.openxmlformats.org/officeDocument/2006/relationships/slideMaster" Target="slideMasters/slideMaster1.xml" /><ns0:Relationship Id="rId57" Type="http://schemas.openxmlformats.org/officeDocument/2006/relationships/slide" Target="slides/slide56.xml" /><ns0:Relationship Id="rId86" Type="http://schemas.openxmlformats.org/officeDocument/2006/relationships/font" Target="fonts/font3.fntdata" /><ns0:Relationship Id="rId94" Type="http://schemas.openxmlformats.org/officeDocument/2006/relationships/font" Target="fonts/font11.fntdata" /><ns0:Relationship Id="rId99" Type="http://schemas.openxmlformats.org/officeDocument/2006/relationships/presProps" Target="presProps.xml" /><ns0:Relationship Id="rId101" Type="http://schemas.openxmlformats.org/officeDocument/2006/relationships/theme" Target="theme/theme1.xml" /><ns0:Relationship Id="rId97" Type="http://schemas.openxmlformats.org/officeDocument/2006/relationships/font" Target="fonts/font14.fntdata" /><ns0:Relationship Id="rId92" Type="http://schemas.openxmlformats.org/officeDocument/2006/relationships/font" Target="fonts/font9.fntdata" /><ns0:Relationship Id="rId87" Type="http://schemas.openxmlformats.org/officeDocument/2006/relationships/font" Target="fonts/font4.fntdata" /><ns0:Relationship Id="rId56" Type="http://schemas.openxmlformats.org/officeDocument/2006/relationships/slide" Target="slides/slide55.xml" /><ns0:Relationship Id="rId100" Type="http://schemas.openxmlformats.org/officeDocument/2006/relationships/viewProps" Target="viewProps.xml" /><ns0:Relationship Id="rId93" Type="http://schemas.openxmlformats.org/officeDocument/2006/relationships/font" Target="fonts/font10.fntdata" /><ns0:Relationship Id="rId98" Type="http://schemas.openxmlformats.org/officeDocument/2006/relationships/font" Target="fonts/font15.fntdata" /></ns0: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2"/>
        <p:cNvGrpSpPr/>
        <p:nvPr/>
      </p:nvGrpSpPr>
      <p:grpSpPr>
        <a:xfrm>
          <a:off x="0" y="0"/>
          <a:ext cx="0" cy="0"/>
          <a:chOff x="0" y="0"/>
          <a:chExt cx="0" cy="0"/>
        </a:xfrm>
      </p:grpSpPr>
      <p:sp>
        <p:nvSpPr>
          <p:cNvPr id="853" name="Google Shape;853;g3ae6d2bd0bf_0_9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4" name="Google Shape;854;g3ae6d2bd0bf_0_99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p:cNvGrpSpPr/>
        <p:nvPr/>
      </p:nvGrpSpPr>
      <p:grpSpPr>
        <a:xfrm>
          <a:off x="0" y="0"/>
          <a:ext cx="0" cy="0"/>
          <a:chOff x="0" y="0"/>
          <a:chExt cx="0" cy="0"/>
        </a:xfrm>
      </p:grpSpPr>
      <p:sp>
        <p:nvSpPr>
          <p:cNvPr id="865" name="Google Shape;865;g3ae6d2bd0bf_0_10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6" name="Google Shape;866;g3ae6d2bd0bf_0_101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6"/>
        <p:cNvGrpSpPr/>
        <p:nvPr/>
      </p:nvGrpSpPr>
      <p:grpSpPr>
        <a:xfrm>
          <a:off x="0" y="0"/>
          <a:ext cx="0" cy="0"/>
          <a:chOff x="0" y="0"/>
          <a:chExt cx="0" cy="0"/>
        </a:xfrm>
      </p:grpSpPr>
      <p:sp>
        <p:nvSpPr>
          <p:cNvPr id="877" name="Google Shape;877;g3ae6d2bd0bf_0_10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Worksheet 8.2</a:t>
            </a:r>
            <a:endParaRPr/>
          </a:p>
        </p:txBody>
      </p:sp>
      <p:sp>
        <p:nvSpPr>
          <p:cNvPr id="878" name="Google Shape;878;g3ae6d2bd0bf_0_102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txBody>
          <a:bodyPr/>
          <a:lstStyle/>
          <a:p>
            <a:endParaRPr lang="en-US"/>
          </a:p>
        </p:txBody>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5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5.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56.xml.rels><?xml version="1.0" encoding="UTF-8" standalone="yes"?>
<Relationships xmlns="http://schemas.openxmlformats.org/package/2006/relationships"><Relationship Id="rId8" Type="http://schemas.openxmlformats.org/officeDocument/2006/relationships/image" Target="../media/image49.jpg"/><Relationship Id="rId3" Type="http://schemas.openxmlformats.org/officeDocument/2006/relationships/image" Target="../media/image23.png"/><Relationship Id="rId7" Type="http://schemas.openxmlformats.org/officeDocument/2006/relationships/hyperlink" Target="http://www.youtube.com/watch?v=VBUO6pyctoM" TargetMode="External"/><Relationship Id="rId2" Type="http://schemas.openxmlformats.org/officeDocument/2006/relationships/notesSlide" Target="../notesSlides/notesSlide56.xml"/><Relationship Id="rId1" Type="http://schemas.openxmlformats.org/officeDocument/2006/relationships/slideLayout" Target="../slideLayouts/slideLayout1.xml"/><Relationship Id="rId6" Type="http://schemas.openxmlformats.org/officeDocument/2006/relationships/image" Target="../media/image48.jpg"/><Relationship Id="rId5" Type="http://schemas.openxmlformats.org/officeDocument/2006/relationships/hyperlink" Target="http://www.youtube.com/watch?v=_xaIX5tgRLc" TargetMode="External"/><Relationship Id="rId4" Type="http://schemas.openxmlformats.org/officeDocument/2006/relationships/image" Target="../media/image29.png"/></Relationships>
</file>

<file path=ppt/slides/_rels/slide5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7.xml"/><Relationship Id="rId1" Type="http://schemas.openxmlformats.org/officeDocument/2006/relationships/slideLayout" Target="../slideLayouts/slideLayout1.xml"/><Relationship Id="rId4" Type="http://schemas.openxmlformats.org/officeDocument/2006/relationships/image" Target="../media/image29.png"/></Relationships>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2D9DD6"/>
        </a:solidFill>
        <a:effectLst/>
      </p:bgPr>
    </p:bg>
    <p:spTree>
      <p:nvGrpSpPr>
        <p:cNvPr id="1" name="Shape 855"/>
        <p:cNvGrpSpPr/>
        <p:nvPr/>
      </p:nvGrpSpPr>
      <p:grpSpPr>
        <a:xfrm>
          <a:off x="0" y="0"/>
          <a:ext cx="0" cy="0"/>
          <a:chOff x="0" y="0"/>
          <a:chExt cx="0" cy="0"/>
        </a:xfrm>
      </p:grpSpPr>
      <p:sp>
        <p:nvSpPr>
          <p:cNvPr id="856" name="Google Shape;856;p68"/>
          <p:cNvSpPr/>
          <p:nvPr/>
        </p:nvSpPr>
        <p:spPr>
          <a:xfrm>
            <a:off x="1818046" y="6609167"/>
            <a:ext cx="2198602" cy="923413"/>
          </a:xfrm>
          <a:custGeom>
            <a:avLst/>
            <a:gdLst/>
            <a:ahLst/>
            <a:cxnLst/>
            <a:rect l="l" t="t" r="r" b="b"/>
            <a:pathLst>
              <a:path w="2198602" h="923413" extrusionOk="0">
                <a:moveTo>
                  <a:pt x="0" y="0"/>
                </a:moveTo>
                <a:lnTo>
                  <a:pt x="2198602" y="0"/>
                </a:lnTo>
                <a:lnTo>
                  <a:pt x="2198602" y="923413"/>
                </a:lnTo>
                <a:lnTo>
                  <a:pt x="0" y="923413"/>
                </a:lnTo>
                <a:lnTo>
                  <a:pt x="0" y="0"/>
                </a:lnTo>
                <a:close/>
              </a:path>
            </a:pathLst>
          </a:custGeom>
          <a:blipFill rotWithShape="1">
            <a:blip r:embed="rId3">
              <a:alphaModFix/>
            </a:blip>
            <a:stretch>
              <a:fillRect/>
            </a:stretch>
          </a:blipFill>
          <a:ln>
            <a:noFill/>
          </a:ln>
        </p:spPr>
        <p:txBody>
          <a:bodyPr/>
          <a:lstStyle/>
          <a:p>
            <a:endParaRPr lang="en-US"/>
          </a:p>
        </p:txBody>
      </p:sp>
      <p:grpSp>
        <p:nvGrpSpPr>
          <p:cNvPr id="857" name="Google Shape;857;p68"/>
          <p:cNvGrpSpPr/>
          <p:nvPr/>
        </p:nvGrpSpPr>
        <p:grpSpPr>
          <a:xfrm>
            <a:off x="1028700" y="2057400"/>
            <a:ext cx="16230707" cy="6903334"/>
            <a:chOff x="0" y="0"/>
            <a:chExt cx="4274726" cy="1818150"/>
          </a:xfrm>
        </p:grpSpPr>
        <p:sp>
          <p:nvSpPr>
            <p:cNvPr id="858" name="Google Shape;858;p68"/>
            <p:cNvSpPr/>
            <p:nvPr/>
          </p:nvSpPr>
          <p:spPr>
            <a:xfrm>
              <a:off x="0" y="0"/>
              <a:ext cx="4274726" cy="1818122"/>
            </a:xfrm>
            <a:custGeom>
              <a:avLst/>
              <a:gdLst/>
              <a:ahLst/>
              <a:cxnLst/>
              <a:rect l="l" t="t" r="r" b="b"/>
              <a:pathLst>
                <a:path w="4274726" h="1818122" extrusionOk="0">
                  <a:moveTo>
                    <a:pt x="0" y="0"/>
                  </a:moveTo>
                  <a:lnTo>
                    <a:pt x="4274726" y="0"/>
                  </a:lnTo>
                  <a:lnTo>
                    <a:pt x="4274726" y="1818122"/>
                  </a:lnTo>
                  <a:lnTo>
                    <a:pt x="0" y="1818122"/>
                  </a:lnTo>
                  <a:close/>
                </a:path>
              </a:pathLst>
            </a:custGeom>
            <a:solidFill>
              <a:srgbClr val="77CFF1"/>
            </a:solidFill>
            <a:ln>
              <a:noFill/>
            </a:ln>
          </p:spPr>
          <p:txBody>
            <a:bodyPr/>
            <a:lstStyle/>
            <a:p>
              <a:endParaRPr lang="en-US"/>
            </a:p>
          </p:txBody>
        </p:sp>
        <p:sp>
          <p:nvSpPr>
            <p:cNvPr id="859" name="Google Shape;859;p68"/>
            <p:cNvSpPr txBox="1"/>
            <p:nvPr/>
          </p:nvSpPr>
          <p:spPr>
            <a:xfrm>
              <a:off x="0" y="19050"/>
              <a:ext cx="4274700" cy="17991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r>
                <a:rPr lang="en-US" sz="4500">
                  <a:solidFill>
                    <a:schemeClr val="dk1"/>
                  </a:solidFill>
                  <a:latin typeface="Nunito"/>
                  <a:ea typeface="Nunito"/>
                  <a:cs typeface="Nunito"/>
                  <a:sym typeface="Nunito"/>
                </a:rPr>
                <a:t>Aboriginal and Torres Strait Islander peoples have cared for Country, including rivers and wetlands, for thousands of years. Through this, they have developed deep knowledge of the environment and sustainable water management. Water Country is vital for life, culture, and ecosystems, and listening to Aboriginal voices ensures their perspectives and wisdom are respected and used to guide sustainable practices today.</a:t>
              </a:r>
              <a:endParaRPr sz="4500" i="0" u="none" strike="noStrike" cap="none">
                <a:solidFill>
                  <a:schemeClr val="dk1"/>
                </a:solidFill>
                <a:latin typeface="Nunito"/>
                <a:ea typeface="Nunito"/>
                <a:cs typeface="Nunito"/>
                <a:sym typeface="Nunito"/>
              </a:endParaRPr>
            </a:p>
          </p:txBody>
        </p:sp>
      </p:grpSp>
      <p:sp>
        <p:nvSpPr>
          <p:cNvPr id="860" name="Google Shape;860;p68"/>
          <p:cNvSpPr/>
          <p:nvPr/>
        </p:nvSpPr>
        <p:spPr>
          <a:xfrm>
            <a:off x="0" y="7607403"/>
            <a:ext cx="3868185" cy="2679597"/>
          </a:xfrm>
          <a:custGeom>
            <a:avLst/>
            <a:gdLst/>
            <a:ahLst/>
            <a:cxnLst/>
            <a:rect l="l" t="t" r="r" b="b"/>
            <a:pathLst>
              <a:path w="3868185" h="2679597" extrusionOk="0">
                <a:moveTo>
                  <a:pt x="0" y="0"/>
                </a:moveTo>
                <a:lnTo>
                  <a:pt x="3868185" y="0"/>
                </a:lnTo>
                <a:lnTo>
                  <a:pt x="3868185" y="2679597"/>
                </a:lnTo>
                <a:lnTo>
                  <a:pt x="0" y="2679597"/>
                </a:lnTo>
                <a:lnTo>
                  <a:pt x="0" y="0"/>
                </a:lnTo>
                <a:close/>
              </a:path>
            </a:pathLst>
          </a:custGeom>
          <a:blipFill rotWithShape="1">
            <a:blip r:embed="rId4">
              <a:alphaModFix/>
            </a:blip>
            <a:stretch>
              <a:fillRect/>
            </a:stretch>
          </a:blipFill>
          <a:ln>
            <a:noFill/>
          </a:ln>
        </p:spPr>
        <p:txBody>
          <a:bodyPr/>
          <a:lstStyle/>
          <a:p>
            <a:endParaRPr lang="en-US"/>
          </a:p>
        </p:txBody>
      </p:sp>
      <p:sp>
        <p:nvSpPr>
          <p:cNvPr id="861" name="Google Shape;861;p68"/>
          <p:cNvSpPr/>
          <p:nvPr/>
        </p:nvSpPr>
        <p:spPr>
          <a:xfrm>
            <a:off x="15433830" y="7149947"/>
            <a:ext cx="5238750" cy="4114800"/>
          </a:xfrm>
          <a:custGeom>
            <a:avLst/>
            <a:gdLst/>
            <a:ahLst/>
            <a:cxnLst/>
            <a:rect l="l" t="t" r="r" b="b"/>
            <a:pathLst>
              <a:path w="5238750" h="4114800" extrusionOk="0">
                <a:moveTo>
                  <a:pt x="0" y="0"/>
                </a:moveTo>
                <a:lnTo>
                  <a:pt x="5238750" y="0"/>
                </a:lnTo>
                <a:lnTo>
                  <a:pt x="5238750" y="4114800"/>
                </a:lnTo>
                <a:lnTo>
                  <a:pt x="0" y="4114800"/>
                </a:lnTo>
                <a:lnTo>
                  <a:pt x="0" y="0"/>
                </a:lnTo>
                <a:close/>
              </a:path>
            </a:pathLst>
          </a:custGeom>
          <a:blipFill rotWithShape="1">
            <a:blip r:embed="rId5">
              <a:alphaModFix/>
            </a:blip>
            <a:stretch>
              <a:fillRect/>
            </a:stretch>
          </a:blipFill>
          <a:ln>
            <a:noFill/>
          </a:ln>
        </p:spPr>
        <p:txBody>
          <a:bodyPr/>
          <a:lstStyle/>
          <a:p>
            <a:endParaRPr lang="en-US"/>
          </a:p>
        </p:txBody>
      </p:sp>
      <p:sp>
        <p:nvSpPr>
          <p:cNvPr id="862" name="Google Shape;862;p68"/>
          <p:cNvSpPr/>
          <p:nvPr/>
        </p:nvSpPr>
        <p:spPr>
          <a:xfrm>
            <a:off x="0" y="52650"/>
            <a:ext cx="2538943" cy="2502013"/>
          </a:xfrm>
          <a:custGeom>
            <a:avLst/>
            <a:gdLst/>
            <a:ahLst/>
            <a:cxnLst/>
            <a:rect l="l" t="t" r="r" b="b"/>
            <a:pathLst>
              <a:path w="2538943" h="2502013" extrusionOk="0">
                <a:moveTo>
                  <a:pt x="0" y="0"/>
                </a:moveTo>
                <a:lnTo>
                  <a:pt x="2538943" y="0"/>
                </a:lnTo>
                <a:lnTo>
                  <a:pt x="2538943" y="2502013"/>
                </a:lnTo>
                <a:lnTo>
                  <a:pt x="0" y="2502013"/>
                </a:lnTo>
                <a:lnTo>
                  <a:pt x="0" y="0"/>
                </a:lnTo>
                <a:close/>
              </a:path>
            </a:pathLst>
          </a:custGeom>
          <a:blipFill rotWithShape="1">
            <a:blip r:embed="rId6">
              <a:alphaModFix/>
            </a:blip>
            <a:stretch>
              <a:fillRect/>
            </a:stretch>
          </a:blipFill>
          <a:ln>
            <a:noFill/>
          </a:ln>
        </p:spPr>
        <p:txBody>
          <a:bodyPr/>
          <a:lstStyle/>
          <a:p>
            <a:endParaRPr lang="en-US"/>
          </a:p>
        </p:txBody>
      </p:sp>
      <p:sp>
        <p:nvSpPr>
          <p:cNvPr id="863" name="Google Shape;863;p68"/>
          <p:cNvSpPr txBox="1"/>
          <p:nvPr/>
        </p:nvSpPr>
        <p:spPr>
          <a:xfrm>
            <a:off x="4016640" y="780320"/>
            <a:ext cx="11079000" cy="10467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6800" b="1">
                <a:solidFill>
                  <a:srgbClr val="FFFFFF"/>
                </a:solidFill>
                <a:latin typeface="Yeseva One"/>
                <a:ea typeface="Yeseva One"/>
                <a:cs typeface="Yeseva One"/>
                <a:sym typeface="Yeseva One"/>
              </a:rPr>
              <a:t>Water Country</a:t>
            </a:r>
            <a:endParaRPr sz="3200" b="1"/>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2D9DD6"/>
        </a:solidFill>
        <a:effectLst/>
      </p:bgPr>
    </p:bg>
    <p:spTree>
      <p:nvGrpSpPr>
        <p:cNvPr id="1" name="Shape 867"/>
        <p:cNvGrpSpPr/>
        <p:nvPr/>
      </p:nvGrpSpPr>
      <p:grpSpPr>
        <a:xfrm>
          <a:off x="0" y="0"/>
          <a:ext cx="0" cy="0"/>
          <a:chOff x="0" y="0"/>
          <a:chExt cx="0" cy="0"/>
        </a:xfrm>
      </p:grpSpPr>
      <p:sp>
        <p:nvSpPr>
          <p:cNvPr id="868" name="Google Shape;868;p69"/>
          <p:cNvSpPr/>
          <p:nvPr/>
        </p:nvSpPr>
        <p:spPr>
          <a:xfrm>
            <a:off x="1818046" y="6609167"/>
            <a:ext cx="2198602" cy="923413"/>
          </a:xfrm>
          <a:custGeom>
            <a:avLst/>
            <a:gdLst/>
            <a:ahLst/>
            <a:cxnLst/>
            <a:rect l="l" t="t" r="r" b="b"/>
            <a:pathLst>
              <a:path w="2198602" h="923413" extrusionOk="0">
                <a:moveTo>
                  <a:pt x="0" y="0"/>
                </a:moveTo>
                <a:lnTo>
                  <a:pt x="2198602" y="0"/>
                </a:lnTo>
                <a:lnTo>
                  <a:pt x="2198602" y="923413"/>
                </a:lnTo>
                <a:lnTo>
                  <a:pt x="0" y="923413"/>
                </a:lnTo>
                <a:lnTo>
                  <a:pt x="0" y="0"/>
                </a:lnTo>
                <a:close/>
              </a:path>
            </a:pathLst>
          </a:custGeom>
          <a:blipFill rotWithShape="1">
            <a:blip r:embed="rId3">
              <a:alphaModFix/>
            </a:blip>
            <a:stretch>
              <a:fillRect/>
            </a:stretch>
          </a:blipFill>
          <a:ln>
            <a:noFill/>
          </a:ln>
        </p:spPr>
        <p:txBody>
          <a:bodyPr/>
          <a:lstStyle/>
          <a:p>
            <a:endParaRPr lang="en-US"/>
          </a:p>
        </p:txBody>
      </p:sp>
      <p:grpSp>
        <p:nvGrpSpPr>
          <p:cNvPr id="869" name="Google Shape;869;p69"/>
          <p:cNvGrpSpPr/>
          <p:nvPr/>
        </p:nvGrpSpPr>
        <p:grpSpPr>
          <a:xfrm>
            <a:off x="1028700" y="2057400"/>
            <a:ext cx="16230707" cy="1371612"/>
            <a:chOff x="0" y="0"/>
            <a:chExt cx="4274726" cy="1818150"/>
          </a:xfrm>
        </p:grpSpPr>
        <p:sp>
          <p:nvSpPr>
            <p:cNvPr id="870" name="Google Shape;870;p69"/>
            <p:cNvSpPr/>
            <p:nvPr/>
          </p:nvSpPr>
          <p:spPr>
            <a:xfrm>
              <a:off x="0" y="0"/>
              <a:ext cx="4274726" cy="1818122"/>
            </a:xfrm>
            <a:custGeom>
              <a:avLst/>
              <a:gdLst/>
              <a:ahLst/>
              <a:cxnLst/>
              <a:rect l="l" t="t" r="r" b="b"/>
              <a:pathLst>
                <a:path w="4274726" h="1818122" extrusionOk="0">
                  <a:moveTo>
                    <a:pt x="0" y="0"/>
                  </a:moveTo>
                  <a:lnTo>
                    <a:pt x="4274726" y="0"/>
                  </a:lnTo>
                  <a:lnTo>
                    <a:pt x="4274726" y="1818122"/>
                  </a:lnTo>
                  <a:lnTo>
                    <a:pt x="0" y="1818122"/>
                  </a:lnTo>
                  <a:close/>
                </a:path>
              </a:pathLst>
            </a:custGeom>
            <a:solidFill>
              <a:srgbClr val="77CFF1"/>
            </a:solidFill>
            <a:ln>
              <a:noFill/>
            </a:ln>
          </p:spPr>
          <p:txBody>
            <a:bodyPr/>
            <a:lstStyle/>
            <a:p>
              <a:endParaRPr lang="en-US"/>
            </a:p>
          </p:txBody>
        </p:sp>
        <p:sp>
          <p:nvSpPr>
            <p:cNvPr id="871" name="Google Shape;871;p69"/>
            <p:cNvSpPr txBox="1"/>
            <p:nvPr/>
          </p:nvSpPr>
          <p:spPr>
            <a:xfrm>
              <a:off x="0" y="19050"/>
              <a:ext cx="4274700" cy="17991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r>
                <a:rPr lang="en-US" sz="4500">
                  <a:solidFill>
                    <a:schemeClr val="dk1"/>
                  </a:solidFill>
                  <a:latin typeface="Nunito"/>
                  <a:ea typeface="Nunito"/>
                  <a:cs typeface="Nunito"/>
                  <a:sym typeface="Nunito"/>
                </a:rPr>
                <a:t>Watch the videos and answer the questions on the worksheet.</a:t>
              </a:r>
              <a:endParaRPr sz="4500" i="0" u="none" strike="noStrike" cap="none">
                <a:solidFill>
                  <a:schemeClr val="dk1"/>
                </a:solidFill>
                <a:latin typeface="Nunito"/>
                <a:ea typeface="Nunito"/>
                <a:cs typeface="Nunito"/>
                <a:sym typeface="Nunito"/>
              </a:endParaRPr>
            </a:p>
          </p:txBody>
        </p:sp>
      </p:grpSp>
      <p:sp>
        <p:nvSpPr>
          <p:cNvPr id="872" name="Google Shape;872;p69"/>
          <p:cNvSpPr/>
          <p:nvPr/>
        </p:nvSpPr>
        <p:spPr>
          <a:xfrm>
            <a:off x="0" y="52650"/>
            <a:ext cx="2538943" cy="2502013"/>
          </a:xfrm>
          <a:custGeom>
            <a:avLst/>
            <a:gdLst/>
            <a:ahLst/>
            <a:cxnLst/>
            <a:rect l="l" t="t" r="r" b="b"/>
            <a:pathLst>
              <a:path w="2538943" h="2502013" extrusionOk="0">
                <a:moveTo>
                  <a:pt x="0" y="0"/>
                </a:moveTo>
                <a:lnTo>
                  <a:pt x="2538943" y="0"/>
                </a:lnTo>
                <a:lnTo>
                  <a:pt x="2538943" y="2502013"/>
                </a:lnTo>
                <a:lnTo>
                  <a:pt x="0" y="2502013"/>
                </a:lnTo>
                <a:lnTo>
                  <a:pt x="0" y="0"/>
                </a:lnTo>
                <a:close/>
              </a:path>
            </a:pathLst>
          </a:custGeom>
          <a:blipFill rotWithShape="1">
            <a:blip r:embed="rId4">
              <a:alphaModFix/>
            </a:blip>
            <a:stretch>
              <a:fillRect/>
            </a:stretch>
          </a:blipFill>
          <a:ln>
            <a:noFill/>
          </a:ln>
        </p:spPr>
        <p:txBody>
          <a:bodyPr/>
          <a:lstStyle/>
          <a:p>
            <a:endParaRPr lang="en-US"/>
          </a:p>
        </p:txBody>
      </p:sp>
      <p:sp>
        <p:nvSpPr>
          <p:cNvPr id="873" name="Google Shape;873;p69"/>
          <p:cNvSpPr txBox="1"/>
          <p:nvPr/>
        </p:nvSpPr>
        <p:spPr>
          <a:xfrm>
            <a:off x="4016640" y="780320"/>
            <a:ext cx="11079000" cy="10467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6800" b="1">
                <a:solidFill>
                  <a:srgbClr val="FFFFFF"/>
                </a:solidFill>
                <a:latin typeface="Yeseva One"/>
                <a:ea typeface="Yeseva One"/>
                <a:cs typeface="Yeseva One"/>
                <a:sym typeface="Yeseva One"/>
              </a:rPr>
              <a:t>Water Country</a:t>
            </a:r>
            <a:endParaRPr sz="3200" b="1"/>
          </a:p>
        </p:txBody>
      </p:sp>
      <p:pic>
        <p:nvPicPr>
          <p:cNvPr id="874" name="Google Shape;874;p69" descr="June Barker, an Aborginal lady from north-western NSW, explains the importance of gilgais from an environmental and cultural point of view. She speaks of the principles of water health and the problems of accessing these areas now. She also describes the use of gypsum to clear muddy water. This documentary is one of nineteen that comprises the Through Our Eyes series features Aboriginal Elders and knowledge-holders from the Ngemba, Kamilaroi and Euahlayi language groups in north-western NSW (Brewarrina, Walgett and Lightning Ridge) describing the land management practices and social, spiritual and cultural knowledge that enabled their people to care for the country for tens of thousands of years." title="Through Our Eyes - Gilgais and Caring for Water with June Barker">
            <a:hlinkClick r:id="rId5"/>
          </p:cNvPr>
          <p:cNvPicPr preferRelativeResize="0"/>
          <p:nvPr/>
        </p:nvPicPr>
        <p:blipFill>
          <a:blip r:embed="rId6">
            <a:alphaModFix/>
          </a:blip>
          <a:stretch>
            <a:fillRect/>
          </a:stretch>
        </p:blipFill>
        <p:spPr>
          <a:xfrm>
            <a:off x="1028700" y="4343393"/>
            <a:ext cx="7450650" cy="4191008"/>
          </a:xfrm>
          <a:prstGeom prst="rect">
            <a:avLst/>
          </a:prstGeom>
          <a:noFill/>
          <a:ln>
            <a:noFill/>
          </a:ln>
        </p:spPr>
      </p:pic>
      <p:pic>
        <p:nvPicPr>
          <p:cNvPr id="875" name="Google Shape;875;p69" descr="Meet Mibu Fischer, a marine ethnoecologist with #TeamCSIRO. &#10;&#10;A proud Quandamooka woman, Mibu’s work helps build connections between First Nations communities and the research sector. This culminates in better environmental and social outcomes for those connected to the water.  &#10;&#10;This connection to the water ranges from fisheries to coastal and conservation management. &#10;&#10;The impact of climate change on coastal environments is felt deeply by Traditional Owners whose ability to practise culture is closely connected to these threatened environments. Their deep understanding of the environment can help inform better management of these important areas. &#10;&#10;Mibu first joined us through our Indigenous Cadetship program and has since forged an impressive career delivering significant impact across her research areas.&#10;&#10;Video transcript: https://www.csiro.au/CorporateAffairs/Youtube/Meet-Mibu-Fischer/video-transcript" title="Traditional Indigenous Science to Solve Modern Water Problems - Meet Mibu Fischer">
            <a:hlinkClick r:id="rId7"/>
          </p:cNvPr>
          <p:cNvPicPr preferRelativeResize="0"/>
          <p:nvPr/>
        </p:nvPicPr>
        <p:blipFill>
          <a:blip r:embed="rId8">
            <a:alphaModFix/>
          </a:blip>
          <a:stretch>
            <a:fillRect/>
          </a:stretch>
        </p:blipFill>
        <p:spPr>
          <a:xfrm>
            <a:off x="9338750" y="4343400"/>
            <a:ext cx="7450650" cy="41910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74"/>
                                        </p:tgtEl>
                                        <p:attrNameLst>
                                          <p:attrName>style.visibility</p:attrName>
                                        </p:attrNameLst>
                                      </p:cBhvr>
                                      <p:to>
                                        <p:strVal val="visible"/>
                                      </p:to>
                                    </p:set>
                                    <p:animEffect transition="in" filter="fade">
                                      <p:cBhvr>
                                        <p:cTn id="7" dur="1000"/>
                                        <p:tgtEl>
                                          <p:spTgt spid="87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75"/>
                                        </p:tgtEl>
                                        <p:attrNameLst>
                                          <p:attrName>style.visibility</p:attrName>
                                        </p:attrNameLst>
                                      </p:cBhvr>
                                      <p:to>
                                        <p:strVal val="visible"/>
                                      </p:to>
                                    </p:set>
                                    <p:animEffect transition="in" filter="fade">
                                      <p:cBhvr>
                                        <p:cTn id="12" dur="1000"/>
                                        <p:tgtEl>
                                          <p:spTgt spid="8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2D9DD6"/>
        </a:solidFill>
        <a:effectLst/>
      </p:bgPr>
    </p:bg>
    <p:spTree>
      <p:nvGrpSpPr>
        <p:cNvPr id="1" name="Shape 879"/>
        <p:cNvGrpSpPr/>
        <p:nvPr/>
      </p:nvGrpSpPr>
      <p:grpSpPr>
        <a:xfrm>
          <a:off x="0" y="0"/>
          <a:ext cx="0" cy="0"/>
          <a:chOff x="0" y="0"/>
          <a:chExt cx="0" cy="0"/>
        </a:xfrm>
      </p:grpSpPr>
      <p:sp>
        <p:nvSpPr>
          <p:cNvPr id="880" name="Google Shape;880;p70"/>
          <p:cNvSpPr/>
          <p:nvPr/>
        </p:nvSpPr>
        <p:spPr>
          <a:xfrm>
            <a:off x="1818046" y="6609167"/>
            <a:ext cx="2198602" cy="923413"/>
          </a:xfrm>
          <a:custGeom>
            <a:avLst/>
            <a:gdLst/>
            <a:ahLst/>
            <a:cxnLst/>
            <a:rect l="l" t="t" r="r" b="b"/>
            <a:pathLst>
              <a:path w="2198602" h="923413" extrusionOk="0">
                <a:moveTo>
                  <a:pt x="0" y="0"/>
                </a:moveTo>
                <a:lnTo>
                  <a:pt x="2198602" y="0"/>
                </a:lnTo>
                <a:lnTo>
                  <a:pt x="2198602" y="923413"/>
                </a:lnTo>
                <a:lnTo>
                  <a:pt x="0" y="923413"/>
                </a:lnTo>
                <a:lnTo>
                  <a:pt x="0" y="0"/>
                </a:lnTo>
                <a:close/>
              </a:path>
            </a:pathLst>
          </a:custGeom>
          <a:blipFill rotWithShape="1">
            <a:blip r:embed="rId3">
              <a:alphaModFix/>
            </a:blip>
            <a:stretch>
              <a:fillRect/>
            </a:stretch>
          </a:blipFill>
          <a:ln>
            <a:noFill/>
          </a:ln>
        </p:spPr>
        <p:txBody>
          <a:bodyPr/>
          <a:lstStyle/>
          <a:p>
            <a:endParaRPr lang="en-US"/>
          </a:p>
        </p:txBody>
      </p:sp>
      <p:grpSp>
        <p:nvGrpSpPr>
          <p:cNvPr id="881" name="Google Shape;881;p70"/>
          <p:cNvGrpSpPr/>
          <p:nvPr/>
        </p:nvGrpSpPr>
        <p:grpSpPr>
          <a:xfrm>
            <a:off x="1028700" y="2057355"/>
            <a:ext cx="16230707" cy="3147885"/>
            <a:chOff x="0" y="-60"/>
            <a:chExt cx="4274726" cy="4172700"/>
          </a:xfrm>
        </p:grpSpPr>
        <p:sp>
          <p:nvSpPr>
            <p:cNvPr id="882" name="Google Shape;882;p70"/>
            <p:cNvSpPr/>
            <p:nvPr/>
          </p:nvSpPr>
          <p:spPr>
            <a:xfrm>
              <a:off x="0" y="0"/>
              <a:ext cx="4274726" cy="4172590"/>
            </a:xfrm>
            <a:custGeom>
              <a:avLst/>
              <a:gdLst/>
              <a:ahLst/>
              <a:cxnLst/>
              <a:rect l="l" t="t" r="r" b="b"/>
              <a:pathLst>
                <a:path w="4274726" h="1818122" extrusionOk="0">
                  <a:moveTo>
                    <a:pt x="0" y="0"/>
                  </a:moveTo>
                  <a:lnTo>
                    <a:pt x="4274726" y="0"/>
                  </a:lnTo>
                  <a:lnTo>
                    <a:pt x="4274726" y="1818122"/>
                  </a:lnTo>
                  <a:lnTo>
                    <a:pt x="0" y="1818122"/>
                  </a:lnTo>
                  <a:close/>
                </a:path>
              </a:pathLst>
            </a:custGeom>
            <a:solidFill>
              <a:srgbClr val="77CFF1"/>
            </a:solidFill>
            <a:ln>
              <a:noFill/>
            </a:ln>
          </p:spPr>
          <p:txBody>
            <a:bodyPr/>
            <a:lstStyle/>
            <a:p>
              <a:endParaRPr lang="en-US"/>
            </a:p>
          </p:txBody>
        </p:sp>
        <p:sp>
          <p:nvSpPr>
            <p:cNvPr id="883" name="Google Shape;883;p70"/>
            <p:cNvSpPr txBox="1"/>
            <p:nvPr/>
          </p:nvSpPr>
          <p:spPr>
            <a:xfrm>
              <a:off x="13" y="-60"/>
              <a:ext cx="4274700" cy="41727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r>
                <a:rPr lang="en-US" sz="4500">
                  <a:solidFill>
                    <a:schemeClr val="dk1"/>
                  </a:solidFill>
                  <a:latin typeface="Nunito"/>
                  <a:ea typeface="Nunito"/>
                  <a:cs typeface="Nunito"/>
                  <a:sym typeface="Nunito"/>
                </a:rPr>
                <a:t>Activity: Design ethical interview questions you can ask local elders or First Nations communities to understand their perspective of water and caring for Country.</a:t>
              </a:r>
              <a:endParaRPr sz="4500" i="0" u="none" strike="noStrike" cap="none">
                <a:solidFill>
                  <a:schemeClr val="dk1"/>
                </a:solidFill>
                <a:latin typeface="Nunito"/>
                <a:ea typeface="Nunito"/>
                <a:cs typeface="Nunito"/>
                <a:sym typeface="Nunito"/>
              </a:endParaRPr>
            </a:p>
          </p:txBody>
        </p:sp>
      </p:grpSp>
      <p:sp>
        <p:nvSpPr>
          <p:cNvPr id="884" name="Google Shape;884;p70"/>
          <p:cNvSpPr/>
          <p:nvPr/>
        </p:nvSpPr>
        <p:spPr>
          <a:xfrm>
            <a:off x="0" y="52650"/>
            <a:ext cx="2538943" cy="2502013"/>
          </a:xfrm>
          <a:custGeom>
            <a:avLst/>
            <a:gdLst/>
            <a:ahLst/>
            <a:cxnLst/>
            <a:rect l="l" t="t" r="r" b="b"/>
            <a:pathLst>
              <a:path w="2538943" h="2502013" extrusionOk="0">
                <a:moveTo>
                  <a:pt x="0" y="0"/>
                </a:moveTo>
                <a:lnTo>
                  <a:pt x="2538943" y="0"/>
                </a:lnTo>
                <a:lnTo>
                  <a:pt x="2538943" y="2502013"/>
                </a:lnTo>
                <a:lnTo>
                  <a:pt x="0" y="2502013"/>
                </a:lnTo>
                <a:lnTo>
                  <a:pt x="0" y="0"/>
                </a:lnTo>
                <a:close/>
              </a:path>
            </a:pathLst>
          </a:custGeom>
          <a:blipFill rotWithShape="1">
            <a:blip r:embed="rId4">
              <a:alphaModFix/>
            </a:blip>
            <a:stretch>
              <a:fillRect/>
            </a:stretch>
          </a:blipFill>
          <a:ln>
            <a:noFill/>
          </a:ln>
        </p:spPr>
        <p:txBody>
          <a:bodyPr/>
          <a:lstStyle/>
          <a:p>
            <a:endParaRPr lang="en-US"/>
          </a:p>
        </p:txBody>
      </p:sp>
      <p:sp>
        <p:nvSpPr>
          <p:cNvPr id="885" name="Google Shape;885;p70"/>
          <p:cNvSpPr txBox="1"/>
          <p:nvPr/>
        </p:nvSpPr>
        <p:spPr>
          <a:xfrm>
            <a:off x="4016640" y="780320"/>
            <a:ext cx="11079000" cy="10467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6800" b="1">
                <a:solidFill>
                  <a:srgbClr val="FFFFFF"/>
                </a:solidFill>
                <a:latin typeface="Yeseva One"/>
                <a:ea typeface="Yeseva One"/>
                <a:cs typeface="Yeseva One"/>
                <a:sym typeface="Yeseva One"/>
              </a:rPr>
              <a:t>Water Country</a:t>
            </a:r>
            <a:endParaRPr sz="3200" b="1"/>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TotalTime>
  <Words>4707</Words>
  <Application>Microsoft Macintosh PowerPoint</Application>
  <PresentationFormat>Custom</PresentationFormat>
  <Paragraphs>427</Paragraphs>
  <Slides>81</Slides>
  <Notes>81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81</vt:i4>
      </vt:variant>
    </vt:vector>
  </HeadingPairs>
  <TitlesOfParts>
    <vt:vector size="90" baseType="lpstr">
      <vt:lpstr>Impact</vt:lpstr>
      <vt:lpstr>Yeseva One</vt:lpstr>
      <vt:lpstr>Arial</vt:lpstr>
      <vt:lpstr>Calibri</vt:lpstr>
      <vt:lpstr>Nunito Sans</vt:lpstr>
      <vt:lpstr>Poppins</vt:lpstr>
      <vt:lpstr>Nunito</vt:lpstr>
      <vt:lpstr>Comic Sans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Lorraine Chaffer</cp:lastModifiedBy>
  <cp:revision>6</cp:revision>
  <dcterms:modified xsi:type="dcterms:W3CDTF">2026-02-10T12:40:39Z</dcterms:modified>
</cp:coreProperties>
</file>
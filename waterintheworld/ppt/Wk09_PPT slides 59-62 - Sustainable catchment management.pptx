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ns2="http://schemas.openxmlformats.org/drawingml/2006/main" xmlns:ns3="http://schemas.microsoft.com/office/powerpoint/2012/main" xmlns:p="http://schemas.openxmlformats.org/presentationml/2006/main" xmlns:r="http://schemas.openxmlformats.org/officeDocument/2006/relationships" strictFirstAndLastChars="0" embedTrueTypeFonts="1" saveSubsetFonts="1" autoCompressPictures="0">
  <p:sldMasterIdLst>
    <p:sldMasterId id="2147483659" r:id="rId1"/>
  </p:sldMasterIdLst>
  <p:notesMasterIdLst>
    <p:notesMasterId r:id="rId83"/>
  </p:notesMasterIdLst>
  <p:sldIdLst>
    <p:sldId id="315" r:id="rId60"/>
    <p:sldId id="316" r:id="rId61"/>
    <p:sldId id="317" r:id="rId62"/>
    <p:sldId id="318" r:id="rId63"/>
  </p:sldIdLst>
  <p:sldSz cx="18288000" cy="10287000"/>
  <p:notesSz cx="6858000" cy="9144000"/>
  <p:embeddedFontLst>
    <p:embeddedFont>
      <p:font typeface="Comic Sans MS" panose="030F0902030302020204" pitchFamily="66" charset="0"/>
      <p:regular r:id="rId84"/>
    </p:embeddedFont>
    <p:embeddedFont>
      <p:font typeface="Impact" panose="020B0806030902050204" pitchFamily="34" charset="0"/>
      <p:regular r:id="rId85"/>
    </p:embeddedFont>
    <p:embeddedFont>
      <p:font typeface="Nunito" pitchFamily="2" charset="77"/>
      <p:regular r:id="rId86"/>
      <p:bold r:id="rId87"/>
      <p:italic r:id="rId88"/>
      <p:boldItalic r:id="rId89"/>
    </p:embeddedFont>
    <p:embeddedFont>
      <p:font typeface="Nunito Sans" pitchFamily="2" charset="77"/>
      <p:regular r:id="rId90"/>
      <p:bold r:id="rId91"/>
      <p:italic r:id="rId92"/>
      <p:boldItalic r:id="rId93"/>
    </p:embeddedFont>
    <p:embeddedFont>
      <p:font typeface="Poppins" pitchFamily="2" charset="77"/>
      <p:regular r:id="rId94"/>
      <p:bold r:id="rId95"/>
      <p:italic r:id="rId96"/>
      <p:boldItalic r:id="rId97"/>
    </p:embeddedFont>
    <p:embeddedFont>
      <p:font typeface="Yeseva One"/>
      <p:regular r:id="rId98"/>
    </p:embeddedFont>
  </p:embeddedFontLst>
  <p:defaultTextStyle>
    <ns2:defPPr marR="0" lvl="0" algn="l" rtl="0">
      <ns2:lnSpc>
        <ns2:spcPct val="100000"/>
      </ns2:lnSpc>
      <ns2:spcBef>
        <ns2:spcPts val="0"/>
      </ns2:spcBef>
      <ns2:spcAft>
        <ns2:spcPts val="0"/>
      </ns2:spcAft>
    </ns2:defPPr>
    <ns2:lvl1pPr marR="0" lvl="0"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1pPr>
    <ns2:lvl2pPr marR="0" lvl="1"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2pPr>
    <ns2:lvl3pPr marR="0" lvl="2"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3pPr>
    <ns2:lvl4pPr marR="0" lvl="3"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4pPr>
    <ns2:lvl5pPr marR="0" lvl="4"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5pPr>
    <ns2:lvl6pPr marR="0" lvl="5"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6pPr>
    <ns2:lvl7pPr marR="0" lvl="6"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7pPr>
    <ns2:lvl8pPr marR="0" lvl="7"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8pPr>
    <ns2:lvl9pPr marR="0" lvl="8"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9pPr>
  </p:defaultTextStyle>
  <p:extLst>
    <p:ext uri="{EFAFB233-063F-42B5-8137-9DF3F51BA10A}">
      <ns3:sldGuideLst>
        <ns3:guide id="1" orient="horz" pos="2160">
          <ns3:clr>
            <ns2:srgbClr val="000000"/>
          </ns3:clr>
        </ns3:guide>
        <ns3:guide id="2" pos="2880">
          <ns3:clr>
            <ns2:srgbClr val="000000"/>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624FBE-0219-4BFE-B597-DF52CD3AB8CC}">
  <a:tblStyle styleId="{B9624FBE-0219-4BFE-B597-DF52CD3AB8C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0" d="100"/>
          <a:sy n="80" d="100"/>
        </p:scale>
        <p:origin x="824" y="2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63" Type="http://schemas.openxmlformats.org/officeDocument/2006/relationships/slide" Target="slides/slide62.xml" /><ns0:Relationship Id="rId84" Type="http://schemas.openxmlformats.org/officeDocument/2006/relationships/font" Target="fonts/font1.fntdata" /><ns0:Relationship Id="rId89" Type="http://schemas.openxmlformats.org/officeDocument/2006/relationships/font" Target="fonts/font6.fntdata" /><ns0:Relationship Id="rId102" Type="http://schemas.openxmlformats.org/officeDocument/2006/relationships/tableStyles" Target="tableStyles.xml" /><ns0:Relationship Id="rId90" Type="http://schemas.openxmlformats.org/officeDocument/2006/relationships/font" Target="fonts/font7.fntdata" /><ns0:Relationship Id="rId95" Type="http://schemas.openxmlformats.org/officeDocument/2006/relationships/font" Target="fonts/font12.fntdata" /><ns0:Relationship Id="rId85" Type="http://schemas.openxmlformats.org/officeDocument/2006/relationships/font" Target="fonts/font2.fntdata" /><ns0:Relationship Id="rId62" Type="http://schemas.openxmlformats.org/officeDocument/2006/relationships/slide" Target="slides/slide61.xml" /><ns0:Relationship Id="rId83" Type="http://schemas.openxmlformats.org/officeDocument/2006/relationships/notesMaster" Target="notesMasters/notesMaster1.xml" /><ns0:Relationship Id="rId88" Type="http://schemas.openxmlformats.org/officeDocument/2006/relationships/font" Target="fonts/font5.fntdata" /><ns0:Relationship Id="rId91" Type="http://schemas.openxmlformats.org/officeDocument/2006/relationships/font" Target="fonts/font8.fntdata" /><ns0:Relationship Id="rId96" Type="http://schemas.openxmlformats.org/officeDocument/2006/relationships/font" Target="fonts/font13.fntdata" /><ns0:Relationship Id="rId1" Type="http://schemas.openxmlformats.org/officeDocument/2006/relationships/slideMaster" Target="slideMasters/slideMaster1.xml" /><ns0:Relationship Id="rId60" Type="http://schemas.openxmlformats.org/officeDocument/2006/relationships/slide" Target="slides/slide59.xml" /><ns0:Relationship Id="rId86" Type="http://schemas.openxmlformats.org/officeDocument/2006/relationships/font" Target="fonts/font3.fntdata" /><ns0:Relationship Id="rId94" Type="http://schemas.openxmlformats.org/officeDocument/2006/relationships/font" Target="fonts/font11.fntdata" /><ns0:Relationship Id="rId99" Type="http://schemas.openxmlformats.org/officeDocument/2006/relationships/presProps" Target="presProps.xml" /><ns0:Relationship Id="rId101" Type="http://schemas.openxmlformats.org/officeDocument/2006/relationships/theme" Target="theme/theme1.xml" /><ns0:Relationship Id="rId97" Type="http://schemas.openxmlformats.org/officeDocument/2006/relationships/font" Target="fonts/font14.fntdata" /><ns0:Relationship Id="rId92" Type="http://schemas.openxmlformats.org/officeDocument/2006/relationships/font" Target="fonts/font9.fntdata" /><ns0:Relationship Id="rId87" Type="http://schemas.openxmlformats.org/officeDocument/2006/relationships/font" Target="fonts/font4.fntdata" /><ns0:Relationship Id="rId61" Type="http://schemas.openxmlformats.org/officeDocument/2006/relationships/slide" Target="slides/slide60.xml" /><ns0:Relationship Id="rId100" Type="http://schemas.openxmlformats.org/officeDocument/2006/relationships/viewProps" Target="viewProps.xml" /><ns0:Relationship Id="rId93" Type="http://schemas.openxmlformats.org/officeDocument/2006/relationships/font" Target="fonts/font10.fntdata" /><ns0:Relationship Id="rId98" Type="http://schemas.openxmlformats.org/officeDocument/2006/relationships/font" Target="fonts/font15.fntdata"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3ae6d2bd0bf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1" name="Google Shape;901;g3ae6d2bd0bf_0_2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3ae6d2bd0bf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0" name="Google Shape;910;g3ae6d2bd0bf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3ae6d2bd0bf_0_10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9.1</a:t>
            </a:r>
            <a:endParaRPr/>
          </a:p>
        </p:txBody>
      </p:sp>
      <p:sp>
        <p:nvSpPr>
          <p:cNvPr id="920" name="Google Shape;920;g3ae6d2bd0bf_0_10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3ae6d2bd0bf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9" name="Google Shape;929;g3ae6d2bd0bf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0.jpg"/><Relationship Id="rId5" Type="http://schemas.openxmlformats.org/officeDocument/2006/relationships/hyperlink" Target="http://www.youtube.com/watch?v=94YcjbYBchc" TargetMode="External"/><Relationship Id="rId4" Type="http://schemas.openxmlformats.org/officeDocument/2006/relationships/image" Target="../media/image37.png"/></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6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51.jpg"/><Relationship Id="rId4" Type="http://schemas.openxmlformats.org/officeDocument/2006/relationships/hyperlink" Target="http://www.youtube.com/watch?v=ZRKlQUoDjLc" TargetMode="External"/></Relationships>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54C4ED"/>
        </a:solidFill>
        <a:effectLst/>
      </p:bgPr>
    </p:bg>
    <p:spTree>
      <p:nvGrpSpPr>
        <p:cNvPr id="1" name="Shape 902"/>
        <p:cNvGrpSpPr/>
        <p:nvPr/>
      </p:nvGrpSpPr>
      <p:grpSpPr>
        <a:xfrm>
          <a:off x="0" y="0"/>
          <a:ext cx="0" cy="0"/>
          <a:chOff x="0" y="0"/>
          <a:chExt cx="0" cy="0"/>
        </a:xfrm>
      </p:grpSpPr>
      <p:sp>
        <p:nvSpPr>
          <p:cNvPr id="903" name="Google Shape;903;p72"/>
          <p:cNvSpPr/>
          <p:nvPr/>
        </p:nvSpPr>
        <p:spPr>
          <a:xfrm>
            <a:off x="635125" y="1854425"/>
            <a:ext cx="16837827" cy="6644762"/>
          </a:xfrm>
          <a:custGeom>
            <a:avLst/>
            <a:gdLst/>
            <a:ahLst/>
            <a:cxnLst/>
            <a:rect l="l" t="t" r="r" b="b"/>
            <a:pathLst>
              <a:path w="3495138" h="2904814" extrusionOk="0">
                <a:moveTo>
                  <a:pt x="3484655" y="27234"/>
                </a:moveTo>
                <a:cubicBezTo>
                  <a:pt x="3475765" y="23424"/>
                  <a:pt x="3466875" y="20884"/>
                  <a:pt x="3457985" y="20884"/>
                </a:cubicBezTo>
                <a:cubicBezTo>
                  <a:pt x="3431315" y="19614"/>
                  <a:pt x="3379625" y="19614"/>
                  <a:pt x="3322691" y="17074"/>
                </a:cubicBezTo>
                <a:cubicBezTo>
                  <a:pt x="3192555" y="11994"/>
                  <a:pt x="3065130" y="5644"/>
                  <a:pt x="2934995" y="3104"/>
                </a:cubicBezTo>
                <a:cubicBezTo>
                  <a:pt x="2829259" y="564"/>
                  <a:pt x="2726236" y="3104"/>
                  <a:pt x="2620501" y="1834"/>
                </a:cubicBezTo>
                <a:cubicBezTo>
                  <a:pt x="2574411" y="1834"/>
                  <a:pt x="2528321" y="-706"/>
                  <a:pt x="2482231" y="1834"/>
                </a:cubicBezTo>
                <a:cubicBezTo>
                  <a:pt x="2371074" y="9454"/>
                  <a:pt x="2259916" y="10724"/>
                  <a:pt x="2146048" y="8184"/>
                </a:cubicBezTo>
                <a:cubicBezTo>
                  <a:pt x="2089113" y="6914"/>
                  <a:pt x="2032179" y="6914"/>
                  <a:pt x="1975245" y="6914"/>
                </a:cubicBezTo>
                <a:cubicBezTo>
                  <a:pt x="1872221" y="6914"/>
                  <a:pt x="1769197" y="6914"/>
                  <a:pt x="1666173" y="5644"/>
                </a:cubicBezTo>
                <a:cubicBezTo>
                  <a:pt x="1557726" y="4374"/>
                  <a:pt x="489530" y="1834"/>
                  <a:pt x="383795" y="564"/>
                </a:cubicBezTo>
                <a:cubicBezTo>
                  <a:pt x="297038" y="-706"/>
                  <a:pt x="212992" y="564"/>
                  <a:pt x="126235" y="564"/>
                </a:cubicBezTo>
                <a:cubicBezTo>
                  <a:pt x="66589"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3524" y="2878144"/>
                  <a:pt x="226548" y="2881954"/>
                  <a:pt x="329572" y="2887034"/>
                </a:cubicBezTo>
                <a:cubicBezTo>
                  <a:pt x="386506" y="2889574"/>
                  <a:pt x="443440" y="2894654"/>
                  <a:pt x="500375" y="2895924"/>
                </a:cubicBezTo>
                <a:cubicBezTo>
                  <a:pt x="595265" y="2898464"/>
                  <a:pt x="1652617" y="2899734"/>
                  <a:pt x="1747507" y="2901004"/>
                </a:cubicBezTo>
                <a:cubicBezTo>
                  <a:pt x="1761063" y="2901004"/>
                  <a:pt x="1774619" y="2901004"/>
                  <a:pt x="1788175" y="2901004"/>
                </a:cubicBezTo>
                <a:cubicBezTo>
                  <a:pt x="1853243" y="2901004"/>
                  <a:pt x="1921022" y="2899734"/>
                  <a:pt x="1986089" y="2899734"/>
                </a:cubicBezTo>
                <a:cubicBezTo>
                  <a:pt x="2062002" y="2899734"/>
                  <a:pt x="2135203" y="2901004"/>
                  <a:pt x="2211115" y="2901004"/>
                </a:cubicBezTo>
                <a:cubicBezTo>
                  <a:pt x="2322273" y="2901004"/>
                  <a:pt x="2436142" y="2901004"/>
                  <a:pt x="2547299" y="2901004"/>
                </a:cubicBezTo>
                <a:cubicBezTo>
                  <a:pt x="2650323" y="2901004"/>
                  <a:pt x="2753347" y="2902274"/>
                  <a:pt x="2856371" y="2903544"/>
                </a:cubicBezTo>
                <a:cubicBezTo>
                  <a:pt x="2902461" y="2903544"/>
                  <a:pt x="2951262" y="2904814"/>
                  <a:pt x="2997351" y="2904814"/>
                </a:cubicBezTo>
                <a:cubicBezTo>
                  <a:pt x="3146465" y="2903544"/>
                  <a:pt x="3292868" y="2897194"/>
                  <a:pt x="3435124" y="2897194"/>
                </a:cubicBezTo>
                <a:cubicBezTo>
                  <a:pt x="3438935" y="2897194"/>
                  <a:pt x="3444015" y="2894654"/>
                  <a:pt x="3447824" y="2892114"/>
                </a:cubicBezTo>
                <a:cubicBezTo>
                  <a:pt x="3452905" y="2888304"/>
                  <a:pt x="3455445" y="2881954"/>
                  <a:pt x="3457985" y="2879414"/>
                </a:cubicBezTo>
                <a:cubicBezTo>
                  <a:pt x="3459255" y="2812135"/>
                  <a:pt x="3460524" y="2718346"/>
                  <a:pt x="3461795" y="2624556"/>
                </a:cubicBezTo>
                <a:cubicBezTo>
                  <a:pt x="3463065" y="2479406"/>
                  <a:pt x="3473224" y="1085962"/>
                  <a:pt x="3474495" y="940811"/>
                </a:cubicBezTo>
                <a:cubicBezTo>
                  <a:pt x="3474495" y="853721"/>
                  <a:pt x="3475765" y="766631"/>
                  <a:pt x="3477035" y="679540"/>
                </a:cubicBezTo>
                <a:cubicBezTo>
                  <a:pt x="3478305" y="585751"/>
                  <a:pt x="3479574" y="491961"/>
                  <a:pt x="3482115" y="398172"/>
                </a:cubicBezTo>
                <a:cubicBezTo>
                  <a:pt x="3483385" y="342345"/>
                  <a:pt x="3483385" y="284285"/>
                  <a:pt x="3488465" y="228458"/>
                </a:cubicBezTo>
                <a:cubicBezTo>
                  <a:pt x="3493545" y="161465"/>
                  <a:pt x="3496085" y="96706"/>
                  <a:pt x="3494815" y="43744"/>
                </a:cubicBezTo>
                <a:cubicBezTo>
                  <a:pt x="3494815" y="37394"/>
                  <a:pt x="3491005" y="29774"/>
                  <a:pt x="3484655" y="27234"/>
                </a:cubicBezTo>
                <a:close/>
              </a:path>
            </a:pathLst>
          </a:custGeom>
          <a:solidFill>
            <a:srgbClr val="EAFAF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4400">
                <a:latin typeface="Nunito Sans"/>
                <a:ea typeface="Nunito Sans"/>
                <a:cs typeface="Nunito Sans"/>
                <a:sym typeface="Nunito Sans"/>
              </a:rPr>
              <a:t>Catchment areas can be managed sustainably by protecting water sources, reducing pollution, and conserving soil and vegetation. </a:t>
            </a:r>
            <a:endParaRPr sz="4400">
              <a:latin typeface="Nunito Sans"/>
              <a:ea typeface="Nunito Sans"/>
              <a:cs typeface="Nunito Sans"/>
              <a:sym typeface="Nunito Sans"/>
            </a:endParaRPr>
          </a:p>
          <a:p>
            <a:pPr marL="0" lvl="0" indent="0" algn="l" rtl="0">
              <a:spcBef>
                <a:spcPts val="0"/>
              </a:spcBef>
              <a:spcAft>
                <a:spcPts val="0"/>
              </a:spcAft>
              <a:buNone/>
            </a:pPr>
            <a:endParaRPr sz="4400">
              <a:latin typeface="Nunito Sans"/>
              <a:ea typeface="Nunito Sans"/>
              <a:cs typeface="Nunito Sans"/>
              <a:sym typeface="Nunito Sans"/>
            </a:endParaRPr>
          </a:p>
          <a:p>
            <a:pPr marL="0" lvl="0" indent="0" algn="l" rtl="0">
              <a:spcBef>
                <a:spcPts val="0"/>
              </a:spcBef>
              <a:spcAft>
                <a:spcPts val="0"/>
              </a:spcAft>
              <a:buNone/>
            </a:pPr>
            <a:r>
              <a:rPr lang="en-US" sz="4400">
                <a:latin typeface="Nunito Sans"/>
                <a:ea typeface="Nunito Sans"/>
                <a:cs typeface="Nunito Sans"/>
                <a:sym typeface="Nunito Sans"/>
              </a:rPr>
              <a:t>Strategies include planting trees and vegetation to prevent erosion, controlling urban and agricultural runoff, restoring wetlands, monitoring water quality, and involving local communities in planning and decision-making. These actions help maintain healthy ecosystems, reliable water supplies, and long-term environmental balance.</a:t>
            </a:r>
            <a:endParaRPr sz="4400">
              <a:latin typeface="Nunito Sans"/>
              <a:ea typeface="Nunito Sans"/>
              <a:cs typeface="Nunito Sans"/>
              <a:sym typeface="Nunito Sans"/>
            </a:endParaRPr>
          </a:p>
        </p:txBody>
      </p:sp>
      <p:sp>
        <p:nvSpPr>
          <p:cNvPr id="904" name="Google Shape;904;p72"/>
          <p:cNvSpPr/>
          <p:nvPr/>
        </p:nvSpPr>
        <p:spPr>
          <a:xfrm>
            <a:off x="-119699" y="7896588"/>
            <a:ext cx="4586747" cy="3102309"/>
          </a:xfrm>
          <a:custGeom>
            <a:avLst/>
            <a:gdLst/>
            <a:ahLst/>
            <a:cxnLst/>
            <a:rect l="l" t="t" r="r" b="b"/>
            <a:pathLst>
              <a:path w="4586747" h="3102309" extrusionOk="0">
                <a:moveTo>
                  <a:pt x="0" y="0"/>
                </a:moveTo>
                <a:lnTo>
                  <a:pt x="4586747" y="0"/>
                </a:lnTo>
                <a:lnTo>
                  <a:pt x="4586747" y="3102309"/>
                </a:lnTo>
                <a:lnTo>
                  <a:pt x="0" y="3102309"/>
                </a:lnTo>
                <a:lnTo>
                  <a:pt x="0" y="0"/>
                </a:lnTo>
                <a:close/>
              </a:path>
            </a:pathLst>
          </a:custGeom>
          <a:blipFill rotWithShape="1">
            <a:blip r:embed="rId3">
              <a:alphaModFix/>
            </a:blip>
            <a:stretch>
              <a:fillRect/>
            </a:stretch>
          </a:blipFill>
          <a:ln>
            <a:noFill/>
          </a:ln>
        </p:spPr>
        <p:txBody>
          <a:bodyPr/>
          <a:lstStyle/>
          <a:p>
            <a:endParaRPr lang="en-US"/>
          </a:p>
        </p:txBody>
      </p:sp>
      <p:sp>
        <p:nvSpPr>
          <p:cNvPr id="905" name="Google Shape;905;p72"/>
          <p:cNvSpPr/>
          <p:nvPr/>
        </p:nvSpPr>
        <p:spPr>
          <a:xfrm>
            <a:off x="2685573" y="8735846"/>
            <a:ext cx="4586747" cy="3102309"/>
          </a:xfrm>
          <a:custGeom>
            <a:avLst/>
            <a:gdLst/>
            <a:ahLst/>
            <a:cxnLst/>
            <a:rect l="l" t="t" r="r" b="b"/>
            <a:pathLst>
              <a:path w="4586747" h="3102309" extrusionOk="0">
                <a:moveTo>
                  <a:pt x="0" y="0"/>
                </a:moveTo>
                <a:lnTo>
                  <a:pt x="4586747" y="0"/>
                </a:lnTo>
                <a:lnTo>
                  <a:pt x="4586747" y="3102308"/>
                </a:lnTo>
                <a:lnTo>
                  <a:pt x="0" y="3102308"/>
                </a:lnTo>
                <a:lnTo>
                  <a:pt x="0" y="0"/>
                </a:lnTo>
                <a:close/>
              </a:path>
            </a:pathLst>
          </a:custGeom>
          <a:blipFill rotWithShape="1">
            <a:blip r:embed="rId3">
              <a:alphaModFix/>
            </a:blip>
            <a:stretch>
              <a:fillRect/>
            </a:stretch>
          </a:blipFill>
          <a:ln>
            <a:noFill/>
          </a:ln>
        </p:spPr>
        <p:txBody>
          <a:bodyPr/>
          <a:lstStyle/>
          <a:p>
            <a:endParaRPr lang="en-US"/>
          </a:p>
        </p:txBody>
      </p:sp>
      <p:sp>
        <p:nvSpPr>
          <p:cNvPr id="906" name="Google Shape;906;p72"/>
          <p:cNvSpPr/>
          <p:nvPr/>
        </p:nvSpPr>
        <p:spPr>
          <a:xfrm>
            <a:off x="7272320" y="8750083"/>
            <a:ext cx="4786687" cy="1645424"/>
          </a:xfrm>
          <a:custGeom>
            <a:avLst/>
            <a:gdLst/>
            <a:ahLst/>
            <a:cxnLst/>
            <a:rect l="l" t="t" r="r" b="b"/>
            <a:pathLst>
              <a:path w="4786687" h="1645424" extrusionOk="0">
                <a:moveTo>
                  <a:pt x="0" y="0"/>
                </a:moveTo>
                <a:lnTo>
                  <a:pt x="4786687" y="0"/>
                </a:lnTo>
                <a:lnTo>
                  <a:pt x="4786687" y="1645423"/>
                </a:lnTo>
                <a:lnTo>
                  <a:pt x="0" y="1645423"/>
                </a:lnTo>
                <a:lnTo>
                  <a:pt x="0" y="0"/>
                </a:lnTo>
                <a:close/>
              </a:path>
            </a:pathLst>
          </a:custGeom>
          <a:blipFill rotWithShape="1">
            <a:blip r:embed="rId4">
              <a:alphaModFix/>
            </a:blip>
            <a:stretch>
              <a:fillRect/>
            </a:stretch>
          </a:blipFill>
          <a:ln>
            <a:noFill/>
          </a:ln>
        </p:spPr>
        <p:txBody>
          <a:bodyPr/>
          <a:lstStyle/>
          <a:p>
            <a:endParaRPr lang="en-US"/>
          </a:p>
        </p:txBody>
      </p:sp>
      <p:sp>
        <p:nvSpPr>
          <p:cNvPr id="907" name="Google Shape;907;p72"/>
          <p:cNvSpPr txBox="1"/>
          <p:nvPr/>
        </p:nvSpPr>
        <p:spPr>
          <a:xfrm>
            <a:off x="635125" y="309475"/>
            <a:ext cx="16839600" cy="13083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8499">
                <a:solidFill>
                  <a:srgbClr val="FFFFFF"/>
                </a:solidFill>
                <a:latin typeface="Yeseva One"/>
                <a:ea typeface="Yeseva One"/>
                <a:cs typeface="Yeseva One"/>
                <a:sym typeface="Yeseva One"/>
              </a:rPr>
              <a:t>Sustainable management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54C4ED"/>
        </a:solidFill>
        <a:effectLst/>
      </p:bgPr>
    </p:bg>
    <p:spTree>
      <p:nvGrpSpPr>
        <p:cNvPr id="1" name="Shape 911"/>
        <p:cNvGrpSpPr/>
        <p:nvPr/>
      </p:nvGrpSpPr>
      <p:grpSpPr>
        <a:xfrm>
          <a:off x="0" y="0"/>
          <a:ext cx="0" cy="0"/>
          <a:chOff x="0" y="0"/>
          <a:chExt cx="0" cy="0"/>
        </a:xfrm>
      </p:grpSpPr>
      <p:sp>
        <p:nvSpPr>
          <p:cNvPr id="912" name="Google Shape;912;p73"/>
          <p:cNvSpPr/>
          <p:nvPr/>
        </p:nvSpPr>
        <p:spPr>
          <a:xfrm>
            <a:off x="517542" y="2074513"/>
            <a:ext cx="7899012" cy="6150944"/>
          </a:xfrm>
          <a:custGeom>
            <a:avLst/>
            <a:gdLst/>
            <a:ahLst/>
            <a:cxnLst/>
            <a:rect l="l" t="t" r="r" b="b"/>
            <a:pathLst>
              <a:path w="3495138" h="2904814" extrusionOk="0">
                <a:moveTo>
                  <a:pt x="3484655" y="27234"/>
                </a:moveTo>
                <a:cubicBezTo>
                  <a:pt x="3475765" y="23424"/>
                  <a:pt x="3466875" y="20884"/>
                  <a:pt x="3457985" y="20884"/>
                </a:cubicBezTo>
                <a:cubicBezTo>
                  <a:pt x="3431315" y="19614"/>
                  <a:pt x="3379625" y="19614"/>
                  <a:pt x="3322691" y="17074"/>
                </a:cubicBezTo>
                <a:cubicBezTo>
                  <a:pt x="3192555" y="11994"/>
                  <a:pt x="3065130" y="5644"/>
                  <a:pt x="2934995" y="3104"/>
                </a:cubicBezTo>
                <a:cubicBezTo>
                  <a:pt x="2829259" y="564"/>
                  <a:pt x="2726236" y="3104"/>
                  <a:pt x="2620501" y="1834"/>
                </a:cubicBezTo>
                <a:cubicBezTo>
                  <a:pt x="2574411" y="1834"/>
                  <a:pt x="2528321" y="-706"/>
                  <a:pt x="2482231" y="1834"/>
                </a:cubicBezTo>
                <a:cubicBezTo>
                  <a:pt x="2371074" y="9454"/>
                  <a:pt x="2259916" y="10724"/>
                  <a:pt x="2146048" y="8184"/>
                </a:cubicBezTo>
                <a:cubicBezTo>
                  <a:pt x="2089113" y="6914"/>
                  <a:pt x="2032179" y="6914"/>
                  <a:pt x="1975245" y="6914"/>
                </a:cubicBezTo>
                <a:cubicBezTo>
                  <a:pt x="1872221" y="6914"/>
                  <a:pt x="1769197" y="6914"/>
                  <a:pt x="1666173" y="5644"/>
                </a:cubicBezTo>
                <a:cubicBezTo>
                  <a:pt x="1557726" y="4374"/>
                  <a:pt x="489530" y="1834"/>
                  <a:pt x="383795" y="564"/>
                </a:cubicBezTo>
                <a:cubicBezTo>
                  <a:pt x="297038" y="-706"/>
                  <a:pt x="212992" y="564"/>
                  <a:pt x="126235" y="564"/>
                </a:cubicBezTo>
                <a:cubicBezTo>
                  <a:pt x="66589"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3524" y="2878144"/>
                  <a:pt x="226548" y="2881954"/>
                  <a:pt x="329572" y="2887034"/>
                </a:cubicBezTo>
                <a:cubicBezTo>
                  <a:pt x="386506" y="2889574"/>
                  <a:pt x="443440" y="2894654"/>
                  <a:pt x="500375" y="2895924"/>
                </a:cubicBezTo>
                <a:cubicBezTo>
                  <a:pt x="595265" y="2898464"/>
                  <a:pt x="1652617" y="2899734"/>
                  <a:pt x="1747507" y="2901004"/>
                </a:cubicBezTo>
                <a:cubicBezTo>
                  <a:pt x="1761063" y="2901004"/>
                  <a:pt x="1774619" y="2901004"/>
                  <a:pt x="1788175" y="2901004"/>
                </a:cubicBezTo>
                <a:cubicBezTo>
                  <a:pt x="1853243" y="2901004"/>
                  <a:pt x="1921022" y="2899734"/>
                  <a:pt x="1986089" y="2899734"/>
                </a:cubicBezTo>
                <a:cubicBezTo>
                  <a:pt x="2062002" y="2899734"/>
                  <a:pt x="2135203" y="2901004"/>
                  <a:pt x="2211115" y="2901004"/>
                </a:cubicBezTo>
                <a:cubicBezTo>
                  <a:pt x="2322273" y="2901004"/>
                  <a:pt x="2436142" y="2901004"/>
                  <a:pt x="2547299" y="2901004"/>
                </a:cubicBezTo>
                <a:cubicBezTo>
                  <a:pt x="2650323" y="2901004"/>
                  <a:pt x="2753347" y="2902274"/>
                  <a:pt x="2856371" y="2903544"/>
                </a:cubicBezTo>
                <a:cubicBezTo>
                  <a:pt x="2902461" y="2903544"/>
                  <a:pt x="2951262" y="2904814"/>
                  <a:pt x="2997351" y="2904814"/>
                </a:cubicBezTo>
                <a:cubicBezTo>
                  <a:pt x="3146465" y="2903544"/>
                  <a:pt x="3292868" y="2897194"/>
                  <a:pt x="3435124" y="2897194"/>
                </a:cubicBezTo>
                <a:cubicBezTo>
                  <a:pt x="3438935" y="2897194"/>
                  <a:pt x="3444015" y="2894654"/>
                  <a:pt x="3447824" y="2892114"/>
                </a:cubicBezTo>
                <a:cubicBezTo>
                  <a:pt x="3452905" y="2888304"/>
                  <a:pt x="3455445" y="2881954"/>
                  <a:pt x="3457985" y="2879414"/>
                </a:cubicBezTo>
                <a:cubicBezTo>
                  <a:pt x="3459255" y="2812135"/>
                  <a:pt x="3460524" y="2718346"/>
                  <a:pt x="3461795" y="2624556"/>
                </a:cubicBezTo>
                <a:cubicBezTo>
                  <a:pt x="3463065" y="2479406"/>
                  <a:pt x="3473224" y="1085962"/>
                  <a:pt x="3474495" y="940811"/>
                </a:cubicBezTo>
                <a:cubicBezTo>
                  <a:pt x="3474495" y="853721"/>
                  <a:pt x="3475765" y="766631"/>
                  <a:pt x="3477035" y="679540"/>
                </a:cubicBezTo>
                <a:cubicBezTo>
                  <a:pt x="3478305" y="585751"/>
                  <a:pt x="3479574" y="491961"/>
                  <a:pt x="3482115" y="398172"/>
                </a:cubicBezTo>
                <a:cubicBezTo>
                  <a:pt x="3483385" y="342345"/>
                  <a:pt x="3483385" y="284285"/>
                  <a:pt x="3488465" y="228458"/>
                </a:cubicBezTo>
                <a:cubicBezTo>
                  <a:pt x="3493545" y="161465"/>
                  <a:pt x="3496085" y="96706"/>
                  <a:pt x="3494815" y="43744"/>
                </a:cubicBezTo>
                <a:cubicBezTo>
                  <a:pt x="3494815" y="37394"/>
                  <a:pt x="3491005" y="29774"/>
                  <a:pt x="3484655" y="27234"/>
                </a:cubicBezTo>
                <a:close/>
              </a:path>
            </a:pathLst>
          </a:custGeom>
          <a:solidFill>
            <a:srgbClr val="EAF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3600">
                <a:latin typeface="Nunito"/>
                <a:ea typeface="Nunito"/>
                <a:cs typeface="Nunito"/>
                <a:sym typeface="Nunito"/>
              </a:rPr>
              <a:t>Government bodies and organisations regularly implement strategies to manage water; ensuring water systems are functioning effectively and humans are not affecting water quality. </a:t>
            </a:r>
            <a:endParaRPr sz="3600">
              <a:latin typeface="Nunito"/>
              <a:ea typeface="Nunito"/>
              <a:cs typeface="Nunito"/>
              <a:sym typeface="Nunito"/>
            </a:endParaRPr>
          </a:p>
          <a:p>
            <a:pPr marL="0" lvl="0" indent="0" algn="l" rtl="0">
              <a:spcBef>
                <a:spcPts val="0"/>
              </a:spcBef>
              <a:spcAft>
                <a:spcPts val="0"/>
              </a:spcAft>
              <a:buNone/>
            </a:pPr>
            <a:endParaRPr sz="3600">
              <a:latin typeface="Nunito"/>
              <a:ea typeface="Nunito"/>
              <a:cs typeface="Nunito"/>
              <a:sym typeface="Nunito"/>
            </a:endParaRPr>
          </a:p>
          <a:p>
            <a:pPr marL="0" lvl="0" indent="0" algn="l" rtl="0">
              <a:spcBef>
                <a:spcPts val="0"/>
              </a:spcBef>
              <a:spcAft>
                <a:spcPts val="0"/>
              </a:spcAft>
              <a:buNone/>
            </a:pPr>
            <a:r>
              <a:rPr lang="en-US" sz="3600">
                <a:latin typeface="Nunito"/>
                <a:ea typeface="Nunito"/>
                <a:cs typeface="Nunito"/>
                <a:sym typeface="Nunito"/>
              </a:rPr>
              <a:t>Describe ONE thing the EPA of Victoria do to assess if humans are impacting local waterways. </a:t>
            </a:r>
            <a:endParaRPr sz="3600">
              <a:latin typeface="Nunito"/>
              <a:ea typeface="Nunito"/>
              <a:cs typeface="Nunito"/>
              <a:sym typeface="Nunito"/>
            </a:endParaRPr>
          </a:p>
        </p:txBody>
      </p:sp>
      <p:sp>
        <p:nvSpPr>
          <p:cNvPr id="913" name="Google Shape;913;p73"/>
          <p:cNvSpPr/>
          <p:nvPr/>
        </p:nvSpPr>
        <p:spPr>
          <a:xfrm>
            <a:off x="-119699" y="7896588"/>
            <a:ext cx="4586747" cy="3102309"/>
          </a:xfrm>
          <a:custGeom>
            <a:avLst/>
            <a:gdLst/>
            <a:ahLst/>
            <a:cxnLst/>
            <a:rect l="l" t="t" r="r" b="b"/>
            <a:pathLst>
              <a:path w="4586747" h="3102309" extrusionOk="0">
                <a:moveTo>
                  <a:pt x="0" y="0"/>
                </a:moveTo>
                <a:lnTo>
                  <a:pt x="4586747" y="0"/>
                </a:lnTo>
                <a:lnTo>
                  <a:pt x="4586747" y="3102309"/>
                </a:lnTo>
                <a:lnTo>
                  <a:pt x="0" y="3102309"/>
                </a:lnTo>
                <a:lnTo>
                  <a:pt x="0" y="0"/>
                </a:lnTo>
                <a:close/>
              </a:path>
            </a:pathLst>
          </a:custGeom>
          <a:blipFill rotWithShape="1">
            <a:blip r:embed="rId3">
              <a:alphaModFix/>
            </a:blip>
            <a:stretch>
              <a:fillRect/>
            </a:stretch>
          </a:blipFill>
          <a:ln>
            <a:noFill/>
          </a:ln>
        </p:spPr>
        <p:txBody>
          <a:bodyPr/>
          <a:lstStyle/>
          <a:p>
            <a:endParaRPr lang="en-US"/>
          </a:p>
        </p:txBody>
      </p:sp>
      <p:sp>
        <p:nvSpPr>
          <p:cNvPr id="914" name="Google Shape;914;p73"/>
          <p:cNvSpPr/>
          <p:nvPr/>
        </p:nvSpPr>
        <p:spPr>
          <a:xfrm>
            <a:off x="2685573" y="8735846"/>
            <a:ext cx="4586747" cy="3102309"/>
          </a:xfrm>
          <a:custGeom>
            <a:avLst/>
            <a:gdLst/>
            <a:ahLst/>
            <a:cxnLst/>
            <a:rect l="l" t="t" r="r" b="b"/>
            <a:pathLst>
              <a:path w="4586747" h="3102309" extrusionOk="0">
                <a:moveTo>
                  <a:pt x="0" y="0"/>
                </a:moveTo>
                <a:lnTo>
                  <a:pt x="4586747" y="0"/>
                </a:lnTo>
                <a:lnTo>
                  <a:pt x="4586747" y="3102308"/>
                </a:lnTo>
                <a:lnTo>
                  <a:pt x="0" y="3102308"/>
                </a:lnTo>
                <a:lnTo>
                  <a:pt x="0" y="0"/>
                </a:lnTo>
                <a:close/>
              </a:path>
            </a:pathLst>
          </a:custGeom>
          <a:blipFill rotWithShape="1">
            <a:blip r:embed="rId3">
              <a:alphaModFix/>
            </a:blip>
            <a:stretch>
              <a:fillRect/>
            </a:stretch>
          </a:blipFill>
          <a:ln>
            <a:noFill/>
          </a:ln>
        </p:spPr>
        <p:txBody>
          <a:bodyPr/>
          <a:lstStyle/>
          <a:p>
            <a:endParaRPr lang="en-US"/>
          </a:p>
        </p:txBody>
      </p:sp>
      <p:sp>
        <p:nvSpPr>
          <p:cNvPr id="915" name="Google Shape;915;p73"/>
          <p:cNvSpPr/>
          <p:nvPr/>
        </p:nvSpPr>
        <p:spPr>
          <a:xfrm>
            <a:off x="7272320" y="8750083"/>
            <a:ext cx="4786687" cy="1645424"/>
          </a:xfrm>
          <a:custGeom>
            <a:avLst/>
            <a:gdLst/>
            <a:ahLst/>
            <a:cxnLst/>
            <a:rect l="l" t="t" r="r" b="b"/>
            <a:pathLst>
              <a:path w="4786687" h="1645424" extrusionOk="0">
                <a:moveTo>
                  <a:pt x="0" y="0"/>
                </a:moveTo>
                <a:lnTo>
                  <a:pt x="4786687" y="0"/>
                </a:lnTo>
                <a:lnTo>
                  <a:pt x="4786687" y="1645423"/>
                </a:lnTo>
                <a:lnTo>
                  <a:pt x="0" y="1645423"/>
                </a:lnTo>
                <a:lnTo>
                  <a:pt x="0" y="0"/>
                </a:lnTo>
                <a:close/>
              </a:path>
            </a:pathLst>
          </a:custGeom>
          <a:blipFill rotWithShape="1">
            <a:blip r:embed="rId4">
              <a:alphaModFix/>
            </a:blip>
            <a:stretch>
              <a:fillRect/>
            </a:stretch>
          </a:blipFill>
          <a:ln>
            <a:noFill/>
          </a:ln>
        </p:spPr>
        <p:txBody>
          <a:bodyPr/>
          <a:lstStyle/>
          <a:p>
            <a:endParaRPr lang="en-US"/>
          </a:p>
        </p:txBody>
      </p:sp>
      <p:sp>
        <p:nvSpPr>
          <p:cNvPr id="916" name="Google Shape;916;p73"/>
          <p:cNvSpPr txBox="1"/>
          <p:nvPr/>
        </p:nvSpPr>
        <p:spPr>
          <a:xfrm>
            <a:off x="635125" y="309475"/>
            <a:ext cx="17233800" cy="10776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000">
                <a:solidFill>
                  <a:srgbClr val="FFFFFF"/>
                </a:solidFill>
                <a:latin typeface="Yeseva One"/>
                <a:ea typeface="Yeseva One"/>
                <a:cs typeface="Yeseva One"/>
                <a:sym typeface="Yeseva One"/>
              </a:rPr>
              <a:t>How can we assess catchment health?</a:t>
            </a:r>
            <a:endParaRPr sz="7000"/>
          </a:p>
        </p:txBody>
      </p:sp>
      <p:pic>
        <p:nvPicPr>
          <p:cNvPr id="917" name="Google Shape;917;p73" descr="Around the state, Environment Protection Authority Victoria’s (EPA) authorised officers and environmental scientists take water samples to detect cases of pollution and monitor the health of Victoria’s waterways. &#10;&#10;Learn about the equipment and processes involved in taking a water sample and why parameters such as salinity and dissolved oxygen are important indicators of water quality. &#10;&#10;Water sampling is just one of the ways EPA is striving for a healthy environment for all Victorians.&#10;&#10;Find out more at: https://www.epa.vic.gov.au/for-community/monitoring-your-environment/monitoring-victorias-water-quality&#10;&#10;00:26 Collecting a water sample&#10;01:09 Using a field meter&#10;&#10;Transcript:&#10;Hi there, I'm Jodi I'm an authorised officer with the Environmental Protection Authority of Victoria, also known as EPA. Today I'm going to check the quality of the water in this creek to see if there's any pollution we need to investigate. &#10;&#10;When EPA receives a report of water pollution from a member of the public we may respond by sending someone like me an authorised officer out to investigate further. Our environmental scientists also test water quality around Victoria as part of ongoing environmental monitoring programs. &#10;&#10;I need to collect a sample using this sample pole and the sample bottle. The sample pole lets me grab a sample out of the creek without disturbing the bottom. We just dip the bottle in and fill it up with the water. The sample is put on ice in an esky and sent off to an independent laboratory. &#10;&#10;At the lab they do a number of different tests on the water to check for different types of pollutants. &#10;Depending on the creek or the environmental problem this could include pollutants such as oils,  &#10;metals, hydrocarbons or pesticides. &#10;&#10;The lab will send us their sample results. We'll assess those results against various guideline values that we report against. This will let us know whether any of those results were above levels considered safe. &#10;&#10;I also use a field meter to measure various parameters directly in the waterway. I place the probe in the water and move it around until the readings stabilise. &#10;&#10;So this number here is the amount of dissolved oxygen in the waterway and that can vary a lot over twenty four hours. Really low levels of dissolved oxygen can mean that the water quality is poorer than what it should be and that could be the result of pollutants, blue-green algal blooms or droughts. &#10;&#10;So this number here is salinity which is a measure of how much salt is in the water. We would normally expect something below 1,500 but currently rating around 400, &#10;which is great for a little freshwater creek like this.&#10;&#10;The reading at the bottom of the screen is pH. It's a measure of how acidic or basic the waterway is. &#10;We'd normally expect a result between about six and eight. We're currently reading seven which is what we'd expect for a waterway like this. &#10;&#10;So all of the  field results we got were normal and when we get the samples back from the lab we'll have a look at them and that will identify if there's any pollution we need to further investigate. &#10;&#10;EPA's authorised officers and environmental scientists undertake water sampling all across Victoria. It's just one of the ways that EPA is striving for a healthy environment for all Victorians." title="How we measure water quality">
            <a:hlinkClick r:id="rId5"/>
          </p:cNvPr>
          <p:cNvPicPr preferRelativeResize="0"/>
          <p:nvPr/>
        </p:nvPicPr>
        <p:blipFill>
          <a:blip r:embed="rId6">
            <a:alphaModFix/>
          </a:blip>
          <a:stretch>
            <a:fillRect/>
          </a:stretch>
        </p:blipFill>
        <p:spPr>
          <a:xfrm>
            <a:off x="8710862" y="2759242"/>
            <a:ext cx="8920387" cy="500925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7"/>
                                        </p:tgtEl>
                                        <p:attrNameLst>
                                          <p:attrName>style.visibility</p:attrName>
                                        </p:attrNameLst>
                                      </p:cBhvr>
                                      <p:to>
                                        <p:strVal val="visible"/>
                                      </p:to>
                                    </p:set>
                                    <p:animEffect transition="in" filter="fade">
                                      <p:cBhvr>
                                        <p:cTn id="7" dur="1000"/>
                                        <p:tgtEl>
                                          <p:spTgt spid="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54C4ED"/>
        </a:solidFill>
        <a:effectLst/>
      </p:bgPr>
    </p:bg>
    <p:spTree>
      <p:nvGrpSpPr>
        <p:cNvPr id="1" name="Shape 921"/>
        <p:cNvGrpSpPr/>
        <p:nvPr/>
      </p:nvGrpSpPr>
      <p:grpSpPr>
        <a:xfrm>
          <a:off x="0" y="0"/>
          <a:ext cx="0" cy="0"/>
          <a:chOff x="0" y="0"/>
          <a:chExt cx="0" cy="0"/>
        </a:xfrm>
      </p:grpSpPr>
      <p:sp>
        <p:nvSpPr>
          <p:cNvPr id="922" name="Google Shape;922;p74"/>
          <p:cNvSpPr/>
          <p:nvPr/>
        </p:nvSpPr>
        <p:spPr>
          <a:xfrm>
            <a:off x="926063" y="2021638"/>
            <a:ext cx="16435886" cy="5163307"/>
          </a:xfrm>
          <a:custGeom>
            <a:avLst/>
            <a:gdLst/>
            <a:ahLst/>
            <a:cxnLst/>
            <a:rect l="l" t="t" r="r" b="b"/>
            <a:pathLst>
              <a:path w="3495138" h="2904814" extrusionOk="0">
                <a:moveTo>
                  <a:pt x="3484655" y="27234"/>
                </a:moveTo>
                <a:cubicBezTo>
                  <a:pt x="3475765" y="23424"/>
                  <a:pt x="3466875" y="20884"/>
                  <a:pt x="3457985" y="20884"/>
                </a:cubicBezTo>
                <a:cubicBezTo>
                  <a:pt x="3431315" y="19614"/>
                  <a:pt x="3379625" y="19614"/>
                  <a:pt x="3322691" y="17074"/>
                </a:cubicBezTo>
                <a:cubicBezTo>
                  <a:pt x="3192555" y="11994"/>
                  <a:pt x="3065130" y="5644"/>
                  <a:pt x="2934995" y="3104"/>
                </a:cubicBezTo>
                <a:cubicBezTo>
                  <a:pt x="2829259" y="564"/>
                  <a:pt x="2726236" y="3104"/>
                  <a:pt x="2620501" y="1834"/>
                </a:cubicBezTo>
                <a:cubicBezTo>
                  <a:pt x="2574411" y="1834"/>
                  <a:pt x="2528321" y="-706"/>
                  <a:pt x="2482231" y="1834"/>
                </a:cubicBezTo>
                <a:cubicBezTo>
                  <a:pt x="2371074" y="9454"/>
                  <a:pt x="2259916" y="10724"/>
                  <a:pt x="2146048" y="8184"/>
                </a:cubicBezTo>
                <a:cubicBezTo>
                  <a:pt x="2089113" y="6914"/>
                  <a:pt x="2032179" y="6914"/>
                  <a:pt x="1975245" y="6914"/>
                </a:cubicBezTo>
                <a:cubicBezTo>
                  <a:pt x="1872221" y="6914"/>
                  <a:pt x="1769197" y="6914"/>
                  <a:pt x="1666173" y="5644"/>
                </a:cubicBezTo>
                <a:cubicBezTo>
                  <a:pt x="1557726" y="4374"/>
                  <a:pt x="489530" y="1834"/>
                  <a:pt x="383795" y="564"/>
                </a:cubicBezTo>
                <a:cubicBezTo>
                  <a:pt x="297038" y="-706"/>
                  <a:pt x="212992" y="564"/>
                  <a:pt x="126235" y="564"/>
                </a:cubicBezTo>
                <a:cubicBezTo>
                  <a:pt x="66589" y="564"/>
                  <a:pt x="33020" y="3104"/>
                  <a:pt x="5080" y="4374"/>
                </a:cubicBezTo>
                <a:cubicBezTo>
                  <a:pt x="3810" y="4374"/>
                  <a:pt x="2540" y="6914"/>
                  <a:pt x="0" y="8184"/>
                </a:cubicBezTo>
                <a:cubicBezTo>
                  <a:pt x="1270" y="20884"/>
                  <a:pt x="3810" y="33584"/>
                  <a:pt x="5080" y="46284"/>
                </a:cubicBezTo>
                <a:cubicBezTo>
                  <a:pt x="15240" y="156999"/>
                  <a:pt x="16510" y="284285"/>
                  <a:pt x="17780" y="409337"/>
                </a:cubicBezTo>
                <a:cubicBezTo>
                  <a:pt x="19050" y="536623"/>
                  <a:pt x="17780" y="663909"/>
                  <a:pt x="16510" y="793428"/>
                </a:cubicBezTo>
                <a:cubicBezTo>
                  <a:pt x="15240" y="925180"/>
                  <a:pt x="2540" y="2307458"/>
                  <a:pt x="2540" y="2439210"/>
                </a:cubicBezTo>
                <a:cubicBezTo>
                  <a:pt x="2540" y="2568729"/>
                  <a:pt x="1270" y="2698248"/>
                  <a:pt x="0" y="2827767"/>
                </a:cubicBezTo>
                <a:cubicBezTo>
                  <a:pt x="0" y="2850204"/>
                  <a:pt x="3810" y="2860364"/>
                  <a:pt x="15240" y="2865444"/>
                </a:cubicBezTo>
                <a:cubicBezTo>
                  <a:pt x="22860" y="2869254"/>
                  <a:pt x="31750" y="2871794"/>
                  <a:pt x="40640" y="2873064"/>
                </a:cubicBezTo>
                <a:cubicBezTo>
                  <a:pt x="123524" y="2878144"/>
                  <a:pt x="226548" y="2881954"/>
                  <a:pt x="329572" y="2887034"/>
                </a:cubicBezTo>
                <a:cubicBezTo>
                  <a:pt x="386506" y="2889574"/>
                  <a:pt x="443440" y="2894654"/>
                  <a:pt x="500375" y="2895924"/>
                </a:cubicBezTo>
                <a:cubicBezTo>
                  <a:pt x="595265" y="2898464"/>
                  <a:pt x="1652617" y="2899734"/>
                  <a:pt x="1747507" y="2901004"/>
                </a:cubicBezTo>
                <a:cubicBezTo>
                  <a:pt x="1761063" y="2901004"/>
                  <a:pt x="1774619" y="2901004"/>
                  <a:pt x="1788175" y="2901004"/>
                </a:cubicBezTo>
                <a:cubicBezTo>
                  <a:pt x="1853243" y="2901004"/>
                  <a:pt x="1921022" y="2899734"/>
                  <a:pt x="1986089" y="2899734"/>
                </a:cubicBezTo>
                <a:cubicBezTo>
                  <a:pt x="2062002" y="2899734"/>
                  <a:pt x="2135203" y="2901004"/>
                  <a:pt x="2211115" y="2901004"/>
                </a:cubicBezTo>
                <a:cubicBezTo>
                  <a:pt x="2322273" y="2901004"/>
                  <a:pt x="2436142" y="2901004"/>
                  <a:pt x="2547299" y="2901004"/>
                </a:cubicBezTo>
                <a:cubicBezTo>
                  <a:pt x="2650323" y="2901004"/>
                  <a:pt x="2753347" y="2902274"/>
                  <a:pt x="2856371" y="2903544"/>
                </a:cubicBezTo>
                <a:cubicBezTo>
                  <a:pt x="2902461" y="2903544"/>
                  <a:pt x="2951262" y="2904814"/>
                  <a:pt x="2997351" y="2904814"/>
                </a:cubicBezTo>
                <a:cubicBezTo>
                  <a:pt x="3146465" y="2903544"/>
                  <a:pt x="3292868" y="2897194"/>
                  <a:pt x="3435124" y="2897194"/>
                </a:cubicBezTo>
                <a:cubicBezTo>
                  <a:pt x="3438935" y="2897194"/>
                  <a:pt x="3444015" y="2894654"/>
                  <a:pt x="3447824" y="2892114"/>
                </a:cubicBezTo>
                <a:cubicBezTo>
                  <a:pt x="3452905" y="2888304"/>
                  <a:pt x="3455445" y="2881954"/>
                  <a:pt x="3457985" y="2879414"/>
                </a:cubicBezTo>
                <a:cubicBezTo>
                  <a:pt x="3459255" y="2812135"/>
                  <a:pt x="3460524" y="2718346"/>
                  <a:pt x="3461795" y="2624556"/>
                </a:cubicBezTo>
                <a:cubicBezTo>
                  <a:pt x="3463065" y="2479406"/>
                  <a:pt x="3473224" y="1085962"/>
                  <a:pt x="3474495" y="940811"/>
                </a:cubicBezTo>
                <a:cubicBezTo>
                  <a:pt x="3474495" y="853721"/>
                  <a:pt x="3475765" y="766631"/>
                  <a:pt x="3477035" y="679540"/>
                </a:cubicBezTo>
                <a:cubicBezTo>
                  <a:pt x="3478305" y="585751"/>
                  <a:pt x="3479574" y="491961"/>
                  <a:pt x="3482115" y="398172"/>
                </a:cubicBezTo>
                <a:cubicBezTo>
                  <a:pt x="3483385" y="342345"/>
                  <a:pt x="3483385" y="284285"/>
                  <a:pt x="3488465" y="228458"/>
                </a:cubicBezTo>
                <a:cubicBezTo>
                  <a:pt x="3493545" y="161465"/>
                  <a:pt x="3496085" y="96706"/>
                  <a:pt x="3494815" y="43744"/>
                </a:cubicBezTo>
                <a:cubicBezTo>
                  <a:pt x="3494815" y="37394"/>
                  <a:pt x="3491005" y="29774"/>
                  <a:pt x="3484655" y="27234"/>
                </a:cubicBezTo>
                <a:close/>
              </a:path>
            </a:pathLst>
          </a:custGeom>
          <a:solidFill>
            <a:srgbClr val="EAF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5000">
                <a:latin typeface="Nunito"/>
                <a:ea typeface="Nunito"/>
                <a:cs typeface="Nunito"/>
                <a:sym typeface="Nunito"/>
              </a:rPr>
              <a:t>Conduct a catchment walk, where you determine how runoff from our school can impact local waterways. </a:t>
            </a:r>
            <a:endParaRPr sz="5000">
              <a:latin typeface="Nunito"/>
              <a:ea typeface="Nunito"/>
              <a:cs typeface="Nunito"/>
              <a:sym typeface="Nunito"/>
            </a:endParaRPr>
          </a:p>
          <a:p>
            <a:pPr marL="0" lvl="0" indent="0" algn="l" rtl="0">
              <a:spcBef>
                <a:spcPts val="0"/>
              </a:spcBef>
              <a:spcAft>
                <a:spcPts val="0"/>
              </a:spcAft>
              <a:buNone/>
            </a:pPr>
            <a:endParaRPr sz="5000">
              <a:latin typeface="Nunito"/>
              <a:ea typeface="Nunito"/>
              <a:cs typeface="Nunito"/>
              <a:sym typeface="Nunito"/>
            </a:endParaRPr>
          </a:p>
          <a:p>
            <a:pPr marL="0" lvl="0" indent="0" algn="l" rtl="0">
              <a:spcBef>
                <a:spcPts val="0"/>
              </a:spcBef>
              <a:spcAft>
                <a:spcPts val="0"/>
              </a:spcAft>
              <a:buNone/>
            </a:pPr>
            <a:r>
              <a:rPr lang="en-US" sz="5000">
                <a:latin typeface="Nunito"/>
                <a:ea typeface="Nunito"/>
                <a:cs typeface="Nunito"/>
                <a:sym typeface="Nunito"/>
              </a:rPr>
              <a:t>Working in small groups, visit 4 areas of the school and complete the table to determine how the schools rubbish and pollutants can affect local water.</a:t>
            </a:r>
            <a:endParaRPr sz="5000">
              <a:latin typeface="Nunito"/>
              <a:ea typeface="Nunito"/>
              <a:cs typeface="Nunito"/>
              <a:sym typeface="Nunito"/>
            </a:endParaRPr>
          </a:p>
        </p:txBody>
      </p:sp>
      <p:sp>
        <p:nvSpPr>
          <p:cNvPr id="923" name="Google Shape;923;p74"/>
          <p:cNvSpPr/>
          <p:nvPr/>
        </p:nvSpPr>
        <p:spPr>
          <a:xfrm>
            <a:off x="-119699" y="7896588"/>
            <a:ext cx="4586747" cy="3102309"/>
          </a:xfrm>
          <a:custGeom>
            <a:avLst/>
            <a:gdLst/>
            <a:ahLst/>
            <a:cxnLst/>
            <a:rect l="l" t="t" r="r" b="b"/>
            <a:pathLst>
              <a:path w="4586747" h="3102309" extrusionOk="0">
                <a:moveTo>
                  <a:pt x="0" y="0"/>
                </a:moveTo>
                <a:lnTo>
                  <a:pt x="4586747" y="0"/>
                </a:lnTo>
                <a:lnTo>
                  <a:pt x="4586747" y="3102309"/>
                </a:lnTo>
                <a:lnTo>
                  <a:pt x="0" y="3102309"/>
                </a:lnTo>
                <a:lnTo>
                  <a:pt x="0" y="0"/>
                </a:lnTo>
                <a:close/>
              </a:path>
            </a:pathLst>
          </a:custGeom>
          <a:blipFill rotWithShape="1">
            <a:blip r:embed="rId3">
              <a:alphaModFix/>
            </a:blip>
            <a:stretch>
              <a:fillRect/>
            </a:stretch>
          </a:blipFill>
          <a:ln>
            <a:noFill/>
          </a:ln>
        </p:spPr>
        <p:txBody>
          <a:bodyPr/>
          <a:lstStyle/>
          <a:p>
            <a:endParaRPr lang="en-US"/>
          </a:p>
        </p:txBody>
      </p:sp>
      <p:sp>
        <p:nvSpPr>
          <p:cNvPr id="924" name="Google Shape;924;p74"/>
          <p:cNvSpPr/>
          <p:nvPr/>
        </p:nvSpPr>
        <p:spPr>
          <a:xfrm>
            <a:off x="2685573" y="8735846"/>
            <a:ext cx="4586747" cy="3102309"/>
          </a:xfrm>
          <a:custGeom>
            <a:avLst/>
            <a:gdLst/>
            <a:ahLst/>
            <a:cxnLst/>
            <a:rect l="l" t="t" r="r" b="b"/>
            <a:pathLst>
              <a:path w="4586747" h="3102309" extrusionOk="0">
                <a:moveTo>
                  <a:pt x="0" y="0"/>
                </a:moveTo>
                <a:lnTo>
                  <a:pt x="4586747" y="0"/>
                </a:lnTo>
                <a:lnTo>
                  <a:pt x="4586747" y="3102308"/>
                </a:lnTo>
                <a:lnTo>
                  <a:pt x="0" y="3102308"/>
                </a:lnTo>
                <a:lnTo>
                  <a:pt x="0" y="0"/>
                </a:lnTo>
                <a:close/>
              </a:path>
            </a:pathLst>
          </a:custGeom>
          <a:blipFill rotWithShape="1">
            <a:blip r:embed="rId3">
              <a:alphaModFix/>
            </a:blip>
            <a:stretch>
              <a:fillRect/>
            </a:stretch>
          </a:blipFill>
          <a:ln>
            <a:noFill/>
          </a:ln>
        </p:spPr>
        <p:txBody>
          <a:bodyPr/>
          <a:lstStyle/>
          <a:p>
            <a:endParaRPr lang="en-US"/>
          </a:p>
        </p:txBody>
      </p:sp>
      <p:sp>
        <p:nvSpPr>
          <p:cNvPr id="925" name="Google Shape;925;p74"/>
          <p:cNvSpPr/>
          <p:nvPr/>
        </p:nvSpPr>
        <p:spPr>
          <a:xfrm>
            <a:off x="7272320" y="8750083"/>
            <a:ext cx="4786687" cy="1645424"/>
          </a:xfrm>
          <a:custGeom>
            <a:avLst/>
            <a:gdLst/>
            <a:ahLst/>
            <a:cxnLst/>
            <a:rect l="l" t="t" r="r" b="b"/>
            <a:pathLst>
              <a:path w="4786687" h="1645424" extrusionOk="0">
                <a:moveTo>
                  <a:pt x="0" y="0"/>
                </a:moveTo>
                <a:lnTo>
                  <a:pt x="4786687" y="0"/>
                </a:lnTo>
                <a:lnTo>
                  <a:pt x="4786687" y="1645423"/>
                </a:lnTo>
                <a:lnTo>
                  <a:pt x="0" y="1645423"/>
                </a:lnTo>
                <a:lnTo>
                  <a:pt x="0" y="0"/>
                </a:lnTo>
                <a:close/>
              </a:path>
            </a:pathLst>
          </a:custGeom>
          <a:blipFill rotWithShape="1">
            <a:blip r:embed="rId4">
              <a:alphaModFix/>
            </a:blip>
            <a:stretch>
              <a:fillRect/>
            </a:stretch>
          </a:blipFill>
          <a:ln>
            <a:noFill/>
          </a:ln>
        </p:spPr>
        <p:txBody>
          <a:bodyPr/>
          <a:lstStyle/>
          <a:p>
            <a:endParaRPr lang="en-US"/>
          </a:p>
        </p:txBody>
      </p:sp>
      <p:sp>
        <p:nvSpPr>
          <p:cNvPr id="926" name="Google Shape;926;p74"/>
          <p:cNvSpPr txBox="1"/>
          <p:nvPr/>
        </p:nvSpPr>
        <p:spPr>
          <a:xfrm>
            <a:off x="635125" y="309475"/>
            <a:ext cx="16839600" cy="10005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6500">
                <a:solidFill>
                  <a:srgbClr val="FFFFFF"/>
                </a:solidFill>
                <a:latin typeface="Yeseva One"/>
                <a:ea typeface="Yeseva One"/>
                <a:cs typeface="Yeseva One"/>
                <a:sym typeface="Yeseva One"/>
              </a:rPr>
              <a:t>What is our schools water quality like?</a:t>
            </a:r>
            <a:endParaRPr sz="65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98AC5"/>
        </a:solidFill>
        <a:effectLst/>
      </p:bgPr>
    </p:bg>
    <p:spTree>
      <p:nvGrpSpPr>
        <p:cNvPr id="1" name="Shape 930"/>
        <p:cNvGrpSpPr/>
        <p:nvPr/>
      </p:nvGrpSpPr>
      <p:grpSpPr>
        <a:xfrm>
          <a:off x="0" y="0"/>
          <a:ext cx="0" cy="0"/>
          <a:chOff x="0" y="0"/>
          <a:chExt cx="0" cy="0"/>
        </a:xfrm>
      </p:grpSpPr>
      <p:grpSp>
        <p:nvGrpSpPr>
          <p:cNvPr id="931" name="Google Shape;931;p75"/>
          <p:cNvGrpSpPr/>
          <p:nvPr/>
        </p:nvGrpSpPr>
        <p:grpSpPr>
          <a:xfrm>
            <a:off x="-2" y="-2363876"/>
            <a:ext cx="18480989" cy="4727752"/>
            <a:chOff x="0" y="0"/>
            <a:chExt cx="24641318" cy="6303670"/>
          </a:xfrm>
        </p:grpSpPr>
        <p:sp>
          <p:nvSpPr>
            <p:cNvPr id="932" name="Google Shape;932;p75"/>
            <p:cNvSpPr/>
            <p:nvPr/>
          </p:nvSpPr>
          <p:spPr>
            <a:xfrm rot="10800000">
              <a:off x="0" y="0"/>
              <a:ext cx="12746392" cy="6303670"/>
            </a:xfrm>
            <a:custGeom>
              <a:avLst/>
              <a:gdLst/>
              <a:ahLst/>
              <a:cxnLst/>
              <a:rect l="l" t="t" r="r" b="b"/>
              <a:pathLst>
                <a:path w="12746392" h="6303670" extrusionOk="0">
                  <a:moveTo>
                    <a:pt x="0" y="0"/>
                  </a:moveTo>
                  <a:lnTo>
                    <a:pt x="12746392" y="0"/>
                  </a:lnTo>
                  <a:lnTo>
                    <a:pt x="12746392" y="6303670"/>
                  </a:lnTo>
                  <a:lnTo>
                    <a:pt x="0" y="6303670"/>
                  </a:lnTo>
                  <a:lnTo>
                    <a:pt x="0" y="0"/>
                  </a:lnTo>
                  <a:close/>
                </a:path>
              </a:pathLst>
            </a:custGeom>
            <a:blipFill rotWithShape="1">
              <a:blip r:embed="rId3">
                <a:alphaModFix/>
              </a:blip>
              <a:stretch>
                <a:fillRect/>
              </a:stretch>
            </a:blipFill>
            <a:ln>
              <a:noFill/>
            </a:ln>
          </p:spPr>
          <p:txBody>
            <a:bodyPr/>
            <a:lstStyle/>
            <a:p>
              <a:endParaRPr lang="en-US"/>
            </a:p>
          </p:txBody>
        </p:sp>
        <p:sp>
          <p:nvSpPr>
            <p:cNvPr id="933" name="Google Shape;933;p75"/>
            <p:cNvSpPr/>
            <p:nvPr/>
          </p:nvSpPr>
          <p:spPr>
            <a:xfrm rot="10800000" flipH="1">
              <a:off x="12746392" y="210544"/>
              <a:ext cx="11894926" cy="5882581"/>
            </a:xfrm>
            <a:custGeom>
              <a:avLst/>
              <a:gdLst/>
              <a:ahLst/>
              <a:cxnLst/>
              <a:rect l="l" t="t" r="r" b="b"/>
              <a:pathLst>
                <a:path w="11894926" h="5882581" extrusionOk="0">
                  <a:moveTo>
                    <a:pt x="11894926" y="0"/>
                  </a:moveTo>
                  <a:lnTo>
                    <a:pt x="0" y="0"/>
                  </a:lnTo>
                  <a:lnTo>
                    <a:pt x="0" y="5882582"/>
                  </a:lnTo>
                  <a:lnTo>
                    <a:pt x="11894926" y="5882582"/>
                  </a:lnTo>
                  <a:lnTo>
                    <a:pt x="11894926" y="0"/>
                  </a:lnTo>
                  <a:close/>
                </a:path>
              </a:pathLst>
            </a:custGeom>
            <a:blipFill rotWithShape="1">
              <a:blip r:embed="rId3">
                <a:alphaModFix/>
              </a:blip>
              <a:stretch>
                <a:fillRect/>
              </a:stretch>
            </a:blipFill>
            <a:ln>
              <a:noFill/>
            </a:ln>
          </p:spPr>
          <p:txBody>
            <a:bodyPr/>
            <a:lstStyle/>
            <a:p>
              <a:endParaRPr lang="en-US"/>
            </a:p>
          </p:txBody>
        </p:sp>
      </p:grpSp>
      <p:sp>
        <p:nvSpPr>
          <p:cNvPr id="934" name="Google Shape;934;p75"/>
          <p:cNvSpPr/>
          <p:nvPr/>
        </p:nvSpPr>
        <p:spPr>
          <a:xfrm>
            <a:off x="366350" y="3226200"/>
            <a:ext cx="8211264" cy="5757095"/>
          </a:xfrm>
          <a:custGeom>
            <a:avLst/>
            <a:gdLst/>
            <a:ahLst/>
            <a:cxnLst/>
            <a:rect l="l" t="t" r="r" b="b"/>
            <a:pathLst>
              <a:path w="3365272" h="2798102" extrusionOk="0">
                <a:moveTo>
                  <a:pt x="3354788" y="27234"/>
                </a:moveTo>
                <a:cubicBezTo>
                  <a:pt x="3345898" y="23424"/>
                  <a:pt x="3337008" y="20884"/>
                  <a:pt x="3328118" y="20884"/>
                </a:cubicBezTo>
                <a:cubicBezTo>
                  <a:pt x="3301448" y="19614"/>
                  <a:pt x="3251664" y="19614"/>
                  <a:pt x="3196923" y="17074"/>
                </a:cubicBezTo>
                <a:cubicBezTo>
                  <a:pt x="3071801" y="11994"/>
                  <a:pt x="2949286" y="5644"/>
                  <a:pt x="2824164" y="3104"/>
                </a:cubicBezTo>
                <a:cubicBezTo>
                  <a:pt x="2722503" y="564"/>
                  <a:pt x="2623448" y="3104"/>
                  <a:pt x="2521787" y="1834"/>
                </a:cubicBezTo>
                <a:cubicBezTo>
                  <a:pt x="2477473" y="1834"/>
                  <a:pt x="2433159" y="-706"/>
                  <a:pt x="2388845" y="1834"/>
                </a:cubicBezTo>
                <a:cubicBezTo>
                  <a:pt x="2281970" y="9454"/>
                  <a:pt x="2175096" y="10724"/>
                  <a:pt x="2065614" y="8184"/>
                </a:cubicBezTo>
                <a:cubicBezTo>
                  <a:pt x="2010873" y="6914"/>
                  <a:pt x="1956133" y="6914"/>
                  <a:pt x="1901392" y="6914"/>
                </a:cubicBezTo>
                <a:cubicBezTo>
                  <a:pt x="1802337" y="6914"/>
                  <a:pt x="1703282" y="6914"/>
                  <a:pt x="1604228" y="5644"/>
                </a:cubicBezTo>
                <a:cubicBezTo>
                  <a:pt x="1499960" y="4374"/>
                  <a:pt x="472919" y="1834"/>
                  <a:pt x="371258" y="564"/>
                </a:cubicBezTo>
                <a:cubicBezTo>
                  <a:pt x="287843" y="-706"/>
                  <a:pt x="207035" y="564"/>
                  <a:pt x="123621" y="564"/>
                </a:cubicBezTo>
                <a:cubicBezTo>
                  <a:pt x="66273" y="564"/>
                  <a:pt x="33020" y="3104"/>
                  <a:pt x="5080" y="4374"/>
                </a:cubicBezTo>
                <a:cubicBezTo>
                  <a:pt x="3810" y="4374"/>
                  <a:pt x="2540" y="6914"/>
                  <a:pt x="0" y="8184"/>
                </a:cubicBezTo>
                <a:cubicBezTo>
                  <a:pt x="1270" y="20884"/>
                  <a:pt x="3810" y="33584"/>
                  <a:pt x="5080" y="46284"/>
                </a:cubicBezTo>
                <a:cubicBezTo>
                  <a:pt x="15240" y="153470"/>
                  <a:pt x="16510" y="275864"/>
                  <a:pt x="17780" y="396110"/>
                </a:cubicBezTo>
                <a:cubicBezTo>
                  <a:pt x="19050" y="518503"/>
                  <a:pt x="17780" y="640896"/>
                  <a:pt x="16510" y="765437"/>
                </a:cubicBezTo>
                <a:cubicBezTo>
                  <a:pt x="15240" y="892125"/>
                  <a:pt x="2540" y="2221273"/>
                  <a:pt x="2540" y="2347961"/>
                </a:cubicBezTo>
                <a:cubicBezTo>
                  <a:pt x="2540" y="2472501"/>
                  <a:pt x="1270" y="2597042"/>
                  <a:pt x="0" y="2721583"/>
                </a:cubicBezTo>
                <a:cubicBezTo>
                  <a:pt x="0" y="2743492"/>
                  <a:pt x="3810" y="2753652"/>
                  <a:pt x="15240" y="2758732"/>
                </a:cubicBezTo>
                <a:cubicBezTo>
                  <a:pt x="22860" y="2762542"/>
                  <a:pt x="31750" y="2765082"/>
                  <a:pt x="40640" y="2766352"/>
                </a:cubicBezTo>
                <a:cubicBezTo>
                  <a:pt x="121014" y="2771432"/>
                  <a:pt x="220069" y="2775242"/>
                  <a:pt x="319123" y="2780322"/>
                </a:cubicBezTo>
                <a:cubicBezTo>
                  <a:pt x="373864" y="2782862"/>
                  <a:pt x="428605" y="2787942"/>
                  <a:pt x="483346" y="2789212"/>
                </a:cubicBezTo>
                <a:cubicBezTo>
                  <a:pt x="574580" y="2791752"/>
                  <a:pt x="1591194" y="2793022"/>
                  <a:pt x="1682429" y="2794292"/>
                </a:cubicBezTo>
                <a:cubicBezTo>
                  <a:pt x="1695462" y="2794292"/>
                  <a:pt x="1708496" y="2794292"/>
                  <a:pt x="1721529" y="2794292"/>
                </a:cubicBezTo>
                <a:cubicBezTo>
                  <a:pt x="1784090" y="2794292"/>
                  <a:pt x="1849258" y="2793022"/>
                  <a:pt x="1911818" y="2793022"/>
                </a:cubicBezTo>
                <a:cubicBezTo>
                  <a:pt x="1984806" y="2793022"/>
                  <a:pt x="2055187" y="2794292"/>
                  <a:pt x="2128175" y="2794292"/>
                </a:cubicBezTo>
                <a:cubicBezTo>
                  <a:pt x="2235049" y="2794292"/>
                  <a:pt x="2344531" y="2794292"/>
                  <a:pt x="2451406" y="2794292"/>
                </a:cubicBezTo>
                <a:cubicBezTo>
                  <a:pt x="2550460" y="2794292"/>
                  <a:pt x="2649515" y="2795562"/>
                  <a:pt x="2748570" y="2796832"/>
                </a:cubicBezTo>
                <a:cubicBezTo>
                  <a:pt x="2792884" y="2796832"/>
                  <a:pt x="2839805" y="2798102"/>
                  <a:pt x="2884118" y="2798102"/>
                </a:cubicBezTo>
                <a:cubicBezTo>
                  <a:pt x="3027487" y="2796832"/>
                  <a:pt x="3168249" y="2790482"/>
                  <a:pt x="3305258" y="2790482"/>
                </a:cubicBezTo>
                <a:cubicBezTo>
                  <a:pt x="3309068" y="2790482"/>
                  <a:pt x="3314148" y="2787942"/>
                  <a:pt x="3317958" y="2785402"/>
                </a:cubicBezTo>
                <a:cubicBezTo>
                  <a:pt x="3323038" y="2781592"/>
                  <a:pt x="3325578" y="2775242"/>
                  <a:pt x="3328118" y="2772702"/>
                </a:cubicBezTo>
                <a:cubicBezTo>
                  <a:pt x="3329388" y="2706552"/>
                  <a:pt x="3330658" y="2616367"/>
                  <a:pt x="3331928" y="2526183"/>
                </a:cubicBezTo>
                <a:cubicBezTo>
                  <a:pt x="3333198" y="2386611"/>
                  <a:pt x="3343358" y="1046727"/>
                  <a:pt x="3344628" y="907155"/>
                </a:cubicBezTo>
                <a:cubicBezTo>
                  <a:pt x="3344628" y="823413"/>
                  <a:pt x="3345898" y="739670"/>
                  <a:pt x="3347168" y="655927"/>
                </a:cubicBezTo>
                <a:cubicBezTo>
                  <a:pt x="3348438" y="565742"/>
                  <a:pt x="3349708" y="475558"/>
                  <a:pt x="3352248" y="385373"/>
                </a:cubicBezTo>
                <a:cubicBezTo>
                  <a:pt x="3353518" y="331692"/>
                  <a:pt x="3353518" y="275863"/>
                  <a:pt x="3358598" y="222182"/>
                </a:cubicBezTo>
                <a:cubicBezTo>
                  <a:pt x="3363678" y="157765"/>
                  <a:pt x="3366218" y="95494"/>
                  <a:pt x="3364948" y="43744"/>
                </a:cubicBezTo>
                <a:cubicBezTo>
                  <a:pt x="3364948" y="37394"/>
                  <a:pt x="3361138" y="29774"/>
                  <a:pt x="3354788" y="27234"/>
                </a:cubicBezTo>
                <a:close/>
              </a:path>
            </a:pathLst>
          </a:custGeom>
          <a:solidFill>
            <a:srgbClr val="EAF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75"/>
          <p:cNvSpPr txBox="1"/>
          <p:nvPr/>
        </p:nvSpPr>
        <p:spPr>
          <a:xfrm>
            <a:off x="1857678" y="1523131"/>
            <a:ext cx="14469300" cy="1308300"/>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8499">
                <a:solidFill>
                  <a:srgbClr val="FFFFFF"/>
                </a:solidFill>
                <a:latin typeface="Yeseva One"/>
                <a:ea typeface="Yeseva One"/>
                <a:cs typeface="Yeseva One"/>
                <a:sym typeface="Yeseva One"/>
              </a:rPr>
              <a:t>Improving water access</a:t>
            </a:r>
            <a:endParaRPr/>
          </a:p>
        </p:txBody>
      </p:sp>
      <p:sp>
        <p:nvSpPr>
          <p:cNvPr id="936" name="Google Shape;936;p75"/>
          <p:cNvSpPr txBox="1"/>
          <p:nvPr/>
        </p:nvSpPr>
        <p:spPr>
          <a:xfrm>
            <a:off x="732700" y="3429000"/>
            <a:ext cx="7841100" cy="5064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500" b="1">
                <a:solidFill>
                  <a:srgbClr val="2B6CB6"/>
                </a:solidFill>
                <a:latin typeface="Nunito"/>
                <a:ea typeface="Nunito"/>
                <a:cs typeface="Nunito"/>
                <a:sym typeface="Nunito"/>
              </a:rPr>
              <a:t>Whilst watching this video from World Vision, answer the following:</a:t>
            </a:r>
            <a:endParaRPr sz="3500" b="1">
              <a:solidFill>
                <a:srgbClr val="2B6CB6"/>
              </a:solidFill>
              <a:latin typeface="Nunito"/>
              <a:ea typeface="Nunito"/>
              <a:cs typeface="Nunito"/>
              <a:sym typeface="Nunito"/>
            </a:endParaRPr>
          </a:p>
          <a:p>
            <a:pPr marL="457200" marR="0" lvl="0" indent="-450850" algn="l" rtl="0">
              <a:lnSpc>
                <a:spcPct val="120000"/>
              </a:lnSpc>
              <a:spcBef>
                <a:spcPts val="0"/>
              </a:spcBef>
              <a:spcAft>
                <a:spcPts val="0"/>
              </a:spcAft>
              <a:buClr>
                <a:srgbClr val="2B6CB6"/>
              </a:buClr>
              <a:buSzPts val="3500"/>
              <a:buFont typeface="Nunito"/>
              <a:buAutoNum type="arabicPeriod"/>
            </a:pPr>
            <a:r>
              <a:rPr lang="en-US" sz="3500" b="1">
                <a:solidFill>
                  <a:srgbClr val="2B6CB6"/>
                </a:solidFill>
                <a:latin typeface="Nunito"/>
                <a:ea typeface="Nunito"/>
                <a:cs typeface="Nunito"/>
                <a:sym typeface="Nunito"/>
              </a:rPr>
              <a:t>How can improved water access improve the wellbeing of people and communities? </a:t>
            </a:r>
            <a:endParaRPr sz="3500" b="1">
              <a:solidFill>
                <a:srgbClr val="2B6CB6"/>
              </a:solidFill>
              <a:latin typeface="Nunito"/>
              <a:ea typeface="Nunito"/>
              <a:cs typeface="Nunito"/>
              <a:sym typeface="Nunito"/>
            </a:endParaRPr>
          </a:p>
          <a:p>
            <a:pPr marL="457200" marR="0" lvl="0" indent="0" algn="l" rtl="0">
              <a:lnSpc>
                <a:spcPct val="120000"/>
              </a:lnSpc>
              <a:spcBef>
                <a:spcPts val="0"/>
              </a:spcBef>
              <a:spcAft>
                <a:spcPts val="0"/>
              </a:spcAft>
              <a:buNone/>
            </a:pPr>
            <a:endParaRPr sz="3500" b="1">
              <a:solidFill>
                <a:srgbClr val="2B6CB6"/>
              </a:solidFill>
              <a:latin typeface="Nunito"/>
              <a:ea typeface="Nunito"/>
              <a:cs typeface="Nunito"/>
              <a:sym typeface="Nunito"/>
            </a:endParaRPr>
          </a:p>
          <a:p>
            <a:pPr marL="457200" marR="0" lvl="0" indent="-450850" algn="l" rtl="0">
              <a:lnSpc>
                <a:spcPct val="120000"/>
              </a:lnSpc>
              <a:spcBef>
                <a:spcPts val="0"/>
              </a:spcBef>
              <a:spcAft>
                <a:spcPts val="0"/>
              </a:spcAft>
              <a:buClr>
                <a:srgbClr val="2B6CB6"/>
              </a:buClr>
              <a:buSzPts val="3500"/>
              <a:buFont typeface="Nunito"/>
              <a:buAutoNum type="arabicPeriod"/>
            </a:pPr>
            <a:r>
              <a:rPr lang="en-US" sz="3500" b="1">
                <a:solidFill>
                  <a:srgbClr val="2B6CB6"/>
                </a:solidFill>
                <a:latin typeface="Nunito"/>
                <a:ea typeface="Nunito"/>
                <a:cs typeface="Nunito"/>
                <a:sym typeface="Nunito"/>
              </a:rPr>
              <a:t>How do organisations improve water access?</a:t>
            </a:r>
            <a:endParaRPr sz="3500" b="1">
              <a:solidFill>
                <a:srgbClr val="2B6CB6"/>
              </a:solidFill>
              <a:latin typeface="Nunito"/>
              <a:ea typeface="Nunito"/>
              <a:cs typeface="Nunito"/>
              <a:sym typeface="Nunito"/>
            </a:endParaRPr>
          </a:p>
        </p:txBody>
      </p:sp>
      <p:grpSp>
        <p:nvGrpSpPr>
          <p:cNvPr id="937" name="Google Shape;937;p75"/>
          <p:cNvGrpSpPr/>
          <p:nvPr/>
        </p:nvGrpSpPr>
        <p:grpSpPr>
          <a:xfrm rot="10800000">
            <a:off x="-192995" y="8466567"/>
            <a:ext cx="18480995" cy="5124884"/>
            <a:chOff x="0" y="0"/>
            <a:chExt cx="24641326" cy="6303670"/>
          </a:xfrm>
        </p:grpSpPr>
        <p:sp>
          <p:nvSpPr>
            <p:cNvPr id="938" name="Google Shape;938;p75"/>
            <p:cNvSpPr/>
            <p:nvPr/>
          </p:nvSpPr>
          <p:spPr>
            <a:xfrm rot="10800000">
              <a:off x="0" y="0"/>
              <a:ext cx="12746392" cy="6303670"/>
            </a:xfrm>
            <a:custGeom>
              <a:avLst/>
              <a:gdLst/>
              <a:ahLst/>
              <a:cxnLst/>
              <a:rect l="l" t="t" r="r" b="b"/>
              <a:pathLst>
                <a:path w="12746392" h="6303670" extrusionOk="0">
                  <a:moveTo>
                    <a:pt x="0" y="0"/>
                  </a:moveTo>
                  <a:lnTo>
                    <a:pt x="12746392" y="0"/>
                  </a:lnTo>
                  <a:lnTo>
                    <a:pt x="12746392" y="6303670"/>
                  </a:lnTo>
                  <a:lnTo>
                    <a:pt x="0" y="6303670"/>
                  </a:lnTo>
                  <a:lnTo>
                    <a:pt x="0" y="0"/>
                  </a:lnTo>
                  <a:close/>
                </a:path>
              </a:pathLst>
            </a:custGeom>
            <a:blipFill rotWithShape="1">
              <a:blip r:embed="rId3">
                <a:alphaModFix/>
              </a:blip>
              <a:stretch>
                <a:fillRect/>
              </a:stretch>
            </a:blipFill>
            <a:ln>
              <a:noFill/>
            </a:ln>
          </p:spPr>
          <p:txBody>
            <a:bodyPr/>
            <a:lstStyle/>
            <a:p>
              <a:endParaRPr lang="en-US"/>
            </a:p>
          </p:txBody>
        </p:sp>
        <p:sp>
          <p:nvSpPr>
            <p:cNvPr id="939" name="Google Shape;939;p75"/>
            <p:cNvSpPr/>
            <p:nvPr/>
          </p:nvSpPr>
          <p:spPr>
            <a:xfrm rot="10800000" flipH="1">
              <a:off x="12746400" y="211044"/>
              <a:ext cx="11894926" cy="5264910"/>
            </a:xfrm>
            <a:custGeom>
              <a:avLst/>
              <a:gdLst/>
              <a:ahLst/>
              <a:cxnLst/>
              <a:rect l="l" t="t" r="r" b="b"/>
              <a:pathLst>
                <a:path w="11894926" h="5882581" extrusionOk="0">
                  <a:moveTo>
                    <a:pt x="11894926" y="0"/>
                  </a:moveTo>
                  <a:lnTo>
                    <a:pt x="0" y="0"/>
                  </a:lnTo>
                  <a:lnTo>
                    <a:pt x="0" y="5882582"/>
                  </a:lnTo>
                  <a:lnTo>
                    <a:pt x="11894926" y="5882582"/>
                  </a:lnTo>
                  <a:lnTo>
                    <a:pt x="11894926" y="0"/>
                  </a:lnTo>
                  <a:close/>
                </a:path>
              </a:pathLst>
            </a:custGeom>
            <a:blipFill rotWithShape="1">
              <a:blip r:embed="rId3">
                <a:alphaModFix/>
              </a:blip>
              <a:stretch>
                <a:fillRect/>
              </a:stretch>
            </a:blipFill>
            <a:ln>
              <a:noFill/>
            </a:ln>
          </p:spPr>
          <p:txBody>
            <a:bodyPr/>
            <a:lstStyle/>
            <a:p>
              <a:endParaRPr lang="en-US"/>
            </a:p>
          </p:txBody>
        </p:sp>
      </p:grpSp>
      <p:pic>
        <p:nvPicPr>
          <p:cNvPr id="940" name="Google Shape;940;p75" descr="Access to clean water doesn’t just save lives – it keeps children in school, improves education and equality for women, and helps communities to become self-sufficient.&#10;&#10;But globally, 780 million people still lack access to clean drinking water. Every day, over 800 children die from dirty water due to diarrhoea caused by poor water, sanitation and hygiene and scarce or unreliable water and sanitation facilities in communities around the world. &#10;&#10;With our partners, field workers and volunteers, World Vision seeks to overcome water scarcity by providing clean water to all. For every 10 seconds, we reach one new person with clean water. In 2015, we reached 2.37 million people with clean water, more people than any other non-governmental organisation.&#10;&#10;By 2030, we want to reach as many people possible through our work. Join us as we continue to bring clean water to people all over the world.&#10;&#10;Visit worldvision.com.au/50years for more stories from 50 years of change. #WVA50years&#10;________________________________&#10;&#10;SUBSCRIBE to World Vision Australia: https://goo.gl/3ZGW2w&#10;&#10;Sponsor a child today: https://www.worldvision.com.au/sponsor-a-child&#10;&#10;Connect with World Vision Australia:&#10;Website: https://www.worldvision.com.au/&#10;Blog: http://blog.worldvision.com.au/&#10;Facebook: https://www.facebook.com/WorldVisionAustralia&#10;Twitter: https://twitter.com/WorldVisionAus&#10;Instagram: https://www.instagram.com/worldvisionaus/&#10;LinkedIn: https://www.linkedin.com/company/world-vision-australia/&#10;Pinterest: https://in.pinterest.com/worldvisionaust/" title="Water Scarcity: Our Fight Towards Clean Water for All | World Vision Australia">
            <a:hlinkClick r:id="rId4"/>
          </p:cNvPr>
          <p:cNvPicPr preferRelativeResize="0"/>
          <p:nvPr/>
        </p:nvPicPr>
        <p:blipFill>
          <a:blip r:embed="rId5">
            <a:alphaModFix/>
          </a:blip>
          <a:stretch>
            <a:fillRect/>
          </a:stretch>
        </p:blipFill>
        <p:spPr>
          <a:xfrm>
            <a:off x="8724393" y="3504364"/>
            <a:ext cx="8665250" cy="50375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0"/>
                                        </p:tgtEl>
                                        <p:attrNameLst>
                                          <p:attrName>style.visibility</p:attrName>
                                        </p:attrNameLst>
                                      </p:cBhvr>
                                      <p:to>
                                        <p:strVal val="visible"/>
                                      </p:to>
                                    </p:set>
                                    <p:animEffect transition="in" filter="fade">
                                      <p:cBhvr>
                                        <p:cTn id="7" dur="1000"/>
                                        <p:tgtEl>
                                          <p:spTgt spid="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4707</Words>
  <Application>Microsoft Macintosh PowerPoint</Application>
  <PresentationFormat>Custom</PresentationFormat>
  <Paragraphs>427</Paragraphs>
  <Slides>81</Slides>
  <Notes>81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Impact</vt:lpstr>
      <vt:lpstr>Yeseva One</vt:lpstr>
      <vt:lpstr>Arial</vt:lpstr>
      <vt:lpstr>Calibri</vt:lpstr>
      <vt:lpstr>Nunito Sans</vt:lpstr>
      <vt:lpstr>Poppins</vt:lpstr>
      <vt:lpstr>Nunito</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Lorraine Chaffer</cp:lastModifiedBy>
  <cp:revision>6</cp:revision>
  <dcterms:modified xsi:type="dcterms:W3CDTF">2026-02-10T12:40:39Z</dcterms:modified>
</cp:coreProperties>
</file>
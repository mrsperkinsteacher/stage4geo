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287" r:id="rId33"/>
    <p:sldId id="288" r:id="rId34"/>
    <p:sldId id="289" r:id="rId35"/>
  </p:sldIdLst>
  <p:sldSz cx="18288000" cy="10287000"/>
  <p:notesSz cx="6858000" cy="9144000"/>
  <p:embeddedFontLst>
    <p:embeddedFont>
      <p:font typeface="Comic Sans MS" panose="030F0902030302020204" pitchFamily="66" charset="0"/>
      <p:regular r:id="rId84"/>
    </p:embeddedFont>
    <p:embeddedFont>
      <p:font typeface="Impact" panose="020B0806030902050204" pitchFamily="34" charset="0"/>
      <p:regular r:id="rId85"/>
    </p:embeddedFont>
    <p:embeddedFont>
      <p:font typeface="Nunito" pitchFamily="2" charset="77"/>
      <p:regular r:id="rId86"/>
      <p:bold r:id="rId87"/>
      <p:italic r:id="rId88"/>
      <p:boldItalic r:id="rId89"/>
    </p:embeddedFont>
    <p:embeddedFont>
      <p:font typeface="Nunito Sans" pitchFamily="2" charset="77"/>
      <p:regular r:id="rId90"/>
      <p:bold r:id="rId91"/>
      <p:italic r:id="rId92"/>
      <p:boldItalic r:id="rId93"/>
    </p:embeddedFon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Yeseva One"/>
      <p:regular r:id="rId98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2160">
          <ns3:clr>
            <ns2:srgbClr val="000000"/>
          </ns3:clr>
        </ns3:guide>
        <ns3:guide id="2" pos="2880">
          <ns3:clr>
            <ns2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624FBE-0219-4BFE-B597-DF52CD3AB8CC}">
  <a:tblStyle styleId="{B9624FBE-0219-4BFE-B597-DF52CD3AB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4" Type="http://schemas.openxmlformats.org/officeDocument/2006/relationships/font" Target="fonts/font1.fntdata" /><ns0:Relationship Id="rId89" Type="http://schemas.openxmlformats.org/officeDocument/2006/relationships/font" Target="fonts/font6.fntdata" /><ns0:Relationship Id="rId102" Type="http://schemas.openxmlformats.org/officeDocument/2006/relationships/tableStyles" Target="tableStyles.xml" /><ns0:Relationship Id="rId90" Type="http://schemas.openxmlformats.org/officeDocument/2006/relationships/font" Target="fonts/font7.fntdata" /><ns0:Relationship Id="rId95" Type="http://schemas.openxmlformats.org/officeDocument/2006/relationships/font" Target="fonts/font12.fntdata" /><ns0:Relationship Id="rId85" Type="http://schemas.openxmlformats.org/officeDocument/2006/relationships/font" Target="fonts/font2.fntdata" /><ns0:Relationship Id="rId33" Type="http://schemas.openxmlformats.org/officeDocument/2006/relationships/slide" Target="slides/slide32.xml" /><ns0:Relationship Id="rId83" Type="http://schemas.openxmlformats.org/officeDocument/2006/relationships/notesMaster" Target="notesMasters/notesMaster1.xml" /><ns0:Relationship Id="rId88" Type="http://schemas.openxmlformats.org/officeDocument/2006/relationships/font" Target="fonts/font5.fntdata" /><ns0:Relationship Id="rId91" Type="http://schemas.openxmlformats.org/officeDocument/2006/relationships/font" Target="fonts/font8.fntdata" /><ns0:Relationship Id="rId96" Type="http://schemas.openxmlformats.org/officeDocument/2006/relationships/font" Target="fonts/font13.fntdata" /><ns0:Relationship Id="rId1" Type="http://schemas.openxmlformats.org/officeDocument/2006/relationships/slideMaster" Target="slideMasters/slideMaster1.xml" /><ns0:Relationship Id="rId86" Type="http://schemas.openxmlformats.org/officeDocument/2006/relationships/font" Target="fonts/font3.fntdata" /><ns0:Relationship Id="rId94" Type="http://schemas.openxmlformats.org/officeDocument/2006/relationships/font" Target="fonts/font11.fntdata" /><ns0:Relationship Id="rId99" Type="http://schemas.openxmlformats.org/officeDocument/2006/relationships/presProps" Target="presProps.xml" /><ns0:Relationship Id="rId101" Type="http://schemas.openxmlformats.org/officeDocument/2006/relationships/theme" Target="theme/theme1.xml" /><ns0:Relationship Id="rId34" Type="http://schemas.openxmlformats.org/officeDocument/2006/relationships/slide" Target="slides/slide33.xml" /><ns0:Relationship Id="rId97" Type="http://schemas.openxmlformats.org/officeDocument/2006/relationships/font" Target="fonts/font14.fntdata" /><ns0:Relationship Id="rId92" Type="http://schemas.openxmlformats.org/officeDocument/2006/relationships/font" Target="fonts/font9.fntdata" /><ns0:Relationship Id="rId87" Type="http://schemas.openxmlformats.org/officeDocument/2006/relationships/font" Target="fonts/font4.fntdata" /><ns0:Relationship Id="rId35" Type="http://schemas.openxmlformats.org/officeDocument/2006/relationships/slide" Target="slides/slide34.xml" /><ns0:Relationship Id="rId100" Type="http://schemas.openxmlformats.org/officeDocument/2006/relationships/viewProps" Target="viewProps.xml" /><ns0:Relationship Id="rId93" Type="http://schemas.openxmlformats.org/officeDocument/2006/relationships/font" Target="fonts/font10.fntdata" /><ns0:Relationship Id="rId98" Type="http://schemas.openxmlformats.org/officeDocument/2006/relationships/font" Target="fonts/font15.fntdata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e6d2bd0bf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g3ae6d2bd0bf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e6d2bd0bf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Worksheets 4.1</a:t>
            </a:r>
            <a:endParaRPr/>
          </a:p>
        </p:txBody>
      </p:sp>
      <p:sp>
        <p:nvSpPr>
          <p:cNvPr id="582" name="Google Shape;582;g3ae6d2bd0bf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e6d2bd0bf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Worksheets 4.2</a:t>
            </a:r>
            <a:endParaRPr/>
          </a:p>
        </p:txBody>
      </p:sp>
      <p:sp>
        <p:nvSpPr>
          <p:cNvPr id="598" name="Google Shape;598;g3ae6d2bd0bf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CFF1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4"/>
          <p:cNvSpPr/>
          <p:nvPr/>
        </p:nvSpPr>
        <p:spPr>
          <a:xfrm rot="-85926" flipH="1">
            <a:off x="3366781" y="2172845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9"/>
                </a:lnTo>
                <a:lnTo>
                  <a:pt x="2884699" y="1842329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9" name="Google Shape;569;p44"/>
          <p:cNvSpPr txBox="1"/>
          <p:nvPr/>
        </p:nvSpPr>
        <p:spPr>
          <a:xfrm>
            <a:off x="1900052" y="303086"/>
            <a:ext cx="144879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Values of water</a:t>
            </a:r>
            <a:endParaRPr/>
          </a:p>
        </p:txBody>
      </p:sp>
      <p:sp>
        <p:nvSpPr>
          <p:cNvPr id="570" name="Google Shape;570;p44"/>
          <p:cNvSpPr/>
          <p:nvPr/>
        </p:nvSpPr>
        <p:spPr>
          <a:xfrm>
            <a:off x="15634537" y="-307284"/>
            <a:ext cx="3249526" cy="1364801"/>
          </a:xfrm>
          <a:custGeom>
            <a:avLst/>
            <a:gdLst/>
            <a:ahLst/>
            <a:cxnLst/>
            <a:rect l="l" t="t" r="r" b="b"/>
            <a:pathLst>
              <a:path w="3249526" h="1364801" extrusionOk="0">
                <a:moveTo>
                  <a:pt x="0" y="0"/>
                </a:moveTo>
                <a:lnTo>
                  <a:pt x="3249526" y="0"/>
                </a:lnTo>
                <a:lnTo>
                  <a:pt x="3249526" y="1364801"/>
                </a:lnTo>
                <a:lnTo>
                  <a:pt x="0" y="136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1" name="Google Shape;571;p44"/>
          <p:cNvSpPr/>
          <p:nvPr/>
        </p:nvSpPr>
        <p:spPr>
          <a:xfrm rot="-85926" flipH="1">
            <a:off x="2582847" y="-160474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2" name="Google Shape;572;p44"/>
          <p:cNvSpPr/>
          <p:nvPr/>
        </p:nvSpPr>
        <p:spPr>
          <a:xfrm rot="-85926" flipH="1">
            <a:off x="16831592" y="1506867"/>
            <a:ext cx="2440147" cy="1558414"/>
          </a:xfrm>
          <a:custGeom>
            <a:avLst/>
            <a:gdLst/>
            <a:ahLst/>
            <a:cxnLst/>
            <a:rect l="l" t="t" r="r" b="b"/>
            <a:pathLst>
              <a:path w="2439385" h="1557927" extrusionOk="0">
                <a:moveTo>
                  <a:pt x="2439385" y="0"/>
                </a:moveTo>
                <a:lnTo>
                  <a:pt x="0" y="0"/>
                </a:lnTo>
                <a:lnTo>
                  <a:pt x="0" y="1557926"/>
                </a:lnTo>
                <a:lnTo>
                  <a:pt x="2439385" y="1557926"/>
                </a:lnTo>
                <a:lnTo>
                  <a:pt x="243938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3" name="Google Shape;573;p44"/>
          <p:cNvSpPr/>
          <p:nvPr/>
        </p:nvSpPr>
        <p:spPr>
          <a:xfrm rot="-85926" flipH="1">
            <a:off x="438790" y="35772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4" name="Google Shape;574;p44"/>
          <p:cNvSpPr txBox="1"/>
          <p:nvPr/>
        </p:nvSpPr>
        <p:spPr>
          <a:xfrm>
            <a:off x="1456477" y="1952144"/>
            <a:ext cx="15098976" cy="2033841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highlight>
                  <a:srgbClr val="FFFFFF"/>
                </a:highlight>
                <a:latin typeface="Nunito Sans"/>
                <a:ea typeface="Nunito Sans"/>
                <a:cs typeface="Nunito Sans"/>
                <a:sym typeface="Nunito Sans"/>
              </a:rPr>
              <a:t>Water matters for many different reasons, and understanding   its economic, cultural, spiritual and aesthetic value helps us recognise why it must be protected.</a:t>
            </a:r>
            <a:endParaRPr sz="40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75" name="Google Shape;575;p44"/>
          <p:cNvSpPr/>
          <p:nvPr/>
        </p:nvSpPr>
        <p:spPr>
          <a:xfrm>
            <a:off x="-651296" y="-257713"/>
            <a:ext cx="3013491" cy="1265666"/>
          </a:xfrm>
          <a:custGeom>
            <a:avLst/>
            <a:gdLst/>
            <a:ahLst/>
            <a:cxnLst/>
            <a:rect l="l" t="t" r="r" b="b"/>
            <a:pathLst>
              <a:path w="3013491" h="1265666" extrusionOk="0">
                <a:moveTo>
                  <a:pt x="0" y="0"/>
                </a:moveTo>
                <a:lnTo>
                  <a:pt x="3013491" y="0"/>
                </a:lnTo>
                <a:lnTo>
                  <a:pt x="3013491" y="1265666"/>
                </a:lnTo>
                <a:lnTo>
                  <a:pt x="0" y="126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6" name="Google Shape;576;p44"/>
          <p:cNvSpPr/>
          <p:nvPr/>
        </p:nvSpPr>
        <p:spPr>
          <a:xfrm>
            <a:off x="416202" y="4835175"/>
            <a:ext cx="4155900" cy="4499400"/>
          </a:xfrm>
          <a:prstGeom prst="roundRect">
            <a:avLst>
              <a:gd name="adj" fmla="val 16667"/>
            </a:avLst>
          </a:prstGeom>
          <a:solidFill>
            <a:srgbClr val="EAFA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Economic Value</a:t>
            </a:r>
            <a:endParaRPr sz="3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Water’s role in supporting jobs, industries and income, such as farming, energy production, tourism and manufacturing.</a:t>
            </a:r>
            <a:endParaRPr sz="3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4892952" y="4835175"/>
            <a:ext cx="4155900" cy="4499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Cultural Value</a:t>
            </a:r>
            <a:endParaRPr sz="3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importance of water in traditions, customs, stories and shared community practices that shape identity.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9369702" y="4835175"/>
            <a:ext cx="4155900" cy="44994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Spiritual Value</a:t>
            </a:r>
            <a:endParaRPr sz="3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Water as a sacred or meaningful element connected to beliefs, healing, reflection and connection to Country.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9" name="Google Shape;579;p44"/>
          <p:cNvSpPr/>
          <p:nvPr/>
        </p:nvSpPr>
        <p:spPr>
          <a:xfrm>
            <a:off x="13751202" y="4835175"/>
            <a:ext cx="4155900" cy="44994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Aesthetic Value</a:t>
            </a:r>
            <a:endParaRPr sz="30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beauty and enjoyment water adds to landscapes, creating places people find calming, inspiring or pleasant to visit.</a:t>
            </a:r>
            <a:endParaRPr sz="3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CFF1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5"/>
          <p:cNvSpPr/>
          <p:nvPr/>
        </p:nvSpPr>
        <p:spPr>
          <a:xfrm rot="-85926" flipH="1">
            <a:off x="3366781" y="2172845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9"/>
                </a:lnTo>
                <a:lnTo>
                  <a:pt x="2884699" y="1842329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5" name="Google Shape;585;p45"/>
          <p:cNvSpPr txBox="1"/>
          <p:nvPr/>
        </p:nvSpPr>
        <p:spPr>
          <a:xfrm>
            <a:off x="1900052" y="303086"/>
            <a:ext cx="144879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Values of water</a:t>
            </a:r>
            <a:endParaRPr/>
          </a:p>
        </p:txBody>
      </p:sp>
      <p:sp>
        <p:nvSpPr>
          <p:cNvPr id="586" name="Google Shape;586;p45"/>
          <p:cNvSpPr/>
          <p:nvPr/>
        </p:nvSpPr>
        <p:spPr>
          <a:xfrm>
            <a:off x="15634537" y="-307284"/>
            <a:ext cx="3249526" cy="1364801"/>
          </a:xfrm>
          <a:custGeom>
            <a:avLst/>
            <a:gdLst/>
            <a:ahLst/>
            <a:cxnLst/>
            <a:rect l="l" t="t" r="r" b="b"/>
            <a:pathLst>
              <a:path w="3249526" h="1364801" extrusionOk="0">
                <a:moveTo>
                  <a:pt x="0" y="0"/>
                </a:moveTo>
                <a:lnTo>
                  <a:pt x="3249526" y="0"/>
                </a:lnTo>
                <a:lnTo>
                  <a:pt x="3249526" y="1364801"/>
                </a:lnTo>
                <a:lnTo>
                  <a:pt x="0" y="136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7" name="Google Shape;587;p45"/>
          <p:cNvSpPr/>
          <p:nvPr/>
        </p:nvSpPr>
        <p:spPr>
          <a:xfrm rot="-85926" flipH="1">
            <a:off x="2500114" y="-271503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8" name="Google Shape;588;p45"/>
          <p:cNvSpPr/>
          <p:nvPr/>
        </p:nvSpPr>
        <p:spPr>
          <a:xfrm rot="-85926" flipH="1">
            <a:off x="16831592" y="1506867"/>
            <a:ext cx="2440147" cy="1558414"/>
          </a:xfrm>
          <a:custGeom>
            <a:avLst/>
            <a:gdLst/>
            <a:ahLst/>
            <a:cxnLst/>
            <a:rect l="l" t="t" r="r" b="b"/>
            <a:pathLst>
              <a:path w="2439385" h="1557927" extrusionOk="0">
                <a:moveTo>
                  <a:pt x="2439385" y="0"/>
                </a:moveTo>
                <a:lnTo>
                  <a:pt x="0" y="0"/>
                </a:lnTo>
                <a:lnTo>
                  <a:pt x="0" y="1557926"/>
                </a:lnTo>
                <a:lnTo>
                  <a:pt x="2439385" y="1557926"/>
                </a:lnTo>
                <a:lnTo>
                  <a:pt x="243938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9" name="Google Shape;589;p45"/>
          <p:cNvSpPr/>
          <p:nvPr/>
        </p:nvSpPr>
        <p:spPr>
          <a:xfrm rot="-85926" flipH="1">
            <a:off x="438790" y="35772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0" name="Google Shape;590;p45"/>
          <p:cNvSpPr txBox="1"/>
          <p:nvPr/>
        </p:nvSpPr>
        <p:spPr>
          <a:xfrm>
            <a:off x="1468325" y="2141325"/>
            <a:ext cx="14919600" cy="49311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 dirty="0">
                <a:solidFill>
                  <a:schemeClr val="dk1"/>
                </a:solidFill>
                <a:highlight>
                  <a:srgbClr val="FFFFFF"/>
                </a:highlight>
                <a:latin typeface="Nunito Sans"/>
                <a:ea typeface="Nunito Sans"/>
                <a:cs typeface="Nunito Sans"/>
                <a:sym typeface="Nunito Sans"/>
              </a:rPr>
              <a:t>Activity</a:t>
            </a:r>
            <a:endParaRPr sz="43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4300" b="1" dirty="0">
                <a:solidFill>
                  <a:schemeClr val="dk1"/>
                </a:solidFill>
                <a:highlight>
                  <a:srgbClr val="FFFFFF"/>
                </a:highlight>
                <a:latin typeface="Nunito Sans"/>
                <a:ea typeface="Nunito Sans"/>
                <a:cs typeface="Nunito Sans"/>
                <a:sym typeface="Nunito Sans"/>
              </a:rPr>
              <a:t>Each corner of the room has information about one of the values of water. You will be provided 5 minutes at each station to learn as much as possible about that value and complete the table. Afterwards, answer the questions.</a:t>
            </a:r>
            <a:endParaRPr sz="43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-651296" y="-257713"/>
            <a:ext cx="3013491" cy="1265666"/>
          </a:xfrm>
          <a:custGeom>
            <a:avLst/>
            <a:gdLst/>
            <a:ahLst/>
            <a:cxnLst/>
            <a:rect l="l" t="t" r="r" b="b"/>
            <a:pathLst>
              <a:path w="3013491" h="1265666" extrusionOk="0">
                <a:moveTo>
                  <a:pt x="0" y="0"/>
                </a:moveTo>
                <a:lnTo>
                  <a:pt x="3013491" y="0"/>
                </a:lnTo>
                <a:lnTo>
                  <a:pt x="3013491" y="1265666"/>
                </a:lnTo>
                <a:lnTo>
                  <a:pt x="0" y="126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2" name="Google Shape;592;p45"/>
          <p:cNvSpPr/>
          <p:nvPr/>
        </p:nvSpPr>
        <p:spPr>
          <a:xfrm>
            <a:off x="4747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EAFA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Economic Value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479910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Cultural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92758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Spiritual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136573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Aesthetic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CFF1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6"/>
          <p:cNvSpPr/>
          <p:nvPr/>
        </p:nvSpPr>
        <p:spPr>
          <a:xfrm rot="-85926" flipH="1">
            <a:off x="3366781" y="2172845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9"/>
                </a:lnTo>
                <a:lnTo>
                  <a:pt x="2884699" y="1842329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Google Shape;601;p46"/>
          <p:cNvSpPr txBox="1"/>
          <p:nvPr/>
        </p:nvSpPr>
        <p:spPr>
          <a:xfrm>
            <a:off x="1900052" y="303086"/>
            <a:ext cx="144879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Values of water</a:t>
            </a:r>
            <a:endParaRPr/>
          </a:p>
        </p:txBody>
      </p:sp>
      <p:sp>
        <p:nvSpPr>
          <p:cNvPr id="602" name="Google Shape;602;p46"/>
          <p:cNvSpPr/>
          <p:nvPr/>
        </p:nvSpPr>
        <p:spPr>
          <a:xfrm>
            <a:off x="15634537" y="-307284"/>
            <a:ext cx="3249526" cy="1364801"/>
          </a:xfrm>
          <a:custGeom>
            <a:avLst/>
            <a:gdLst/>
            <a:ahLst/>
            <a:cxnLst/>
            <a:rect l="l" t="t" r="r" b="b"/>
            <a:pathLst>
              <a:path w="3249526" h="1364801" extrusionOk="0">
                <a:moveTo>
                  <a:pt x="0" y="0"/>
                </a:moveTo>
                <a:lnTo>
                  <a:pt x="3249526" y="0"/>
                </a:lnTo>
                <a:lnTo>
                  <a:pt x="3249526" y="1364801"/>
                </a:lnTo>
                <a:lnTo>
                  <a:pt x="0" y="136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" name="Google Shape;603;p46"/>
          <p:cNvSpPr/>
          <p:nvPr/>
        </p:nvSpPr>
        <p:spPr>
          <a:xfrm rot="-85926" flipH="1">
            <a:off x="2500114" y="-271503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" name="Google Shape;604;p46"/>
          <p:cNvSpPr/>
          <p:nvPr/>
        </p:nvSpPr>
        <p:spPr>
          <a:xfrm rot="-85926" flipH="1">
            <a:off x="16831592" y="1506867"/>
            <a:ext cx="2440147" cy="1558414"/>
          </a:xfrm>
          <a:custGeom>
            <a:avLst/>
            <a:gdLst/>
            <a:ahLst/>
            <a:cxnLst/>
            <a:rect l="l" t="t" r="r" b="b"/>
            <a:pathLst>
              <a:path w="2439385" h="1557927" extrusionOk="0">
                <a:moveTo>
                  <a:pt x="2439385" y="0"/>
                </a:moveTo>
                <a:lnTo>
                  <a:pt x="0" y="0"/>
                </a:lnTo>
                <a:lnTo>
                  <a:pt x="0" y="1557926"/>
                </a:lnTo>
                <a:lnTo>
                  <a:pt x="2439385" y="1557926"/>
                </a:lnTo>
                <a:lnTo>
                  <a:pt x="243938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46"/>
          <p:cNvSpPr/>
          <p:nvPr/>
        </p:nvSpPr>
        <p:spPr>
          <a:xfrm rot="-85926" flipH="1">
            <a:off x="438790" y="35772"/>
            <a:ext cx="2885600" cy="1842905"/>
          </a:xfrm>
          <a:custGeom>
            <a:avLst/>
            <a:gdLst/>
            <a:ahLst/>
            <a:cxnLst/>
            <a:rect l="l" t="t" r="r" b="b"/>
            <a:pathLst>
              <a:path w="2884699" h="1842329" extrusionOk="0">
                <a:moveTo>
                  <a:pt x="2884699" y="0"/>
                </a:moveTo>
                <a:lnTo>
                  <a:pt x="0" y="0"/>
                </a:lnTo>
                <a:lnTo>
                  <a:pt x="0" y="1842328"/>
                </a:lnTo>
                <a:lnTo>
                  <a:pt x="2884699" y="1842328"/>
                </a:lnTo>
                <a:lnTo>
                  <a:pt x="288469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08988" t="-337" r="-140488" b="-3490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46"/>
          <p:cNvSpPr txBox="1"/>
          <p:nvPr/>
        </p:nvSpPr>
        <p:spPr>
          <a:xfrm>
            <a:off x="1684199" y="2600275"/>
            <a:ext cx="15448769" cy="4221300"/>
          </a:xfrm>
          <a:prstGeom prst="rect">
            <a:avLst/>
          </a:prstGeom>
          <a:solidFill>
            <a:schemeClr val="lt1"/>
          </a:solidFill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 dirty="0">
                <a:solidFill>
                  <a:schemeClr val="dk1"/>
                </a:solidFill>
                <a:highlight>
                  <a:srgbClr val="FFFFFF"/>
                </a:highlight>
                <a:latin typeface="Nunito Sans"/>
                <a:ea typeface="Nunito Sans"/>
                <a:cs typeface="Nunito Sans"/>
                <a:sym typeface="Nunito Sans"/>
              </a:rPr>
              <a:t>Activity</a:t>
            </a:r>
            <a:endParaRPr sz="43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43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4300" b="1" dirty="0">
                <a:solidFill>
                  <a:schemeClr val="dk1"/>
                </a:solidFill>
                <a:highlight>
                  <a:srgbClr val="FFFFFF"/>
                </a:highlight>
                <a:latin typeface="Nunito Sans"/>
                <a:ea typeface="Nunito Sans"/>
                <a:cs typeface="Nunito Sans"/>
                <a:sym typeface="Nunito Sans"/>
              </a:rPr>
              <a:t>Using the worksheet provided, summarise how each value of water is evident in your own life or community, including a description on why. </a:t>
            </a:r>
            <a:endParaRPr sz="4300" b="1" dirty="0">
              <a:solidFill>
                <a:schemeClr val="dk1"/>
              </a:solidFill>
              <a:highlight>
                <a:srgbClr val="FFFFFF"/>
              </a:highlight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-651296" y="-257713"/>
            <a:ext cx="3013491" cy="1265666"/>
          </a:xfrm>
          <a:custGeom>
            <a:avLst/>
            <a:gdLst/>
            <a:ahLst/>
            <a:cxnLst/>
            <a:rect l="l" t="t" r="r" b="b"/>
            <a:pathLst>
              <a:path w="3013491" h="1265666" extrusionOk="0">
                <a:moveTo>
                  <a:pt x="0" y="0"/>
                </a:moveTo>
                <a:lnTo>
                  <a:pt x="3013491" y="0"/>
                </a:lnTo>
                <a:lnTo>
                  <a:pt x="3013491" y="1265666"/>
                </a:lnTo>
                <a:lnTo>
                  <a:pt x="0" y="1265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" name="Google Shape;608;p46"/>
          <p:cNvSpPr/>
          <p:nvPr/>
        </p:nvSpPr>
        <p:spPr>
          <a:xfrm>
            <a:off x="4747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EAFA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Economic Value</a:t>
            </a:r>
            <a:endParaRPr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479910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Cultural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92758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Spiritual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13657350" y="7810500"/>
            <a:ext cx="4155900" cy="990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Aesthetic Value</a:t>
            </a:r>
            <a:endParaRPr sz="3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4707</Words>
  <Application>Microsoft Macintosh PowerPoint</Application>
  <PresentationFormat>Custom</PresentationFormat>
  <Paragraphs>427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Impact</vt:lpstr>
      <vt:lpstr>Yeseva One</vt:lpstr>
      <vt:lpstr>Arial</vt:lpstr>
      <vt:lpstr>Calibri</vt:lpstr>
      <vt:lpstr>Nunito Sans</vt:lpstr>
      <vt:lpstr>Poppins</vt:lpstr>
      <vt:lpstr>Nunito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Lorraine Chaffer</cp:lastModifiedBy>
  <cp:revision>6</cp:revision>
  <dcterms:modified xsi:type="dcterms:W3CDTF">2026-02-10T12:40:39Z</dcterms:modified>
</cp:coreProperties>
</file>
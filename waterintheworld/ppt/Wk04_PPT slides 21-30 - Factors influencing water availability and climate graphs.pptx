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ns2="http://schemas.openxmlformats.org/drawingml/2006/main" xmlns:ns3="http://schemas.microsoft.com/office/powerpoint/2012/main" xmlns:p="http://schemas.openxmlformats.org/presentationml/2006/main" xmlns:r="http://schemas.openxmlformats.org/officeDocument/2006/relationships" strictFirstAndLastChars="0" embedTrueTypeFonts="1" saveSubsetFonts="1" autoCompressPictures="0">
  <p:sldMasterIdLst>
    <p:sldMasterId id="2147483659" r:id="rId1"/>
  </p:sldMasterIdLst>
  <p:notesMasterIdLst>
    <p:notesMasterId r:id="rId83"/>
  </p:notesMasterIdLst>
  <p:sldIdLst>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Comic Sans MS" panose="030F0902030302020204" pitchFamily="66" charset="0"/>
      <p:regular r:id="rId84"/>
    </p:embeddedFont>
    <p:embeddedFont>
      <p:font typeface="Impact" panose="020B0806030902050204" pitchFamily="34" charset="0"/>
      <p:regular r:id="rId85"/>
    </p:embeddedFont>
    <p:embeddedFont>
      <p:font typeface="Nunito" pitchFamily="2" charset="77"/>
      <p:regular r:id="rId86"/>
      <p:bold r:id="rId87"/>
      <p:italic r:id="rId88"/>
      <p:boldItalic r:id="rId89"/>
    </p:embeddedFont>
    <p:embeddedFont>
      <p:font typeface="Nunito Sans" pitchFamily="2" charset="77"/>
      <p:regular r:id="rId90"/>
      <p:bold r:id="rId91"/>
      <p:italic r:id="rId92"/>
      <p:boldItalic r:id="rId93"/>
    </p:embeddedFont>
    <p:embeddedFont>
      <p:font typeface="Poppins" pitchFamily="2" charset="77"/>
      <p:regular r:id="rId94"/>
      <p:bold r:id="rId95"/>
      <p:italic r:id="rId96"/>
      <p:boldItalic r:id="rId97"/>
    </p:embeddedFont>
    <p:embeddedFont>
      <p:font typeface="Yeseva One"/>
      <p:regular r:id="rId98"/>
    </p:embeddedFont>
  </p:embeddedFontLst>
  <p:defaultTextStyle>
    <ns2:defPPr marR="0" lvl="0" algn="l" rtl="0">
      <ns2:lnSpc>
        <ns2:spcPct val="100000"/>
      </ns2:lnSpc>
      <ns2:spcBef>
        <ns2:spcPts val="0"/>
      </ns2:spcBef>
      <ns2:spcAft>
        <ns2:spcPts val="0"/>
      </ns2:spcAft>
    </ns2:defPPr>
    <ns2:lvl1pPr marR="0" lvl="0"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1pPr>
    <ns2:lvl2pPr marR="0" lvl="1"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2pPr>
    <ns2:lvl3pPr marR="0" lvl="2"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3pPr>
    <ns2:lvl4pPr marR="0" lvl="3"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4pPr>
    <ns2:lvl5pPr marR="0" lvl="4"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5pPr>
    <ns2:lvl6pPr marR="0" lvl="5"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6pPr>
    <ns2:lvl7pPr marR="0" lvl="6"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7pPr>
    <ns2:lvl8pPr marR="0" lvl="7"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8pPr>
    <ns2:lvl9pPr marR="0" lvl="8"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9pPr>
  </p:defaultTextStyle>
  <p:extLst>
    <p:ext uri="{EFAFB233-063F-42B5-8137-9DF3F51BA10A}">
      <ns3:sldGuideLst>
        <ns3:guide id="1" orient="horz" pos="2160">
          <ns3:clr>
            <ns2:srgbClr val="000000"/>
          </ns3:clr>
        </ns3:guide>
        <ns3:guide id="2" pos="2880">
          <ns3:clr>
            <ns2:srgbClr val="000000"/>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624FBE-0219-4BFE-B597-DF52CD3AB8CC}">
  <a:tblStyle styleId="{B9624FBE-0219-4BFE-B597-DF52CD3AB8C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0" d="100"/>
          <a:sy n="80" d="100"/>
        </p:scale>
        <p:origin x="824" y="2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26" Type="http://schemas.openxmlformats.org/officeDocument/2006/relationships/slide" Target="slides/slide25.xml" /><ns0:Relationship Id="rId84" Type="http://schemas.openxmlformats.org/officeDocument/2006/relationships/font" Target="fonts/font1.fntdata" /><ns0:Relationship Id="rId89" Type="http://schemas.openxmlformats.org/officeDocument/2006/relationships/font" Target="fonts/font6.fntdata" /><ns0:Relationship Id="rId102" Type="http://schemas.openxmlformats.org/officeDocument/2006/relationships/tableStyles" Target="tableStyles.xml" /><ns0:Relationship Id="rId90" Type="http://schemas.openxmlformats.org/officeDocument/2006/relationships/font" Target="fonts/font7.fntdata" /><ns0:Relationship Id="rId95" Type="http://schemas.openxmlformats.org/officeDocument/2006/relationships/font" Target="fonts/font12.fntdata" /><ns0:Relationship Id="rId22" Type="http://schemas.openxmlformats.org/officeDocument/2006/relationships/slide" Target="slides/slide21.xml" /><ns0:Relationship Id="rId27" Type="http://schemas.openxmlformats.org/officeDocument/2006/relationships/slide" Target="slides/slide26.xml" /><ns0:Relationship Id="rId85" Type="http://schemas.openxmlformats.org/officeDocument/2006/relationships/font" Target="fonts/font2.fntdata" /><ns0:Relationship Id="rId25" Type="http://schemas.openxmlformats.org/officeDocument/2006/relationships/slide" Target="slides/slide24.xml" /><ns0:Relationship Id="rId83" Type="http://schemas.openxmlformats.org/officeDocument/2006/relationships/notesMaster" Target="notesMasters/notesMaster1.xml" /><ns0:Relationship Id="rId88" Type="http://schemas.openxmlformats.org/officeDocument/2006/relationships/font" Target="fonts/font5.fntdata" /><ns0:Relationship Id="rId91" Type="http://schemas.openxmlformats.org/officeDocument/2006/relationships/font" Target="fonts/font8.fntdata" /><ns0:Relationship Id="rId96" Type="http://schemas.openxmlformats.org/officeDocument/2006/relationships/font" Target="fonts/font13.fntdata" /><ns0:Relationship Id="rId1" Type="http://schemas.openxmlformats.org/officeDocument/2006/relationships/slideMaster" Target="slideMasters/slideMaster1.xml" /><ns0:Relationship Id="rId23" Type="http://schemas.openxmlformats.org/officeDocument/2006/relationships/slide" Target="slides/slide22.xml" /><ns0:Relationship Id="rId28" Type="http://schemas.openxmlformats.org/officeDocument/2006/relationships/slide" Target="slides/slide27.xml" /><ns0:Relationship Id="rId31" Type="http://schemas.openxmlformats.org/officeDocument/2006/relationships/slide" Target="slides/slide30.xml" /><ns0:Relationship Id="rId86" Type="http://schemas.openxmlformats.org/officeDocument/2006/relationships/font" Target="fonts/font3.fntdata" /><ns0:Relationship Id="rId94" Type="http://schemas.openxmlformats.org/officeDocument/2006/relationships/font" Target="fonts/font11.fntdata" /><ns0:Relationship Id="rId99" Type="http://schemas.openxmlformats.org/officeDocument/2006/relationships/presProps" Target="presProps.xml" /><ns0:Relationship Id="rId101" Type="http://schemas.openxmlformats.org/officeDocument/2006/relationships/theme" Target="theme/theme1.xml" /><ns0:Relationship Id="rId97" Type="http://schemas.openxmlformats.org/officeDocument/2006/relationships/font" Target="fonts/font14.fntdata" /><ns0:Relationship Id="rId92" Type="http://schemas.openxmlformats.org/officeDocument/2006/relationships/font" Target="fonts/font9.fntdata" /><ns0:Relationship Id="rId29" Type="http://schemas.openxmlformats.org/officeDocument/2006/relationships/slide" Target="slides/slide28.xml" /><ns0:Relationship Id="rId24" Type="http://schemas.openxmlformats.org/officeDocument/2006/relationships/slide" Target="slides/slide23.xml" /><ns0:Relationship Id="rId87" Type="http://schemas.openxmlformats.org/officeDocument/2006/relationships/font" Target="fonts/font4.fntdata" /><ns0:Relationship Id="rId30" Type="http://schemas.openxmlformats.org/officeDocument/2006/relationships/slide" Target="slides/slide29.xml" /><ns0:Relationship Id="rId100" Type="http://schemas.openxmlformats.org/officeDocument/2006/relationships/viewProps" Target="viewProps.xml" /><ns0:Relationship Id="rId93" Type="http://schemas.openxmlformats.org/officeDocument/2006/relationships/font" Target="fonts/font10.fntdata" /><ns0:Relationship Id="rId98" Type="http://schemas.openxmlformats.org/officeDocument/2006/relationships/font" Target="fonts/font15.fntdata"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ae6d2bd0bf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9" name="Google Shape;419;g3ae6d2bd0bf_0_4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ae6d2bd0bf_0_5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g3ae6d2bd0bf_0_5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ae6d2bd0bf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g3ae6d2bd0bf_0_4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ae6d2bd0bf_0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g3ae6d2bd0bf_0_4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ae6d2bd0bf_0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1" name="Google Shape;481;g3ae6d2bd0bf_0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ae6d2bd0bf_0_9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ae6d2bd0bf_0_9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ae6d2bd0bf_0_4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5" name="Google Shape;505;g3ae6d2bd0bf_0_4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ae6d2bd0bf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3.1</a:t>
            </a:r>
            <a:endParaRPr/>
          </a:p>
        </p:txBody>
      </p:sp>
      <p:sp>
        <p:nvSpPr>
          <p:cNvPr id="523" name="Google Shape;523;g3ae6d2bd0bf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e6d2bd0bf_0_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2.2</a:t>
            </a:r>
            <a:endParaRPr/>
          </a:p>
        </p:txBody>
      </p:sp>
      <p:sp>
        <p:nvSpPr>
          <p:cNvPr id="532" name="Google Shape;532;g3ae6d2bd0bf_0_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ae6d2bd0bf_0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3.2</a:t>
            </a:r>
            <a:endParaRPr/>
          </a:p>
        </p:txBody>
      </p:sp>
      <p:sp>
        <p:nvSpPr>
          <p:cNvPr id="543" name="Google Shape;543;g3ae6d2bd0bf_0_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21.xml.rels><?xml version="1.0" encoding="UTF-8" standalone="yes"?>
<Relationships xmlns="http://schemas.openxmlformats.org/package/2006/relationships"><Relationship Id="rId8" Type="http://schemas.openxmlformats.org/officeDocument/2006/relationships/hyperlink" Target="https://creativecommons.org/licenses/by-sa/2.0/?ref=openverse" TargetMode="External"/><Relationship Id="rId3" Type="http://schemas.openxmlformats.org/officeDocument/2006/relationships/image" Target="../media/image23.png"/><Relationship Id="rId7" Type="http://schemas.openxmlformats.org/officeDocument/2006/relationships/hyperlink" Target="https://www.flickr.com/photos/16935515@N00"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www.flickr.com/photos/16935515@N00/8683463006" TargetMode="External"/><Relationship Id="rId5" Type="http://schemas.openxmlformats.org/officeDocument/2006/relationships/image" Target="../media/image30.png"/><Relationship Id="rId4" Type="http://schemas.openxmlformats.org/officeDocument/2006/relationships/image" Target="../media/image28.png"/><Relationship Id="rId9" Type="http://schemas.openxmlformats.org/officeDocument/2006/relationships/hyperlink" Target="https://openverse.org/image/d8a4888d-270c-442f-a087-db2997c4dbf4?q=dry+land&amp;p=1"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hyperlink" Target="https://www.flickr.com/photos/24046097@N00"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www.flickr.com/photos/24046097@N00/19629285131" TargetMode="Externa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7.png"/></Relationships>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420"/>
        <p:cNvGrpSpPr/>
        <p:nvPr/>
      </p:nvGrpSpPr>
      <p:grpSpPr>
        <a:xfrm>
          <a:off x="0" y="0"/>
          <a:ext cx="0" cy="0"/>
          <a:chOff x="0" y="0"/>
          <a:chExt cx="0" cy="0"/>
        </a:xfrm>
      </p:grpSpPr>
      <p:sp>
        <p:nvSpPr>
          <p:cNvPr id="421" name="Google Shape;421;p33"/>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422" name="Google Shape;422;p33"/>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423" name="Google Shape;423;p33"/>
          <p:cNvSpPr txBox="1"/>
          <p:nvPr/>
        </p:nvSpPr>
        <p:spPr>
          <a:xfrm>
            <a:off x="3049115" y="511957"/>
            <a:ext cx="11079000" cy="203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a:solidFill>
                  <a:srgbClr val="FFFFFF"/>
                </a:solidFill>
                <a:latin typeface="Yeseva One"/>
                <a:ea typeface="Yeseva One"/>
                <a:cs typeface="Yeseva One"/>
                <a:sym typeface="Yeseva One"/>
              </a:rPr>
              <a:t>Physical factors influencing water access</a:t>
            </a:r>
            <a:endParaRPr sz="6000"/>
          </a:p>
        </p:txBody>
      </p:sp>
      <p:grpSp>
        <p:nvGrpSpPr>
          <p:cNvPr id="424" name="Google Shape;424;p33"/>
          <p:cNvGrpSpPr/>
          <p:nvPr/>
        </p:nvGrpSpPr>
        <p:grpSpPr>
          <a:xfrm>
            <a:off x="368658" y="2762525"/>
            <a:ext cx="8406676" cy="6769882"/>
            <a:chOff x="0" y="0"/>
            <a:chExt cx="4274726" cy="1818150"/>
          </a:xfrm>
        </p:grpSpPr>
        <p:sp>
          <p:nvSpPr>
            <p:cNvPr id="425" name="Google Shape;425;p33"/>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426" name="Google Shape;426;p33"/>
            <p:cNvSpPr txBox="1"/>
            <p:nvPr/>
          </p:nvSpPr>
          <p:spPr>
            <a:xfrm>
              <a:off x="0" y="19050"/>
              <a:ext cx="4274700" cy="1799100"/>
            </a:xfrm>
            <a:prstGeom prst="rect">
              <a:avLst/>
            </a:prstGeom>
            <a:no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427" name="Google Shape;427;p33"/>
          <p:cNvSpPr/>
          <p:nvPr/>
        </p:nvSpPr>
        <p:spPr>
          <a:xfrm>
            <a:off x="-127750" y="322526"/>
            <a:ext cx="1945830"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428" name="Google Shape;428;p33"/>
          <p:cNvSpPr/>
          <p:nvPr/>
        </p:nvSpPr>
        <p:spPr>
          <a:xfrm>
            <a:off x="12235949" y="9310499"/>
            <a:ext cx="2860075" cy="923133"/>
          </a:xfrm>
          <a:custGeom>
            <a:avLst/>
            <a:gdLst/>
            <a:ahLst/>
            <a:cxnLst/>
            <a:rect l="l" t="t" r="r" b="b"/>
            <a:pathLst>
              <a:path w="3678553" h="1544992" extrusionOk="0">
                <a:moveTo>
                  <a:pt x="0" y="0"/>
                </a:moveTo>
                <a:lnTo>
                  <a:pt x="3678553" y="0"/>
                </a:lnTo>
                <a:lnTo>
                  <a:pt x="3678553" y="1544992"/>
                </a:lnTo>
                <a:lnTo>
                  <a:pt x="0" y="1544992"/>
                </a:lnTo>
                <a:lnTo>
                  <a:pt x="0" y="0"/>
                </a:lnTo>
                <a:close/>
              </a:path>
            </a:pathLst>
          </a:custGeom>
          <a:blipFill rotWithShape="1">
            <a:blip r:embed="rId3">
              <a:alphaModFix/>
            </a:blip>
            <a:stretch>
              <a:fillRect/>
            </a:stretch>
          </a:blipFill>
          <a:ln>
            <a:noFill/>
          </a:ln>
        </p:spPr>
        <p:txBody>
          <a:bodyPr/>
          <a:lstStyle/>
          <a:p>
            <a:endParaRPr lang="en-US"/>
          </a:p>
        </p:txBody>
      </p:sp>
      <p:sp>
        <p:nvSpPr>
          <p:cNvPr id="429" name="Google Shape;429;p33"/>
          <p:cNvSpPr txBox="1"/>
          <p:nvPr/>
        </p:nvSpPr>
        <p:spPr>
          <a:xfrm>
            <a:off x="488249" y="3113413"/>
            <a:ext cx="8167500" cy="60681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Nunito"/>
                <a:ea typeface="Nunito"/>
                <a:cs typeface="Nunito"/>
                <a:sym typeface="Nunito"/>
              </a:rPr>
              <a:t>Climate</a:t>
            </a:r>
            <a:endParaRPr sz="4000" b="1">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a:solidFill>
                  <a:schemeClr val="dk1"/>
                </a:solidFill>
                <a:latin typeface="Nunito"/>
                <a:ea typeface="Nunito"/>
                <a:cs typeface="Nunito"/>
                <a:sym typeface="Nunito"/>
              </a:rPr>
              <a:t>Places with high rainfall and low evaporation have more available water, while dry or hot regions often face scarcity. Seasonal patterns (wet/dry seasons) also affect how reliable water supplies are.</a:t>
            </a:r>
            <a:endParaRPr sz="4000">
              <a:solidFill>
                <a:schemeClr val="dk1"/>
              </a:solidFill>
              <a:latin typeface="Nunito"/>
              <a:ea typeface="Nunito"/>
              <a:cs typeface="Nunito"/>
              <a:sym typeface="Nunito"/>
            </a:endParaRPr>
          </a:p>
        </p:txBody>
      </p:sp>
      <p:sp>
        <p:nvSpPr>
          <p:cNvPr id="430" name="Google Shape;430;p33"/>
          <p:cNvSpPr/>
          <p:nvPr/>
        </p:nvSpPr>
        <p:spPr>
          <a:xfrm>
            <a:off x="13232774" y="-1099024"/>
            <a:ext cx="5854303" cy="4937760"/>
          </a:xfrm>
          <a:custGeom>
            <a:avLst/>
            <a:gdLst/>
            <a:ahLst/>
            <a:cxnLst/>
            <a:rect l="l" t="t" r="r" b="b"/>
            <a:pathLst>
              <a:path w="5238750" h="4114800" extrusionOk="0">
                <a:moveTo>
                  <a:pt x="0" y="0"/>
                </a:moveTo>
                <a:lnTo>
                  <a:pt x="5238750" y="0"/>
                </a:lnTo>
                <a:lnTo>
                  <a:pt x="5238750" y="4114800"/>
                </a:lnTo>
                <a:lnTo>
                  <a:pt x="0" y="4114800"/>
                </a:lnTo>
                <a:lnTo>
                  <a:pt x="0" y="0"/>
                </a:lnTo>
                <a:close/>
              </a:path>
            </a:pathLst>
          </a:custGeom>
          <a:blipFill rotWithShape="1">
            <a:blip r:embed="rId4">
              <a:alphaModFix/>
            </a:blip>
            <a:stretch>
              <a:fillRect/>
            </a:stretch>
          </a:blipFill>
          <a:ln>
            <a:noFill/>
          </a:ln>
        </p:spPr>
        <p:txBody>
          <a:bodyPr/>
          <a:lstStyle/>
          <a:p>
            <a:endParaRPr lang="en-US"/>
          </a:p>
        </p:txBody>
      </p:sp>
      <p:pic>
        <p:nvPicPr>
          <p:cNvPr id="431" name="Google Shape;431;p33"/>
          <p:cNvPicPr preferRelativeResize="0"/>
          <p:nvPr/>
        </p:nvPicPr>
        <p:blipFill>
          <a:blip r:embed="rId5">
            <a:alphaModFix/>
          </a:blip>
          <a:stretch>
            <a:fillRect/>
          </a:stretch>
        </p:blipFill>
        <p:spPr>
          <a:xfrm>
            <a:off x="9585072" y="2762536"/>
            <a:ext cx="7780838" cy="5166963"/>
          </a:xfrm>
          <a:prstGeom prst="rect">
            <a:avLst/>
          </a:prstGeom>
          <a:noFill/>
          <a:ln>
            <a:noFill/>
          </a:ln>
        </p:spPr>
      </p:pic>
      <p:sp>
        <p:nvSpPr>
          <p:cNvPr id="432" name="Google Shape;432;p33"/>
          <p:cNvSpPr txBox="1"/>
          <p:nvPr/>
        </p:nvSpPr>
        <p:spPr>
          <a:xfrm>
            <a:off x="9585075" y="7929500"/>
            <a:ext cx="76035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rgbClr val="232323"/>
                </a:solidFill>
              </a:rPr>
              <a:t>"</a:t>
            </a:r>
            <a:r>
              <a:rPr lang="en-US" sz="2000" u="sng">
                <a:solidFill>
                  <a:srgbClr val="AD1F85"/>
                </a:solidFill>
                <a:hlinkClick r:id="rId6">
                  <a:extLst>
                    <a:ext uri="{A12FA001-AC4F-418D-AE19-62706E023703}">
                      <ahyp:hlinkClr xmlns:ahyp="http://schemas.microsoft.com/office/drawing/2018/hyperlinkcolor" val="tx"/>
                    </a:ext>
                  </a:extLst>
                </a:hlinkClick>
              </a:rPr>
              <a:t>Trees in a dry land</a:t>
            </a:r>
            <a:r>
              <a:rPr lang="en-US" sz="2000">
                <a:solidFill>
                  <a:srgbClr val="232323"/>
                </a:solidFill>
              </a:rPr>
              <a:t>" by </a:t>
            </a:r>
            <a:r>
              <a:rPr lang="en-US" sz="2000" u="sng">
                <a:solidFill>
                  <a:srgbClr val="AD1F85"/>
                </a:solidFill>
                <a:hlinkClick r:id="rId7">
                  <a:extLst>
                    <a:ext uri="{A12FA001-AC4F-418D-AE19-62706E023703}">
                      <ahyp:hlinkClr xmlns:ahyp="http://schemas.microsoft.com/office/drawing/2018/hyperlinkcolor" val="tx"/>
                    </a:ext>
                  </a:extLst>
                </a:hlinkClick>
              </a:rPr>
              <a:t>Julien Harneis</a:t>
            </a:r>
            <a:r>
              <a:rPr lang="en-US" sz="2000">
                <a:solidFill>
                  <a:srgbClr val="232323"/>
                </a:solidFill>
              </a:rPr>
              <a:t> is licensed under </a:t>
            </a:r>
            <a:r>
              <a:rPr lang="en-US" sz="2000" u="sng">
                <a:solidFill>
                  <a:srgbClr val="AD1F85"/>
                </a:solidFill>
                <a:hlinkClick r:id="rId8">
                  <a:extLst>
                    <a:ext uri="{A12FA001-AC4F-418D-AE19-62706E023703}">
                      <ahyp:hlinkClr xmlns:ahyp="http://schemas.microsoft.com/office/drawing/2018/hyperlinkcolor" val="tx"/>
                    </a:ext>
                  </a:extLst>
                </a:hlinkClick>
              </a:rPr>
              <a:t>CC BY-SA 2.0</a:t>
            </a:r>
            <a:r>
              <a:rPr lang="en-US" sz="2000">
                <a:solidFill>
                  <a:srgbClr val="232323"/>
                </a:solidFill>
              </a:rPr>
              <a:t>. </a:t>
            </a:r>
            <a:r>
              <a:rPr lang="en-US" sz="2000" u="sng">
                <a:solidFill>
                  <a:schemeClr val="hlink"/>
                </a:solidFill>
                <a:hlinkClick r:id="rId9"/>
              </a:rPr>
              <a:t>https://openverse.org/image/d8a4888d-270c-442f-a087-db2997c4dbf4?q=dry+land&amp;p=1</a:t>
            </a:r>
            <a:endParaRPr sz="2000">
              <a:solidFill>
                <a:srgbClr val="232323"/>
              </a:solidFill>
            </a:endParaRPr>
          </a:p>
          <a:p>
            <a:pPr marL="0" lvl="0" indent="0" algn="l" rtl="0">
              <a:spcBef>
                <a:spcPts val="0"/>
              </a:spcBef>
              <a:spcAft>
                <a:spcPts val="0"/>
              </a:spcAft>
              <a:buNone/>
            </a:pPr>
            <a:endParaRPr sz="2000">
              <a:solidFill>
                <a:srgbClr val="23232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436"/>
        <p:cNvGrpSpPr/>
        <p:nvPr/>
      </p:nvGrpSpPr>
      <p:grpSpPr>
        <a:xfrm>
          <a:off x="0" y="0"/>
          <a:ext cx="0" cy="0"/>
          <a:chOff x="0" y="0"/>
          <a:chExt cx="0" cy="0"/>
        </a:xfrm>
      </p:grpSpPr>
      <p:grpSp>
        <p:nvGrpSpPr>
          <p:cNvPr id="437" name="Google Shape;437;p34"/>
          <p:cNvGrpSpPr/>
          <p:nvPr/>
        </p:nvGrpSpPr>
        <p:grpSpPr>
          <a:xfrm>
            <a:off x="9343058" y="2762525"/>
            <a:ext cx="8406676" cy="6769882"/>
            <a:chOff x="0" y="0"/>
            <a:chExt cx="4274726" cy="1818150"/>
          </a:xfrm>
        </p:grpSpPr>
        <p:sp>
          <p:nvSpPr>
            <p:cNvPr id="438" name="Google Shape;438;p34"/>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439" name="Google Shape;439;p34"/>
            <p:cNvSpPr txBox="1"/>
            <p:nvPr/>
          </p:nvSpPr>
          <p:spPr>
            <a:xfrm>
              <a:off x="0" y="19050"/>
              <a:ext cx="4274700" cy="1799100"/>
            </a:xfrm>
            <a:prstGeom prst="rect">
              <a:avLst/>
            </a:prstGeom>
            <a:no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440" name="Google Shape;440;p34"/>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441" name="Google Shape;441;p34"/>
          <p:cNvSpPr txBox="1"/>
          <p:nvPr/>
        </p:nvSpPr>
        <p:spPr>
          <a:xfrm>
            <a:off x="3049115" y="511957"/>
            <a:ext cx="11079000" cy="203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a:solidFill>
                  <a:srgbClr val="FFFFFF"/>
                </a:solidFill>
                <a:latin typeface="Yeseva One"/>
                <a:ea typeface="Yeseva One"/>
                <a:cs typeface="Yeseva One"/>
                <a:sym typeface="Yeseva One"/>
              </a:rPr>
              <a:t>Physical factors influencing water access</a:t>
            </a:r>
            <a:endParaRPr sz="6000"/>
          </a:p>
        </p:txBody>
      </p:sp>
      <p:sp>
        <p:nvSpPr>
          <p:cNvPr id="442" name="Google Shape;442;p34"/>
          <p:cNvSpPr/>
          <p:nvPr/>
        </p:nvSpPr>
        <p:spPr>
          <a:xfrm>
            <a:off x="-127750" y="322526"/>
            <a:ext cx="1945830"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443" name="Google Shape;443;p34"/>
          <p:cNvSpPr/>
          <p:nvPr/>
        </p:nvSpPr>
        <p:spPr>
          <a:xfrm>
            <a:off x="12235949" y="9310499"/>
            <a:ext cx="2860075" cy="923133"/>
          </a:xfrm>
          <a:custGeom>
            <a:avLst/>
            <a:gdLst/>
            <a:ahLst/>
            <a:cxnLst/>
            <a:rect l="l" t="t" r="r" b="b"/>
            <a:pathLst>
              <a:path w="3678553" h="1544992" extrusionOk="0">
                <a:moveTo>
                  <a:pt x="0" y="0"/>
                </a:moveTo>
                <a:lnTo>
                  <a:pt x="3678553" y="0"/>
                </a:lnTo>
                <a:lnTo>
                  <a:pt x="3678553" y="1544992"/>
                </a:lnTo>
                <a:lnTo>
                  <a:pt x="0" y="1544992"/>
                </a:lnTo>
                <a:lnTo>
                  <a:pt x="0" y="0"/>
                </a:lnTo>
                <a:close/>
              </a:path>
            </a:pathLst>
          </a:custGeom>
          <a:blipFill rotWithShape="1">
            <a:blip r:embed="rId3">
              <a:alphaModFix/>
            </a:blip>
            <a:stretch>
              <a:fillRect/>
            </a:stretch>
          </a:blipFill>
          <a:ln>
            <a:noFill/>
          </a:ln>
        </p:spPr>
        <p:txBody>
          <a:bodyPr/>
          <a:lstStyle/>
          <a:p>
            <a:endParaRPr lang="en-US"/>
          </a:p>
        </p:txBody>
      </p:sp>
      <p:sp>
        <p:nvSpPr>
          <p:cNvPr id="444" name="Google Shape;444;p34"/>
          <p:cNvSpPr txBox="1"/>
          <p:nvPr/>
        </p:nvSpPr>
        <p:spPr>
          <a:xfrm>
            <a:off x="9582237" y="3113413"/>
            <a:ext cx="8167500" cy="60681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Nunito"/>
                <a:ea typeface="Nunito"/>
                <a:cs typeface="Nunito"/>
                <a:sym typeface="Nunito"/>
              </a:rPr>
              <a:t>Geology</a:t>
            </a:r>
            <a:endParaRPr sz="4000" b="1">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a:solidFill>
                  <a:schemeClr val="dk1"/>
                </a:solidFill>
                <a:latin typeface="Nunito"/>
                <a:ea typeface="Nunito"/>
                <a:cs typeface="Nunito"/>
                <a:sym typeface="Nunito"/>
              </a:rPr>
              <a:t>The type of rock and soil affects how much water can soak in or be stored underground. Permeable rocks allow aquifers to form, while certain minerals can dissolve into groundwater and affect its quality.</a:t>
            </a:r>
            <a:endParaRPr sz="4000">
              <a:solidFill>
                <a:schemeClr val="dk1"/>
              </a:solidFill>
              <a:latin typeface="Nunito"/>
              <a:ea typeface="Nunito"/>
              <a:cs typeface="Nunito"/>
              <a:sym typeface="Nunito"/>
            </a:endParaRPr>
          </a:p>
        </p:txBody>
      </p:sp>
      <p:sp>
        <p:nvSpPr>
          <p:cNvPr id="445" name="Google Shape;445;p34"/>
          <p:cNvSpPr/>
          <p:nvPr/>
        </p:nvSpPr>
        <p:spPr>
          <a:xfrm>
            <a:off x="13232774" y="-1099024"/>
            <a:ext cx="5854303" cy="4937760"/>
          </a:xfrm>
          <a:custGeom>
            <a:avLst/>
            <a:gdLst/>
            <a:ahLst/>
            <a:cxnLst/>
            <a:rect l="l" t="t" r="r" b="b"/>
            <a:pathLst>
              <a:path w="5238750" h="4114800" extrusionOk="0">
                <a:moveTo>
                  <a:pt x="0" y="0"/>
                </a:moveTo>
                <a:lnTo>
                  <a:pt x="5238750" y="0"/>
                </a:lnTo>
                <a:lnTo>
                  <a:pt x="5238750" y="4114800"/>
                </a:lnTo>
                <a:lnTo>
                  <a:pt x="0" y="4114800"/>
                </a:lnTo>
                <a:lnTo>
                  <a:pt x="0" y="0"/>
                </a:lnTo>
                <a:close/>
              </a:path>
            </a:pathLst>
          </a:custGeom>
          <a:blipFill rotWithShape="1">
            <a:blip r:embed="rId4">
              <a:alphaModFix/>
            </a:blip>
            <a:stretch>
              <a:fillRect/>
            </a:stretch>
          </a:blipFill>
          <a:ln>
            <a:noFill/>
          </a:ln>
        </p:spPr>
        <p:txBody>
          <a:bodyPr/>
          <a:lstStyle/>
          <a:p>
            <a:endParaRPr lang="en-US"/>
          </a:p>
        </p:txBody>
      </p:sp>
      <p:pic>
        <p:nvPicPr>
          <p:cNvPr id="446" name="Google Shape;446;p34"/>
          <p:cNvPicPr preferRelativeResize="0"/>
          <p:nvPr/>
        </p:nvPicPr>
        <p:blipFill>
          <a:blip r:embed="rId5">
            <a:alphaModFix/>
          </a:blip>
          <a:stretch>
            <a:fillRect/>
          </a:stretch>
        </p:blipFill>
        <p:spPr>
          <a:xfrm>
            <a:off x="10641" y="2599738"/>
            <a:ext cx="9122725" cy="7095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450"/>
        <p:cNvGrpSpPr/>
        <p:nvPr/>
      </p:nvGrpSpPr>
      <p:grpSpPr>
        <a:xfrm>
          <a:off x="0" y="0"/>
          <a:ext cx="0" cy="0"/>
          <a:chOff x="0" y="0"/>
          <a:chExt cx="0" cy="0"/>
        </a:xfrm>
      </p:grpSpPr>
      <p:grpSp>
        <p:nvGrpSpPr>
          <p:cNvPr id="451" name="Google Shape;451;p35"/>
          <p:cNvGrpSpPr/>
          <p:nvPr/>
        </p:nvGrpSpPr>
        <p:grpSpPr>
          <a:xfrm>
            <a:off x="9462633" y="2762525"/>
            <a:ext cx="8406676" cy="6769882"/>
            <a:chOff x="0" y="0"/>
            <a:chExt cx="4274726" cy="1818150"/>
          </a:xfrm>
        </p:grpSpPr>
        <p:sp>
          <p:nvSpPr>
            <p:cNvPr id="452" name="Google Shape;452;p35"/>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453" name="Google Shape;453;p35"/>
            <p:cNvSpPr txBox="1"/>
            <p:nvPr/>
          </p:nvSpPr>
          <p:spPr>
            <a:xfrm>
              <a:off x="0" y="19050"/>
              <a:ext cx="4274700" cy="1799100"/>
            </a:xfrm>
            <a:prstGeom prst="rect">
              <a:avLst/>
            </a:prstGeom>
            <a:no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454" name="Google Shape;454;p35"/>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455" name="Google Shape;455;p35"/>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456" name="Google Shape;456;p35"/>
          <p:cNvSpPr txBox="1"/>
          <p:nvPr/>
        </p:nvSpPr>
        <p:spPr>
          <a:xfrm>
            <a:off x="3049115" y="511957"/>
            <a:ext cx="11079000" cy="203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a:solidFill>
                  <a:srgbClr val="FFFFFF"/>
                </a:solidFill>
                <a:latin typeface="Yeseva One"/>
                <a:ea typeface="Yeseva One"/>
                <a:cs typeface="Yeseva One"/>
                <a:sym typeface="Yeseva One"/>
              </a:rPr>
              <a:t>Physical factors influencing water access</a:t>
            </a:r>
            <a:endParaRPr sz="6000"/>
          </a:p>
        </p:txBody>
      </p:sp>
      <p:grpSp>
        <p:nvGrpSpPr>
          <p:cNvPr id="457" name="Google Shape;457;p35"/>
          <p:cNvGrpSpPr/>
          <p:nvPr/>
        </p:nvGrpSpPr>
        <p:grpSpPr>
          <a:xfrm>
            <a:off x="248945" y="2762525"/>
            <a:ext cx="8406676" cy="6769882"/>
            <a:chOff x="0" y="0"/>
            <a:chExt cx="4274726" cy="1818150"/>
          </a:xfrm>
        </p:grpSpPr>
        <p:sp>
          <p:nvSpPr>
            <p:cNvPr id="458" name="Google Shape;458;p35"/>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459" name="Google Shape;459;p35"/>
            <p:cNvSpPr txBox="1"/>
            <p:nvPr/>
          </p:nvSpPr>
          <p:spPr>
            <a:xfrm>
              <a:off x="0" y="19050"/>
              <a:ext cx="4274700" cy="1799100"/>
            </a:xfrm>
            <a:prstGeom prst="rect">
              <a:avLst/>
            </a:prstGeom>
            <a:no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460" name="Google Shape;460;p35"/>
          <p:cNvSpPr/>
          <p:nvPr/>
        </p:nvSpPr>
        <p:spPr>
          <a:xfrm>
            <a:off x="-127750" y="322526"/>
            <a:ext cx="1945830"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461" name="Google Shape;461;p35"/>
          <p:cNvSpPr txBox="1"/>
          <p:nvPr/>
        </p:nvSpPr>
        <p:spPr>
          <a:xfrm>
            <a:off x="488249" y="3113413"/>
            <a:ext cx="8167500" cy="60681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Nunito"/>
                <a:ea typeface="Nunito"/>
                <a:cs typeface="Nunito"/>
                <a:sym typeface="Nunito"/>
              </a:rPr>
              <a:t>Topography </a:t>
            </a:r>
            <a:endParaRPr sz="4000" b="1">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a:solidFill>
                  <a:schemeClr val="dk1"/>
                </a:solidFill>
                <a:latin typeface="Nunito"/>
                <a:ea typeface="Nunito"/>
                <a:cs typeface="Nunito"/>
                <a:sym typeface="Nunito"/>
              </a:rPr>
              <a:t>Steep slopes create fast runoff and less infiltration, while low, flat areas allow water to pool and rivers to move more slowly. Mountain ranges also direct where rivers flow.</a:t>
            </a:r>
            <a:endParaRPr sz="4000">
              <a:solidFill>
                <a:schemeClr val="dk1"/>
              </a:solidFill>
              <a:latin typeface="Nunito"/>
              <a:ea typeface="Nunito"/>
              <a:cs typeface="Nunito"/>
              <a:sym typeface="Nunito"/>
            </a:endParaRPr>
          </a:p>
        </p:txBody>
      </p:sp>
      <p:sp>
        <p:nvSpPr>
          <p:cNvPr id="462" name="Google Shape;462;p35"/>
          <p:cNvSpPr txBox="1"/>
          <p:nvPr/>
        </p:nvSpPr>
        <p:spPr>
          <a:xfrm>
            <a:off x="9582237" y="3113413"/>
            <a:ext cx="8167500" cy="60681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Nunito"/>
                <a:ea typeface="Nunito"/>
                <a:cs typeface="Nunito"/>
                <a:sym typeface="Nunito"/>
              </a:rPr>
              <a:t>Vegetation</a:t>
            </a:r>
            <a:endParaRPr sz="4000" b="1">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a:solidFill>
                  <a:schemeClr val="dk1"/>
                </a:solidFill>
                <a:latin typeface="Nunito"/>
                <a:ea typeface="Nunito"/>
                <a:cs typeface="Nunito"/>
                <a:sym typeface="Nunito"/>
              </a:rPr>
              <a:t>Areas with dense vegetation promote infiltration, protect soil and help maintain groundwater and river flow. Cleared landscapes often have more runoff and lower water quality.</a:t>
            </a:r>
            <a:endParaRPr sz="4000">
              <a:solidFill>
                <a:schemeClr val="dk1"/>
              </a:solidFill>
              <a:latin typeface="Nunito"/>
              <a:ea typeface="Nunito"/>
              <a:cs typeface="Nunito"/>
              <a:sym typeface="Nunito"/>
            </a:endParaRPr>
          </a:p>
        </p:txBody>
      </p:sp>
      <p:sp>
        <p:nvSpPr>
          <p:cNvPr id="463" name="Google Shape;463;p35"/>
          <p:cNvSpPr/>
          <p:nvPr/>
        </p:nvSpPr>
        <p:spPr>
          <a:xfrm>
            <a:off x="14128125" y="7532578"/>
            <a:ext cx="3868185" cy="2679597"/>
          </a:xfrm>
          <a:custGeom>
            <a:avLst/>
            <a:gdLst/>
            <a:ahLst/>
            <a:cxnLst/>
            <a:rect l="l" t="t" r="r" b="b"/>
            <a:pathLst>
              <a:path w="3868185" h="2679597" extrusionOk="0">
                <a:moveTo>
                  <a:pt x="0" y="0"/>
                </a:moveTo>
                <a:lnTo>
                  <a:pt x="3868185" y="0"/>
                </a:lnTo>
                <a:lnTo>
                  <a:pt x="3868185" y="2679597"/>
                </a:lnTo>
                <a:lnTo>
                  <a:pt x="0" y="2679597"/>
                </a:lnTo>
                <a:lnTo>
                  <a:pt x="0" y="0"/>
                </a:lnTo>
                <a:close/>
              </a:path>
            </a:pathLst>
          </a:custGeom>
          <a:blipFill rotWithShape="1">
            <a:blip r:embed="rId4">
              <a:alphaModFix/>
            </a:blip>
            <a:stretch>
              <a:fillRect/>
            </a:stretch>
          </a:blipFill>
          <a:ln>
            <a:no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467"/>
        <p:cNvGrpSpPr/>
        <p:nvPr/>
      </p:nvGrpSpPr>
      <p:grpSpPr>
        <a:xfrm>
          <a:off x="0" y="0"/>
          <a:ext cx="0" cy="0"/>
          <a:chOff x="0" y="0"/>
          <a:chExt cx="0" cy="0"/>
        </a:xfrm>
      </p:grpSpPr>
      <p:sp>
        <p:nvSpPr>
          <p:cNvPr id="468" name="Google Shape;468;p36"/>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469" name="Google Shape;469;p36"/>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470" name="Google Shape;470;p36"/>
          <p:cNvSpPr txBox="1"/>
          <p:nvPr/>
        </p:nvSpPr>
        <p:spPr>
          <a:xfrm>
            <a:off x="3049115" y="511957"/>
            <a:ext cx="11079000" cy="203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a:solidFill>
                  <a:srgbClr val="FFFFFF"/>
                </a:solidFill>
                <a:latin typeface="Yeseva One"/>
                <a:ea typeface="Yeseva One"/>
                <a:cs typeface="Yeseva One"/>
                <a:sym typeface="Yeseva One"/>
              </a:rPr>
              <a:t>Human factors influencing water access</a:t>
            </a:r>
            <a:endParaRPr sz="6000"/>
          </a:p>
        </p:txBody>
      </p:sp>
      <p:grpSp>
        <p:nvGrpSpPr>
          <p:cNvPr id="471" name="Google Shape;471;p36"/>
          <p:cNvGrpSpPr/>
          <p:nvPr/>
        </p:nvGrpSpPr>
        <p:grpSpPr>
          <a:xfrm>
            <a:off x="248950" y="2762525"/>
            <a:ext cx="8689663" cy="5773354"/>
            <a:chOff x="0" y="0"/>
            <a:chExt cx="4274726" cy="1818150"/>
          </a:xfrm>
        </p:grpSpPr>
        <p:sp>
          <p:nvSpPr>
            <p:cNvPr id="472" name="Google Shape;472;p36"/>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CFE2F3"/>
            </a:solidFill>
            <a:ln>
              <a:noFill/>
            </a:ln>
          </p:spPr>
          <p:txBody>
            <a:bodyPr/>
            <a:lstStyle/>
            <a:p>
              <a:endParaRPr lang="en-US"/>
            </a:p>
          </p:txBody>
        </p:sp>
        <p:sp>
          <p:nvSpPr>
            <p:cNvPr id="473" name="Google Shape;473;p36"/>
            <p:cNvSpPr txBox="1"/>
            <p:nvPr/>
          </p:nvSpPr>
          <p:spPr>
            <a:xfrm>
              <a:off x="0" y="19050"/>
              <a:ext cx="4274700" cy="1799100"/>
            </a:xfrm>
            <a:prstGeom prst="rect">
              <a:avLst/>
            </a:prstGeom>
            <a:solidFill>
              <a:srgbClr val="CFE2F3"/>
            </a:solid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474" name="Google Shape;474;p36"/>
          <p:cNvSpPr/>
          <p:nvPr/>
        </p:nvSpPr>
        <p:spPr>
          <a:xfrm>
            <a:off x="-127750" y="322526"/>
            <a:ext cx="1945830"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475" name="Google Shape;475;p36"/>
          <p:cNvSpPr txBox="1"/>
          <p:nvPr/>
        </p:nvSpPr>
        <p:spPr>
          <a:xfrm>
            <a:off x="538501" y="2762513"/>
            <a:ext cx="8067000" cy="60681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Nunito"/>
                <a:ea typeface="Nunito"/>
                <a:cs typeface="Nunito"/>
                <a:sym typeface="Nunito"/>
              </a:rPr>
              <a:t>Infrastructure; such as dams, pipes, treatment systems</a:t>
            </a:r>
            <a:endParaRPr sz="4000" b="1">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a:solidFill>
                  <a:schemeClr val="dk1"/>
                </a:solidFill>
                <a:latin typeface="Nunito"/>
                <a:ea typeface="Nunito"/>
                <a:cs typeface="Nunito"/>
                <a:sym typeface="Nunito"/>
              </a:rPr>
              <a:t>Good infrastructure increases access to safe water, but limited or old systems can restrict supply or reduce water quality, especially in remote communities.</a:t>
            </a:r>
            <a:endParaRPr sz="4000">
              <a:solidFill>
                <a:schemeClr val="dk1"/>
              </a:solidFill>
              <a:latin typeface="Nunito"/>
              <a:ea typeface="Nunito"/>
              <a:cs typeface="Nunito"/>
              <a:sym typeface="Nunito"/>
            </a:endParaRPr>
          </a:p>
        </p:txBody>
      </p:sp>
      <p:sp>
        <p:nvSpPr>
          <p:cNvPr id="476" name="Google Shape;476;p36"/>
          <p:cNvSpPr/>
          <p:nvPr/>
        </p:nvSpPr>
        <p:spPr>
          <a:xfrm>
            <a:off x="13449126" y="7124776"/>
            <a:ext cx="4589941" cy="3162228"/>
          </a:xfrm>
          <a:custGeom>
            <a:avLst/>
            <a:gdLst/>
            <a:ahLst/>
            <a:cxnLst/>
            <a:rect l="l" t="t" r="r" b="b"/>
            <a:pathLst>
              <a:path w="5684137" h="4376786" extrusionOk="0">
                <a:moveTo>
                  <a:pt x="0" y="0"/>
                </a:moveTo>
                <a:lnTo>
                  <a:pt x="5684137" y="0"/>
                </a:lnTo>
                <a:lnTo>
                  <a:pt x="5684137" y="4376786"/>
                </a:lnTo>
                <a:lnTo>
                  <a:pt x="0" y="4376786"/>
                </a:lnTo>
                <a:lnTo>
                  <a:pt x="0" y="0"/>
                </a:lnTo>
                <a:close/>
              </a:path>
            </a:pathLst>
          </a:custGeom>
          <a:blipFill rotWithShape="1">
            <a:blip r:embed="rId4">
              <a:alphaModFix/>
            </a:blip>
            <a:stretch>
              <a:fillRect/>
            </a:stretch>
          </a:blipFill>
          <a:ln>
            <a:noFill/>
          </a:ln>
        </p:spPr>
        <p:txBody>
          <a:bodyPr/>
          <a:lstStyle/>
          <a:p>
            <a:endParaRPr lang="en-US"/>
          </a:p>
        </p:txBody>
      </p:sp>
      <p:pic>
        <p:nvPicPr>
          <p:cNvPr id="477" name="Google Shape;477;p36"/>
          <p:cNvPicPr preferRelativeResize="0"/>
          <p:nvPr/>
        </p:nvPicPr>
        <p:blipFill>
          <a:blip r:embed="rId5">
            <a:alphaModFix/>
          </a:blip>
          <a:stretch>
            <a:fillRect/>
          </a:stretch>
        </p:blipFill>
        <p:spPr>
          <a:xfrm>
            <a:off x="9891113" y="2696257"/>
            <a:ext cx="7601989" cy="4276119"/>
          </a:xfrm>
          <a:prstGeom prst="rect">
            <a:avLst/>
          </a:prstGeom>
          <a:noFill/>
          <a:ln>
            <a:noFill/>
          </a:ln>
        </p:spPr>
      </p:pic>
      <p:sp>
        <p:nvSpPr>
          <p:cNvPr id="478" name="Google Shape;478;p36"/>
          <p:cNvSpPr txBox="1"/>
          <p:nvPr/>
        </p:nvSpPr>
        <p:spPr>
          <a:xfrm>
            <a:off x="9891125" y="7124775"/>
            <a:ext cx="3000000" cy="34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50">
                <a:solidFill>
                  <a:srgbClr val="232323"/>
                </a:solidFill>
                <a:highlight>
                  <a:srgbClr val="FFFFFF"/>
                </a:highlight>
              </a:rPr>
              <a:t>"</a:t>
            </a:r>
            <a:r>
              <a:rPr lang="en-US" sz="1050" u="sng">
                <a:solidFill>
                  <a:srgbClr val="AD1F85"/>
                </a:solidFill>
                <a:highlight>
                  <a:srgbClr val="FFFFFF"/>
                </a:highlight>
                <a:hlinkClick r:id="rId6">
                  <a:extLst>
                    <a:ext uri="{A12FA001-AC4F-418D-AE19-62706E023703}">
                      <ahyp:hlinkClr xmlns:ahyp="http://schemas.microsoft.com/office/drawing/2018/hyperlinkcolor" val="tx"/>
                    </a:ext>
                  </a:extLst>
                </a:hlinkClick>
              </a:rPr>
              <a:t>Beyond the Dam</a:t>
            </a:r>
            <a:r>
              <a:rPr lang="en-US" sz="1050">
                <a:solidFill>
                  <a:srgbClr val="232323"/>
                </a:solidFill>
                <a:highlight>
                  <a:srgbClr val="FFFFFF"/>
                </a:highlight>
              </a:rPr>
              <a:t>" by </a:t>
            </a:r>
            <a:r>
              <a:rPr lang="en-US" sz="1050" u="sng">
                <a:solidFill>
                  <a:srgbClr val="AD1F85"/>
                </a:solidFill>
                <a:highlight>
                  <a:srgbClr val="FFFFFF"/>
                </a:highlight>
                <a:hlinkClick r:id="rId7">
                  <a:extLst>
                    <a:ext uri="{A12FA001-AC4F-418D-AE19-62706E023703}">
                      <ahyp:hlinkClr xmlns:ahyp="http://schemas.microsoft.com/office/drawing/2018/hyperlinkcolor" val="tx"/>
                    </a:ext>
                  </a:extLst>
                </a:hlinkClick>
              </a:rPr>
              <a:t>romainguy</a:t>
            </a:r>
            <a:r>
              <a:rPr lang="en-US" sz="1050">
                <a:solidFill>
                  <a:srgbClr val="232323"/>
                </a:solidFill>
                <a:highlight>
                  <a:srgbClr val="FFFFFF"/>
                </a:highlight>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482"/>
        <p:cNvGrpSpPr/>
        <p:nvPr/>
      </p:nvGrpSpPr>
      <p:grpSpPr>
        <a:xfrm>
          <a:off x="0" y="0"/>
          <a:ext cx="0" cy="0"/>
          <a:chOff x="0" y="0"/>
          <a:chExt cx="0" cy="0"/>
        </a:xfrm>
      </p:grpSpPr>
      <p:grpSp>
        <p:nvGrpSpPr>
          <p:cNvPr id="483" name="Google Shape;483;p37"/>
          <p:cNvGrpSpPr/>
          <p:nvPr/>
        </p:nvGrpSpPr>
        <p:grpSpPr>
          <a:xfrm>
            <a:off x="10058402" y="2696251"/>
            <a:ext cx="7770169" cy="5773354"/>
            <a:chOff x="0" y="0"/>
            <a:chExt cx="4274726" cy="1818150"/>
          </a:xfrm>
        </p:grpSpPr>
        <p:sp>
          <p:nvSpPr>
            <p:cNvPr id="484" name="Google Shape;484;p37"/>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CFE2F3"/>
            </a:solidFill>
            <a:ln>
              <a:noFill/>
            </a:ln>
          </p:spPr>
          <p:txBody>
            <a:bodyPr/>
            <a:lstStyle/>
            <a:p>
              <a:endParaRPr lang="en-US"/>
            </a:p>
          </p:txBody>
        </p:sp>
        <p:sp>
          <p:nvSpPr>
            <p:cNvPr id="485" name="Google Shape;485;p37"/>
            <p:cNvSpPr txBox="1"/>
            <p:nvPr/>
          </p:nvSpPr>
          <p:spPr>
            <a:xfrm>
              <a:off x="0" y="19050"/>
              <a:ext cx="4274700" cy="1799100"/>
            </a:xfrm>
            <a:prstGeom prst="rect">
              <a:avLst/>
            </a:prstGeom>
            <a:solidFill>
              <a:srgbClr val="CFE2F3"/>
            </a:solid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486" name="Google Shape;486;p37"/>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487" name="Google Shape;487;p37"/>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488" name="Google Shape;488;p37"/>
          <p:cNvSpPr txBox="1"/>
          <p:nvPr/>
        </p:nvSpPr>
        <p:spPr>
          <a:xfrm>
            <a:off x="3049115" y="511957"/>
            <a:ext cx="11079000" cy="203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a:solidFill>
                  <a:srgbClr val="FFFFFF"/>
                </a:solidFill>
                <a:latin typeface="Yeseva One"/>
                <a:ea typeface="Yeseva One"/>
                <a:cs typeface="Yeseva One"/>
                <a:sym typeface="Yeseva One"/>
              </a:rPr>
              <a:t>Human factors influencing water access</a:t>
            </a:r>
            <a:endParaRPr sz="6000"/>
          </a:p>
        </p:txBody>
      </p:sp>
      <p:sp>
        <p:nvSpPr>
          <p:cNvPr id="489" name="Google Shape;489;p37"/>
          <p:cNvSpPr/>
          <p:nvPr/>
        </p:nvSpPr>
        <p:spPr>
          <a:xfrm>
            <a:off x="-127750" y="322526"/>
            <a:ext cx="1945830"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490" name="Google Shape;490;p37"/>
          <p:cNvSpPr txBox="1"/>
          <p:nvPr/>
        </p:nvSpPr>
        <p:spPr>
          <a:xfrm>
            <a:off x="10316050" y="2809996"/>
            <a:ext cx="7213200" cy="4667008"/>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dirty="0">
                <a:solidFill>
                  <a:schemeClr val="dk1"/>
                </a:solidFill>
                <a:latin typeface="Nunito"/>
                <a:ea typeface="Nunito"/>
                <a:cs typeface="Nunito"/>
                <a:sym typeface="Nunito"/>
              </a:rPr>
              <a:t>Water use and demand</a:t>
            </a:r>
            <a:endParaRPr sz="4000" b="1" dirty="0">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dirty="0">
                <a:solidFill>
                  <a:schemeClr val="dk1"/>
                </a:solidFill>
                <a:latin typeface="Nunito"/>
                <a:ea typeface="Nunito"/>
                <a:cs typeface="Nunito"/>
                <a:sym typeface="Nunito"/>
              </a:rPr>
              <a:t>Agriculture, industry and growing cities use large amounts of water. If demand is high in a dry region, scarcity becomes more likely.</a:t>
            </a:r>
            <a:endParaRPr sz="4000" dirty="0">
              <a:solidFill>
                <a:schemeClr val="dk1"/>
              </a:solidFill>
              <a:latin typeface="Nunito"/>
              <a:ea typeface="Nunito"/>
              <a:cs typeface="Nunito"/>
              <a:sym typeface="Nunito"/>
            </a:endParaRPr>
          </a:p>
        </p:txBody>
      </p:sp>
      <p:sp>
        <p:nvSpPr>
          <p:cNvPr id="491" name="Google Shape;491;p37"/>
          <p:cNvSpPr/>
          <p:nvPr/>
        </p:nvSpPr>
        <p:spPr>
          <a:xfrm>
            <a:off x="13449126" y="7124776"/>
            <a:ext cx="4589941" cy="3162228"/>
          </a:xfrm>
          <a:custGeom>
            <a:avLst/>
            <a:gdLst/>
            <a:ahLst/>
            <a:cxnLst/>
            <a:rect l="l" t="t" r="r" b="b"/>
            <a:pathLst>
              <a:path w="5684137" h="4376786" extrusionOk="0">
                <a:moveTo>
                  <a:pt x="0" y="0"/>
                </a:moveTo>
                <a:lnTo>
                  <a:pt x="5684137" y="0"/>
                </a:lnTo>
                <a:lnTo>
                  <a:pt x="5684137" y="4376786"/>
                </a:lnTo>
                <a:lnTo>
                  <a:pt x="0" y="4376786"/>
                </a:lnTo>
                <a:lnTo>
                  <a:pt x="0" y="0"/>
                </a:lnTo>
                <a:close/>
              </a:path>
            </a:pathLst>
          </a:custGeom>
          <a:blipFill rotWithShape="1">
            <a:blip r:embed="rId4">
              <a:alphaModFix/>
            </a:blip>
            <a:stretch>
              <a:fillRect/>
            </a:stretch>
          </a:blipFill>
          <a:ln>
            <a:noFill/>
          </a:ln>
        </p:spPr>
        <p:txBody>
          <a:bodyPr/>
          <a:lstStyle/>
          <a:p>
            <a:endParaRPr lang="en-US"/>
          </a:p>
        </p:txBody>
      </p:sp>
      <p:pic>
        <p:nvPicPr>
          <p:cNvPr id="492" name="Google Shape;492;p37" title="global-freshwater-use-over-the-long-run.png"/>
          <p:cNvPicPr preferRelativeResize="0"/>
          <p:nvPr/>
        </p:nvPicPr>
        <p:blipFill>
          <a:blip r:embed="rId5">
            <a:alphaModFix/>
          </a:blip>
          <a:stretch>
            <a:fillRect/>
          </a:stretch>
        </p:blipFill>
        <p:spPr>
          <a:xfrm>
            <a:off x="152400" y="2696251"/>
            <a:ext cx="9906002" cy="699418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496"/>
        <p:cNvGrpSpPr/>
        <p:nvPr/>
      </p:nvGrpSpPr>
      <p:grpSpPr>
        <a:xfrm>
          <a:off x="0" y="0"/>
          <a:ext cx="0" cy="0"/>
          <a:chOff x="0" y="0"/>
          <a:chExt cx="0" cy="0"/>
        </a:xfrm>
      </p:grpSpPr>
      <p:sp>
        <p:nvSpPr>
          <p:cNvPr id="497" name="Google Shape;497;p38"/>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498" name="Google Shape;498;p38"/>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499" name="Google Shape;499;p38"/>
          <p:cNvSpPr txBox="1"/>
          <p:nvPr/>
        </p:nvSpPr>
        <p:spPr>
          <a:xfrm>
            <a:off x="3011015" y="7"/>
            <a:ext cx="11079000" cy="203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b="1">
                <a:solidFill>
                  <a:srgbClr val="FFFFFF"/>
                </a:solidFill>
                <a:latin typeface="Yeseva One"/>
                <a:ea typeface="Yeseva One"/>
                <a:cs typeface="Yeseva One"/>
                <a:sym typeface="Yeseva One"/>
              </a:rPr>
              <a:t>Example: Agriculture</a:t>
            </a:r>
            <a:endParaRPr sz="6000" b="1">
              <a:solidFill>
                <a:srgbClr val="FFFFFF"/>
              </a:solidFill>
              <a:latin typeface="Yeseva One"/>
              <a:ea typeface="Yeseva One"/>
              <a:cs typeface="Yeseva One"/>
              <a:sym typeface="Yeseva One"/>
            </a:endParaRPr>
          </a:p>
          <a:p>
            <a:pPr marL="0" marR="0" lvl="0" indent="0" algn="ctr" rtl="0">
              <a:lnSpc>
                <a:spcPct val="120000"/>
              </a:lnSpc>
              <a:spcBef>
                <a:spcPts val="0"/>
              </a:spcBef>
              <a:spcAft>
                <a:spcPts val="0"/>
              </a:spcAft>
              <a:buNone/>
            </a:pPr>
            <a:r>
              <a:rPr lang="en-US" sz="6000" b="1">
                <a:solidFill>
                  <a:srgbClr val="FFFFFF"/>
                </a:solidFill>
                <a:latin typeface="Yeseva One"/>
                <a:ea typeface="Yeseva One"/>
                <a:cs typeface="Yeseva One"/>
                <a:sym typeface="Yeseva One"/>
              </a:rPr>
              <a:t>Conduct PQE on this map</a:t>
            </a:r>
            <a:endParaRPr sz="6000" b="1">
              <a:solidFill>
                <a:srgbClr val="FFFFFF"/>
              </a:solidFill>
              <a:latin typeface="Yeseva One"/>
              <a:ea typeface="Yeseva One"/>
              <a:cs typeface="Yeseva One"/>
              <a:sym typeface="Yeseva One"/>
            </a:endParaRPr>
          </a:p>
        </p:txBody>
      </p:sp>
      <p:sp>
        <p:nvSpPr>
          <p:cNvPr id="500" name="Google Shape;500;p38"/>
          <p:cNvSpPr/>
          <p:nvPr/>
        </p:nvSpPr>
        <p:spPr>
          <a:xfrm>
            <a:off x="-127750" y="322526"/>
            <a:ext cx="1945830"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501" name="Google Shape;501;p38"/>
          <p:cNvSpPr/>
          <p:nvPr/>
        </p:nvSpPr>
        <p:spPr>
          <a:xfrm>
            <a:off x="13449126" y="7124776"/>
            <a:ext cx="4589941" cy="3162228"/>
          </a:xfrm>
          <a:custGeom>
            <a:avLst/>
            <a:gdLst/>
            <a:ahLst/>
            <a:cxnLst/>
            <a:rect l="l" t="t" r="r" b="b"/>
            <a:pathLst>
              <a:path w="5684137" h="4376786" extrusionOk="0">
                <a:moveTo>
                  <a:pt x="0" y="0"/>
                </a:moveTo>
                <a:lnTo>
                  <a:pt x="5684137" y="0"/>
                </a:lnTo>
                <a:lnTo>
                  <a:pt x="5684137" y="4376786"/>
                </a:lnTo>
                <a:lnTo>
                  <a:pt x="0" y="4376786"/>
                </a:lnTo>
                <a:lnTo>
                  <a:pt x="0" y="0"/>
                </a:lnTo>
                <a:close/>
              </a:path>
            </a:pathLst>
          </a:custGeom>
          <a:blipFill rotWithShape="1">
            <a:blip r:embed="rId4">
              <a:alphaModFix/>
            </a:blip>
            <a:stretch>
              <a:fillRect/>
            </a:stretch>
          </a:blipFill>
          <a:ln>
            <a:noFill/>
          </a:ln>
        </p:spPr>
        <p:txBody>
          <a:bodyPr/>
          <a:lstStyle/>
          <a:p>
            <a:endParaRPr lang="en-US"/>
          </a:p>
        </p:txBody>
      </p:sp>
      <p:pic>
        <p:nvPicPr>
          <p:cNvPr id="502" name="Google Shape;502;p38" title="agricultural-water-withdrawals (1).png"/>
          <p:cNvPicPr preferRelativeResize="0"/>
          <p:nvPr/>
        </p:nvPicPr>
        <p:blipFill rotWithShape="1">
          <a:blip r:embed="rId5">
            <a:alphaModFix/>
          </a:blip>
          <a:srcRect b="6550"/>
          <a:stretch/>
        </p:blipFill>
        <p:spPr>
          <a:xfrm>
            <a:off x="2275275" y="2169687"/>
            <a:ext cx="12034283" cy="79368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506"/>
        <p:cNvGrpSpPr/>
        <p:nvPr/>
      </p:nvGrpSpPr>
      <p:grpSpPr>
        <a:xfrm>
          <a:off x="0" y="0"/>
          <a:ext cx="0" cy="0"/>
          <a:chOff x="0" y="0"/>
          <a:chExt cx="0" cy="0"/>
        </a:xfrm>
      </p:grpSpPr>
      <p:grpSp>
        <p:nvGrpSpPr>
          <p:cNvPr id="507" name="Google Shape;507;p39"/>
          <p:cNvGrpSpPr/>
          <p:nvPr/>
        </p:nvGrpSpPr>
        <p:grpSpPr>
          <a:xfrm>
            <a:off x="9321150" y="3168763"/>
            <a:ext cx="8689663" cy="5516813"/>
            <a:chOff x="0" y="0"/>
            <a:chExt cx="4274726" cy="1818150"/>
          </a:xfrm>
        </p:grpSpPr>
        <p:sp>
          <p:nvSpPr>
            <p:cNvPr id="508" name="Google Shape;508;p39"/>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CFE2F3"/>
            </a:solidFill>
            <a:ln>
              <a:noFill/>
            </a:ln>
          </p:spPr>
          <p:txBody>
            <a:bodyPr/>
            <a:lstStyle/>
            <a:p>
              <a:endParaRPr lang="en-US"/>
            </a:p>
          </p:txBody>
        </p:sp>
        <p:sp>
          <p:nvSpPr>
            <p:cNvPr id="509" name="Google Shape;509;p39"/>
            <p:cNvSpPr txBox="1"/>
            <p:nvPr/>
          </p:nvSpPr>
          <p:spPr>
            <a:xfrm>
              <a:off x="0" y="19050"/>
              <a:ext cx="4274700" cy="1799100"/>
            </a:xfrm>
            <a:prstGeom prst="rect">
              <a:avLst/>
            </a:prstGeom>
            <a:solidFill>
              <a:srgbClr val="CFE2F3"/>
            </a:solid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510" name="Google Shape;510;p39"/>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511" name="Google Shape;511;p39"/>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512" name="Google Shape;512;p39"/>
          <p:cNvSpPr txBox="1"/>
          <p:nvPr/>
        </p:nvSpPr>
        <p:spPr>
          <a:xfrm>
            <a:off x="3049115" y="511957"/>
            <a:ext cx="11079000" cy="2031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a:solidFill>
                  <a:srgbClr val="FFFFFF"/>
                </a:solidFill>
                <a:latin typeface="Yeseva One"/>
                <a:ea typeface="Yeseva One"/>
                <a:cs typeface="Yeseva One"/>
                <a:sym typeface="Yeseva One"/>
              </a:rPr>
              <a:t>Human factors influencing water access</a:t>
            </a:r>
            <a:endParaRPr sz="6000"/>
          </a:p>
        </p:txBody>
      </p:sp>
      <p:grpSp>
        <p:nvGrpSpPr>
          <p:cNvPr id="513" name="Google Shape;513;p39"/>
          <p:cNvGrpSpPr/>
          <p:nvPr/>
        </p:nvGrpSpPr>
        <p:grpSpPr>
          <a:xfrm>
            <a:off x="248925" y="3267650"/>
            <a:ext cx="8689663" cy="5516813"/>
            <a:chOff x="0" y="0"/>
            <a:chExt cx="4274726" cy="1818150"/>
          </a:xfrm>
        </p:grpSpPr>
        <p:sp>
          <p:nvSpPr>
            <p:cNvPr id="514" name="Google Shape;514;p39"/>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CFE2F3"/>
            </a:solidFill>
            <a:ln>
              <a:noFill/>
            </a:ln>
          </p:spPr>
          <p:txBody>
            <a:bodyPr/>
            <a:lstStyle/>
            <a:p>
              <a:endParaRPr lang="en-US"/>
            </a:p>
          </p:txBody>
        </p:sp>
        <p:sp>
          <p:nvSpPr>
            <p:cNvPr id="515" name="Google Shape;515;p39"/>
            <p:cNvSpPr txBox="1"/>
            <p:nvPr/>
          </p:nvSpPr>
          <p:spPr>
            <a:xfrm>
              <a:off x="0" y="19050"/>
              <a:ext cx="4274700" cy="1799100"/>
            </a:xfrm>
            <a:prstGeom prst="rect">
              <a:avLst/>
            </a:prstGeom>
            <a:solidFill>
              <a:srgbClr val="CFE2F3"/>
            </a:solidFill>
            <a:ln>
              <a:noFill/>
            </a:ln>
          </p:spPr>
          <p:txBody>
            <a:bodyPr spcFirstLastPara="1" wrap="square" lIns="55675" tIns="55675" rIns="55675" bIns="55675" anchor="ctr" anchorCtr="0">
              <a:noAutofit/>
            </a:bodyPr>
            <a:lstStyle/>
            <a:p>
              <a:pPr marL="0" marR="0" lvl="0" indent="0" algn="ctr" rtl="0">
                <a:lnSpc>
                  <a:spcPct val="116666"/>
                </a:lnSpc>
                <a:spcBef>
                  <a:spcPts val="0"/>
                </a:spcBef>
                <a:spcAft>
                  <a:spcPts val="0"/>
                </a:spcAft>
                <a:buNone/>
              </a:pPr>
              <a:endParaRPr sz="1972" b="0" i="0" u="none" strike="noStrike" cap="none">
                <a:solidFill>
                  <a:schemeClr val="dk1"/>
                </a:solidFill>
                <a:latin typeface="Calibri"/>
                <a:ea typeface="Calibri"/>
                <a:cs typeface="Calibri"/>
                <a:sym typeface="Calibri"/>
              </a:endParaRPr>
            </a:p>
          </p:txBody>
        </p:sp>
      </p:grpSp>
      <p:sp>
        <p:nvSpPr>
          <p:cNvPr id="516" name="Google Shape;516;p39"/>
          <p:cNvSpPr/>
          <p:nvPr/>
        </p:nvSpPr>
        <p:spPr>
          <a:xfrm>
            <a:off x="15096029" y="-1327125"/>
            <a:ext cx="4583646" cy="3517948"/>
          </a:xfrm>
          <a:custGeom>
            <a:avLst/>
            <a:gdLst/>
            <a:ahLst/>
            <a:cxnLst/>
            <a:rect l="l" t="t" r="r" b="b"/>
            <a:pathLst>
              <a:path w="4583646" h="3517948" extrusionOk="0">
                <a:moveTo>
                  <a:pt x="0" y="0"/>
                </a:moveTo>
                <a:lnTo>
                  <a:pt x="4583646" y="0"/>
                </a:lnTo>
                <a:lnTo>
                  <a:pt x="4583646" y="3517948"/>
                </a:lnTo>
                <a:lnTo>
                  <a:pt x="0" y="3517948"/>
                </a:lnTo>
                <a:lnTo>
                  <a:pt x="0" y="0"/>
                </a:lnTo>
                <a:close/>
              </a:path>
            </a:pathLst>
          </a:custGeom>
          <a:blipFill rotWithShape="1">
            <a:blip r:embed="rId4">
              <a:alphaModFix/>
            </a:blip>
            <a:stretch>
              <a:fillRect/>
            </a:stretch>
          </a:blipFill>
          <a:ln>
            <a:noFill/>
          </a:ln>
        </p:spPr>
        <p:txBody>
          <a:bodyPr/>
          <a:lstStyle/>
          <a:p>
            <a:endParaRPr lang="en-US"/>
          </a:p>
        </p:txBody>
      </p:sp>
      <p:sp>
        <p:nvSpPr>
          <p:cNvPr id="517" name="Google Shape;517;p39"/>
          <p:cNvSpPr/>
          <p:nvPr/>
        </p:nvSpPr>
        <p:spPr>
          <a:xfrm>
            <a:off x="-127750" y="322526"/>
            <a:ext cx="1945830" cy="921921"/>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518" name="Google Shape;518;p39"/>
          <p:cNvSpPr/>
          <p:nvPr/>
        </p:nvSpPr>
        <p:spPr>
          <a:xfrm>
            <a:off x="12235949" y="9310499"/>
            <a:ext cx="2860075" cy="923133"/>
          </a:xfrm>
          <a:custGeom>
            <a:avLst/>
            <a:gdLst/>
            <a:ahLst/>
            <a:cxnLst/>
            <a:rect l="l" t="t" r="r" b="b"/>
            <a:pathLst>
              <a:path w="3678553" h="1544992" extrusionOk="0">
                <a:moveTo>
                  <a:pt x="0" y="0"/>
                </a:moveTo>
                <a:lnTo>
                  <a:pt x="3678553" y="0"/>
                </a:lnTo>
                <a:lnTo>
                  <a:pt x="3678553" y="1544992"/>
                </a:lnTo>
                <a:lnTo>
                  <a:pt x="0" y="1544992"/>
                </a:lnTo>
                <a:lnTo>
                  <a:pt x="0" y="0"/>
                </a:lnTo>
                <a:close/>
              </a:path>
            </a:pathLst>
          </a:custGeom>
          <a:blipFill rotWithShape="1">
            <a:blip r:embed="rId3">
              <a:alphaModFix/>
            </a:blip>
            <a:stretch>
              <a:fillRect/>
            </a:stretch>
          </a:blipFill>
          <a:ln>
            <a:noFill/>
          </a:ln>
        </p:spPr>
        <p:txBody>
          <a:bodyPr/>
          <a:lstStyle/>
          <a:p>
            <a:endParaRPr lang="en-US"/>
          </a:p>
        </p:txBody>
      </p:sp>
      <p:sp>
        <p:nvSpPr>
          <p:cNvPr id="519" name="Google Shape;519;p39"/>
          <p:cNvSpPr txBox="1"/>
          <p:nvPr/>
        </p:nvSpPr>
        <p:spPr>
          <a:xfrm>
            <a:off x="871726" y="3618550"/>
            <a:ext cx="8067000" cy="60681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Nunito"/>
                <a:ea typeface="Nunito"/>
                <a:cs typeface="Nunito"/>
                <a:sym typeface="Nunito"/>
              </a:rPr>
              <a:t>Land use changes</a:t>
            </a:r>
            <a:endParaRPr sz="4000" b="1">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a:solidFill>
                  <a:schemeClr val="dk1"/>
                </a:solidFill>
                <a:latin typeface="Nunito"/>
                <a:ea typeface="Nunito"/>
                <a:cs typeface="Nunito"/>
                <a:sym typeface="Nunito"/>
              </a:rPr>
              <a:t>Urbanisation and land clearing increase runoff and reduce infiltration, altering river flows and groundwater recharge. Pollutants also enter waterways more easily.</a:t>
            </a:r>
            <a:endParaRPr sz="4000">
              <a:solidFill>
                <a:schemeClr val="dk1"/>
              </a:solidFill>
              <a:latin typeface="Nunito"/>
              <a:ea typeface="Nunito"/>
              <a:cs typeface="Nunito"/>
              <a:sym typeface="Nunito"/>
            </a:endParaRPr>
          </a:p>
        </p:txBody>
      </p:sp>
      <p:sp>
        <p:nvSpPr>
          <p:cNvPr id="520" name="Google Shape;520;p39"/>
          <p:cNvSpPr txBox="1"/>
          <p:nvPr/>
        </p:nvSpPr>
        <p:spPr>
          <a:xfrm>
            <a:off x="9450101" y="3618550"/>
            <a:ext cx="8067000" cy="60681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Nunito"/>
                <a:ea typeface="Nunito"/>
                <a:cs typeface="Nunito"/>
                <a:sym typeface="Nunito"/>
              </a:rPr>
              <a:t>Management and governance</a:t>
            </a:r>
            <a:endParaRPr sz="4000" b="1">
              <a:solidFill>
                <a:schemeClr val="dk1"/>
              </a:solidFill>
              <a:latin typeface="Nunito"/>
              <a:ea typeface="Nunito"/>
              <a:cs typeface="Nunito"/>
              <a:sym typeface="Nunito"/>
            </a:endParaRPr>
          </a:p>
          <a:p>
            <a:pPr marL="0" marR="0" lvl="0" indent="0" algn="l" rtl="0">
              <a:lnSpc>
                <a:spcPct val="116666"/>
              </a:lnSpc>
              <a:spcBef>
                <a:spcPts val="1000"/>
              </a:spcBef>
              <a:spcAft>
                <a:spcPts val="1000"/>
              </a:spcAft>
              <a:buNone/>
            </a:pPr>
            <a:r>
              <a:rPr lang="en-US" sz="4000">
                <a:solidFill>
                  <a:schemeClr val="dk1"/>
                </a:solidFill>
                <a:latin typeface="Nunito"/>
                <a:ea typeface="Nunito"/>
                <a:cs typeface="Nunito"/>
                <a:sym typeface="Nunito"/>
              </a:rPr>
              <a:t>Who controls water resources, how they are funded and how they are maintained all affect availability. Poor management can create shortages.</a:t>
            </a:r>
            <a:endParaRPr sz="4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524"/>
        <p:cNvGrpSpPr/>
        <p:nvPr/>
      </p:nvGrpSpPr>
      <p:grpSpPr>
        <a:xfrm>
          <a:off x="0" y="0"/>
          <a:ext cx="0" cy="0"/>
          <a:chOff x="0" y="0"/>
          <a:chExt cx="0" cy="0"/>
        </a:xfrm>
      </p:grpSpPr>
      <p:sp>
        <p:nvSpPr>
          <p:cNvPr id="525" name="Google Shape;525;p40"/>
          <p:cNvSpPr/>
          <p:nvPr/>
        </p:nvSpPr>
        <p:spPr>
          <a:xfrm>
            <a:off x="5280175" y="2870488"/>
            <a:ext cx="7549498" cy="4546034"/>
          </a:xfrm>
          <a:custGeom>
            <a:avLst/>
            <a:gdLst/>
            <a:ahLst/>
            <a:cxnLst/>
            <a:rect l="l" t="t" r="r" b="b"/>
            <a:pathLst>
              <a:path w="3495138" h="2904814" extrusionOk="0">
                <a:moveTo>
                  <a:pt x="3484655" y="27234"/>
                </a:moveTo>
                <a:cubicBezTo>
                  <a:pt x="3475765" y="23424"/>
                  <a:pt x="3466875" y="20884"/>
                  <a:pt x="3457985" y="20884"/>
                </a:cubicBezTo>
                <a:cubicBezTo>
                  <a:pt x="3431315" y="19614"/>
                  <a:pt x="3379625" y="19614"/>
                  <a:pt x="3322691" y="17074"/>
                </a:cubicBezTo>
                <a:cubicBezTo>
                  <a:pt x="3192555" y="11994"/>
                  <a:pt x="3065130" y="5644"/>
                  <a:pt x="2934995" y="3104"/>
                </a:cubicBezTo>
                <a:cubicBezTo>
                  <a:pt x="2829259" y="564"/>
                  <a:pt x="2726236" y="3104"/>
                  <a:pt x="2620501" y="1834"/>
                </a:cubicBezTo>
                <a:cubicBezTo>
                  <a:pt x="2574411" y="1834"/>
                  <a:pt x="2528321" y="-706"/>
                  <a:pt x="2482231" y="1834"/>
                </a:cubicBezTo>
                <a:cubicBezTo>
                  <a:pt x="2371074" y="9454"/>
                  <a:pt x="2259916" y="10724"/>
                  <a:pt x="2146048" y="8184"/>
                </a:cubicBezTo>
                <a:cubicBezTo>
                  <a:pt x="2089113" y="6914"/>
                  <a:pt x="2032179" y="6914"/>
                  <a:pt x="1975245" y="6914"/>
                </a:cubicBezTo>
                <a:cubicBezTo>
                  <a:pt x="1872221" y="6914"/>
                  <a:pt x="1769197" y="6914"/>
                  <a:pt x="1666173" y="5644"/>
                </a:cubicBezTo>
                <a:cubicBezTo>
                  <a:pt x="1557726" y="4374"/>
                  <a:pt x="489530" y="1834"/>
                  <a:pt x="383795" y="564"/>
                </a:cubicBezTo>
                <a:cubicBezTo>
                  <a:pt x="297038" y="-706"/>
                  <a:pt x="212992" y="564"/>
                  <a:pt x="126235" y="564"/>
                </a:cubicBezTo>
                <a:cubicBezTo>
                  <a:pt x="66589"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3524" y="2878144"/>
                  <a:pt x="226548" y="2881954"/>
                  <a:pt x="329572" y="2887034"/>
                </a:cubicBezTo>
                <a:cubicBezTo>
                  <a:pt x="386506" y="2889574"/>
                  <a:pt x="443440" y="2894654"/>
                  <a:pt x="500375" y="2895924"/>
                </a:cubicBezTo>
                <a:cubicBezTo>
                  <a:pt x="595265" y="2898464"/>
                  <a:pt x="1652617" y="2899734"/>
                  <a:pt x="1747507" y="2901004"/>
                </a:cubicBezTo>
                <a:cubicBezTo>
                  <a:pt x="1761063" y="2901004"/>
                  <a:pt x="1774619" y="2901004"/>
                  <a:pt x="1788175" y="2901004"/>
                </a:cubicBezTo>
                <a:cubicBezTo>
                  <a:pt x="1853243" y="2901004"/>
                  <a:pt x="1921022" y="2899734"/>
                  <a:pt x="1986089" y="2899734"/>
                </a:cubicBezTo>
                <a:cubicBezTo>
                  <a:pt x="2062002" y="2899734"/>
                  <a:pt x="2135203" y="2901004"/>
                  <a:pt x="2211115" y="2901004"/>
                </a:cubicBezTo>
                <a:cubicBezTo>
                  <a:pt x="2322273" y="2901004"/>
                  <a:pt x="2436142" y="2901004"/>
                  <a:pt x="2547299" y="2901004"/>
                </a:cubicBezTo>
                <a:cubicBezTo>
                  <a:pt x="2650323" y="2901004"/>
                  <a:pt x="2753347" y="2902274"/>
                  <a:pt x="2856371" y="2903544"/>
                </a:cubicBezTo>
                <a:cubicBezTo>
                  <a:pt x="2902461" y="2903544"/>
                  <a:pt x="2951262" y="2904814"/>
                  <a:pt x="2997351" y="2904814"/>
                </a:cubicBezTo>
                <a:cubicBezTo>
                  <a:pt x="3146465" y="2903544"/>
                  <a:pt x="3292868" y="2897194"/>
                  <a:pt x="3435124" y="2897194"/>
                </a:cubicBezTo>
                <a:cubicBezTo>
                  <a:pt x="3438935" y="2897194"/>
                  <a:pt x="3444015" y="2894654"/>
                  <a:pt x="3447824" y="2892114"/>
                </a:cubicBezTo>
                <a:cubicBezTo>
                  <a:pt x="3452905" y="2888304"/>
                  <a:pt x="3455445" y="2881954"/>
                  <a:pt x="3457985" y="2879414"/>
                </a:cubicBezTo>
                <a:cubicBezTo>
                  <a:pt x="3459255" y="2812135"/>
                  <a:pt x="3460524" y="2718346"/>
                  <a:pt x="3461795" y="2624556"/>
                </a:cubicBezTo>
                <a:cubicBezTo>
                  <a:pt x="3463065" y="2479406"/>
                  <a:pt x="3473224" y="1085962"/>
                  <a:pt x="3474495" y="940811"/>
                </a:cubicBezTo>
                <a:cubicBezTo>
                  <a:pt x="3474495" y="853721"/>
                  <a:pt x="3475765" y="766631"/>
                  <a:pt x="3477035" y="679540"/>
                </a:cubicBezTo>
                <a:cubicBezTo>
                  <a:pt x="3478305" y="585751"/>
                  <a:pt x="3479574" y="491961"/>
                  <a:pt x="3482115" y="398172"/>
                </a:cubicBezTo>
                <a:cubicBezTo>
                  <a:pt x="3483385" y="342345"/>
                  <a:pt x="3483385" y="284285"/>
                  <a:pt x="3488465" y="228458"/>
                </a:cubicBezTo>
                <a:cubicBezTo>
                  <a:pt x="3493545" y="161465"/>
                  <a:pt x="3496085" y="96706"/>
                  <a:pt x="3494815" y="43744"/>
                </a:cubicBezTo>
                <a:cubicBezTo>
                  <a:pt x="3494815" y="37394"/>
                  <a:pt x="3491005" y="29774"/>
                  <a:pt x="3484655" y="27234"/>
                </a:cubicBezTo>
                <a:close/>
              </a:path>
            </a:pathLst>
          </a:custGeom>
          <a:solidFill>
            <a:srgbClr val="EAFAFF"/>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5600" dirty="0">
                <a:latin typeface="Nunito Sans"/>
                <a:ea typeface="Nunito Sans"/>
                <a:cs typeface="Nunito Sans"/>
                <a:sym typeface="Nunito Sans"/>
              </a:rPr>
              <a:t>Read the different scenarios and identify the factors influencing water access in each one.</a:t>
            </a:r>
            <a:endParaRPr sz="5600" dirty="0">
              <a:latin typeface="Nunito Sans"/>
              <a:ea typeface="Nunito Sans"/>
              <a:cs typeface="Nunito Sans"/>
              <a:sym typeface="Nunito Sans"/>
            </a:endParaRPr>
          </a:p>
        </p:txBody>
      </p:sp>
      <p:sp>
        <p:nvSpPr>
          <p:cNvPr id="526" name="Google Shape;526;p40"/>
          <p:cNvSpPr/>
          <p:nvPr/>
        </p:nvSpPr>
        <p:spPr>
          <a:xfrm rot="-5400000">
            <a:off x="12882324" y="2812901"/>
            <a:ext cx="9528967" cy="466121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3">
              <a:alphaModFix/>
            </a:blip>
            <a:stretch>
              <a:fillRect/>
            </a:stretch>
          </a:blipFill>
          <a:ln>
            <a:noFill/>
          </a:ln>
        </p:spPr>
        <p:txBody>
          <a:bodyPr/>
          <a:lstStyle/>
          <a:p>
            <a:endParaRPr lang="en-US"/>
          </a:p>
        </p:txBody>
      </p:sp>
      <p:sp>
        <p:nvSpPr>
          <p:cNvPr id="527" name="Google Shape;527;p40"/>
          <p:cNvSpPr/>
          <p:nvPr/>
        </p:nvSpPr>
        <p:spPr>
          <a:xfrm rot="5400000">
            <a:off x="-4742787" y="2423155"/>
            <a:ext cx="10022042" cy="5483331"/>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3">
              <a:alphaModFix/>
            </a:blip>
            <a:stretch>
              <a:fillRect/>
            </a:stretch>
          </a:blipFill>
          <a:ln>
            <a:noFill/>
          </a:ln>
        </p:spPr>
        <p:txBody>
          <a:bodyPr/>
          <a:lstStyle/>
          <a:p>
            <a:endParaRPr lang="en-US"/>
          </a:p>
        </p:txBody>
      </p:sp>
      <p:sp>
        <p:nvSpPr>
          <p:cNvPr id="528" name="Google Shape;528;p40"/>
          <p:cNvSpPr/>
          <p:nvPr/>
        </p:nvSpPr>
        <p:spPr>
          <a:xfrm>
            <a:off x="7272320" y="8750083"/>
            <a:ext cx="4786687" cy="1645424"/>
          </a:xfrm>
          <a:custGeom>
            <a:avLst/>
            <a:gdLst/>
            <a:ahLst/>
            <a:cxnLst/>
            <a:rect l="l" t="t" r="r" b="b"/>
            <a:pathLst>
              <a:path w="4786687" h="1645424" extrusionOk="0">
                <a:moveTo>
                  <a:pt x="0" y="0"/>
                </a:moveTo>
                <a:lnTo>
                  <a:pt x="4786687" y="0"/>
                </a:lnTo>
                <a:lnTo>
                  <a:pt x="4786687" y="1645423"/>
                </a:lnTo>
                <a:lnTo>
                  <a:pt x="0" y="1645423"/>
                </a:lnTo>
                <a:lnTo>
                  <a:pt x="0" y="0"/>
                </a:lnTo>
                <a:close/>
              </a:path>
            </a:pathLst>
          </a:custGeom>
          <a:blipFill rotWithShape="1">
            <a:blip r:embed="rId4">
              <a:alphaModFix/>
            </a:blip>
            <a:stretch>
              <a:fillRect/>
            </a:stretch>
          </a:blipFill>
          <a:ln>
            <a:noFill/>
          </a:ln>
        </p:spPr>
        <p:txBody>
          <a:bodyPr/>
          <a:lstStyle/>
          <a:p>
            <a:endParaRPr lang="en-US"/>
          </a:p>
        </p:txBody>
      </p:sp>
      <p:sp>
        <p:nvSpPr>
          <p:cNvPr id="529" name="Google Shape;529;p40"/>
          <p:cNvSpPr txBox="1"/>
          <p:nvPr/>
        </p:nvSpPr>
        <p:spPr>
          <a:xfrm>
            <a:off x="635125" y="309475"/>
            <a:ext cx="168396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a:solidFill>
                  <a:srgbClr val="FFFFFF"/>
                </a:solidFill>
                <a:latin typeface="Yeseva One"/>
                <a:ea typeface="Yeseva One"/>
                <a:cs typeface="Yeseva One"/>
                <a:sym typeface="Yeseva One"/>
              </a:rPr>
              <a:t>ACTIVITY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533"/>
        <p:cNvGrpSpPr/>
        <p:nvPr/>
      </p:nvGrpSpPr>
      <p:grpSpPr>
        <a:xfrm>
          <a:off x="0" y="0"/>
          <a:ext cx="0" cy="0"/>
          <a:chOff x="0" y="0"/>
          <a:chExt cx="0" cy="0"/>
        </a:xfrm>
      </p:grpSpPr>
      <p:sp>
        <p:nvSpPr>
          <p:cNvPr id="534" name="Google Shape;534;p41"/>
          <p:cNvSpPr/>
          <p:nvPr/>
        </p:nvSpPr>
        <p:spPr>
          <a:xfrm>
            <a:off x="1779871" y="75235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535" name="Google Shape;535;p41"/>
          <p:cNvSpPr/>
          <p:nvPr/>
        </p:nvSpPr>
        <p:spPr>
          <a:xfrm>
            <a:off x="343100" y="2402275"/>
            <a:ext cx="9019672" cy="7204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536" name="Google Shape;536;p41"/>
          <p:cNvSpPr/>
          <p:nvPr/>
        </p:nvSpPr>
        <p:spPr>
          <a:xfrm>
            <a:off x="0" y="-635262"/>
            <a:ext cx="2538943" cy="2502013"/>
          </a:xfrm>
          <a:custGeom>
            <a:avLst/>
            <a:gdLst/>
            <a:ahLst/>
            <a:cxnLst/>
            <a:rect l="l" t="t" r="r" b="b"/>
            <a:pathLst>
              <a:path w="2538943" h="2502013" extrusionOk="0">
                <a:moveTo>
                  <a:pt x="0" y="0"/>
                </a:moveTo>
                <a:lnTo>
                  <a:pt x="2538943" y="0"/>
                </a:lnTo>
                <a:lnTo>
                  <a:pt x="2538943" y="2502013"/>
                </a:lnTo>
                <a:lnTo>
                  <a:pt x="0" y="2502013"/>
                </a:lnTo>
                <a:lnTo>
                  <a:pt x="0" y="0"/>
                </a:lnTo>
                <a:close/>
              </a:path>
            </a:pathLst>
          </a:custGeom>
          <a:blipFill rotWithShape="1">
            <a:blip r:embed="rId4">
              <a:alphaModFix/>
            </a:blip>
            <a:stretch>
              <a:fillRect/>
            </a:stretch>
          </a:blipFill>
          <a:ln>
            <a:noFill/>
          </a:ln>
        </p:spPr>
        <p:txBody>
          <a:bodyPr/>
          <a:lstStyle/>
          <a:p>
            <a:endParaRPr lang="en-US"/>
          </a:p>
        </p:txBody>
      </p:sp>
      <p:sp>
        <p:nvSpPr>
          <p:cNvPr id="537" name="Google Shape;537;p41"/>
          <p:cNvSpPr txBox="1"/>
          <p:nvPr/>
        </p:nvSpPr>
        <p:spPr>
          <a:xfrm>
            <a:off x="2553175" y="5"/>
            <a:ext cx="13181700" cy="1231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8000">
                <a:solidFill>
                  <a:srgbClr val="FFFFFF"/>
                </a:solidFill>
                <a:latin typeface="Yeseva One"/>
                <a:ea typeface="Yeseva One"/>
                <a:cs typeface="Yeseva One"/>
                <a:sym typeface="Yeseva One"/>
              </a:rPr>
              <a:t>Climate graphs!</a:t>
            </a:r>
            <a:endParaRPr sz="8000"/>
          </a:p>
        </p:txBody>
      </p:sp>
      <p:sp>
        <p:nvSpPr>
          <p:cNvPr id="538" name="Google Shape;538;p41"/>
          <p:cNvSpPr txBox="1"/>
          <p:nvPr/>
        </p:nvSpPr>
        <p:spPr>
          <a:xfrm>
            <a:off x="460399" y="2471149"/>
            <a:ext cx="9026400" cy="7204122"/>
          </a:xfrm>
          <a:prstGeom prst="rect">
            <a:avLst/>
          </a:prstGeom>
          <a:noFill/>
          <a:ln>
            <a:noFill/>
          </a:ln>
        </p:spPr>
        <p:txBody>
          <a:bodyPr spcFirstLastPara="1" wrap="square" lIns="96950" tIns="96950" rIns="96950" bIns="96950" anchor="t" anchorCtr="0">
            <a:spAutoFit/>
          </a:bodyPr>
          <a:lstStyle/>
          <a:p>
            <a:pPr marL="0" lvl="0" indent="0" algn="l" rtl="0">
              <a:spcBef>
                <a:spcPts val="0"/>
              </a:spcBef>
              <a:spcAft>
                <a:spcPts val="0"/>
              </a:spcAft>
              <a:buNone/>
            </a:pPr>
            <a:r>
              <a:rPr lang="en-US" sz="4884" dirty="0">
                <a:solidFill>
                  <a:schemeClr val="dk1"/>
                </a:solidFill>
                <a:latin typeface="Calibri"/>
                <a:ea typeface="Calibri"/>
                <a:cs typeface="Calibri"/>
                <a:sym typeface="Calibri"/>
              </a:rPr>
              <a:t>Climate graphs display information about the climate of a location. The line graph shows the average temperature each month, whilst the bar graphs show the average rainfall for each month (think of them as ‘cups’ of rainfall!).</a:t>
            </a:r>
          </a:p>
          <a:p>
            <a:pPr marL="0" lvl="0" indent="0" algn="l" rtl="0">
              <a:spcBef>
                <a:spcPts val="0"/>
              </a:spcBef>
              <a:spcAft>
                <a:spcPts val="0"/>
              </a:spcAft>
              <a:buNone/>
            </a:pPr>
            <a:r>
              <a:rPr lang="en-US" sz="3784" b="1" dirty="0">
                <a:solidFill>
                  <a:schemeClr val="dk1"/>
                </a:solidFill>
                <a:latin typeface="Calibri"/>
                <a:ea typeface="Calibri"/>
                <a:cs typeface="Calibri"/>
                <a:sym typeface="Calibri"/>
              </a:rPr>
              <a:t>Remember</a:t>
            </a:r>
            <a:r>
              <a:rPr lang="en-US" sz="3784" dirty="0">
                <a:solidFill>
                  <a:schemeClr val="dk1"/>
                </a:solidFill>
                <a:latin typeface="Calibri"/>
                <a:ea typeface="Calibri"/>
                <a:cs typeface="Calibri"/>
                <a:sym typeface="Calibri"/>
              </a:rPr>
              <a:t>: </a:t>
            </a:r>
          </a:p>
          <a:p>
            <a:pPr marL="0" lvl="0" indent="0" algn="l" rtl="0">
              <a:spcBef>
                <a:spcPts val="0"/>
              </a:spcBef>
              <a:spcAft>
                <a:spcPts val="0"/>
              </a:spcAft>
              <a:buNone/>
            </a:pPr>
            <a:r>
              <a:rPr lang="en-US" sz="3784" dirty="0">
                <a:solidFill>
                  <a:schemeClr val="dk1"/>
                </a:solidFill>
                <a:latin typeface="Calibri"/>
                <a:ea typeface="Calibri"/>
                <a:cs typeface="Calibri"/>
                <a:sym typeface="Calibri"/>
              </a:rPr>
              <a:t>Check which side of the graph to use for precipitation (mm) or temperature (°C).</a:t>
            </a:r>
            <a:endParaRPr sz="3784" dirty="0">
              <a:solidFill>
                <a:schemeClr val="dk1"/>
              </a:solidFill>
              <a:latin typeface="Calibri"/>
              <a:ea typeface="Calibri"/>
              <a:cs typeface="Calibri"/>
              <a:sym typeface="Calibri"/>
            </a:endParaRPr>
          </a:p>
        </p:txBody>
      </p:sp>
      <p:pic>
        <p:nvPicPr>
          <p:cNvPr id="539" name="Google Shape;539;p41"/>
          <p:cNvPicPr preferRelativeResize="0"/>
          <p:nvPr/>
        </p:nvPicPr>
        <p:blipFill rotWithShape="1">
          <a:blip r:embed="rId5">
            <a:alphaModFix/>
          </a:blip>
          <a:srcRect l="2619" t="11559"/>
          <a:stretch/>
        </p:blipFill>
        <p:spPr>
          <a:xfrm>
            <a:off x="9867900" y="3009900"/>
            <a:ext cx="8001000" cy="4493274"/>
          </a:xfrm>
          <a:prstGeom prst="rect">
            <a:avLst/>
          </a:prstGeom>
          <a:noFill/>
          <a:ln>
            <a:noFill/>
          </a:ln>
        </p:spPr>
      </p:pic>
      <p:sp>
        <p:nvSpPr>
          <p:cNvPr id="540" name="Google Shape;540;p41"/>
          <p:cNvSpPr txBox="1"/>
          <p:nvPr/>
        </p:nvSpPr>
        <p:spPr>
          <a:xfrm>
            <a:off x="10287000" y="7503175"/>
            <a:ext cx="8001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t>https://commons.wikimedia.org/w/index.php?curid=145957894</a:t>
            </a:r>
            <a:endParaRPr sz="2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544"/>
        <p:cNvGrpSpPr/>
        <p:nvPr/>
      </p:nvGrpSpPr>
      <p:grpSpPr>
        <a:xfrm>
          <a:off x="0" y="0"/>
          <a:ext cx="0" cy="0"/>
          <a:chOff x="0" y="0"/>
          <a:chExt cx="0" cy="0"/>
        </a:xfrm>
      </p:grpSpPr>
      <p:sp>
        <p:nvSpPr>
          <p:cNvPr id="545" name="Google Shape;545;p42"/>
          <p:cNvSpPr/>
          <p:nvPr/>
        </p:nvSpPr>
        <p:spPr>
          <a:xfrm>
            <a:off x="4572000" y="2870500"/>
            <a:ext cx="9332018" cy="3950547"/>
          </a:xfrm>
          <a:custGeom>
            <a:avLst/>
            <a:gdLst/>
            <a:ahLst/>
            <a:cxnLst/>
            <a:rect l="l" t="t" r="r" b="b"/>
            <a:pathLst>
              <a:path w="3495138" h="2904814" extrusionOk="0">
                <a:moveTo>
                  <a:pt x="3484655" y="27234"/>
                </a:moveTo>
                <a:cubicBezTo>
                  <a:pt x="3475765" y="23424"/>
                  <a:pt x="3466875" y="20884"/>
                  <a:pt x="3457985" y="20884"/>
                </a:cubicBezTo>
                <a:cubicBezTo>
                  <a:pt x="3431315" y="19614"/>
                  <a:pt x="3379625" y="19614"/>
                  <a:pt x="3322691" y="17074"/>
                </a:cubicBezTo>
                <a:cubicBezTo>
                  <a:pt x="3192555" y="11994"/>
                  <a:pt x="3065130" y="5644"/>
                  <a:pt x="2934995" y="3104"/>
                </a:cubicBezTo>
                <a:cubicBezTo>
                  <a:pt x="2829259" y="564"/>
                  <a:pt x="2726236" y="3104"/>
                  <a:pt x="2620501" y="1834"/>
                </a:cubicBezTo>
                <a:cubicBezTo>
                  <a:pt x="2574411" y="1834"/>
                  <a:pt x="2528321" y="-706"/>
                  <a:pt x="2482231" y="1834"/>
                </a:cubicBezTo>
                <a:cubicBezTo>
                  <a:pt x="2371074" y="9454"/>
                  <a:pt x="2259916" y="10724"/>
                  <a:pt x="2146048" y="8184"/>
                </a:cubicBezTo>
                <a:cubicBezTo>
                  <a:pt x="2089113" y="6914"/>
                  <a:pt x="2032179" y="6914"/>
                  <a:pt x="1975245" y="6914"/>
                </a:cubicBezTo>
                <a:cubicBezTo>
                  <a:pt x="1872221" y="6914"/>
                  <a:pt x="1769197" y="6914"/>
                  <a:pt x="1666173" y="5644"/>
                </a:cubicBezTo>
                <a:cubicBezTo>
                  <a:pt x="1557726" y="4374"/>
                  <a:pt x="489530" y="1834"/>
                  <a:pt x="383795" y="564"/>
                </a:cubicBezTo>
                <a:cubicBezTo>
                  <a:pt x="297038" y="-706"/>
                  <a:pt x="212992" y="564"/>
                  <a:pt x="126235" y="564"/>
                </a:cubicBezTo>
                <a:cubicBezTo>
                  <a:pt x="66589"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3524" y="2878144"/>
                  <a:pt x="226548" y="2881954"/>
                  <a:pt x="329572" y="2887034"/>
                </a:cubicBezTo>
                <a:cubicBezTo>
                  <a:pt x="386506" y="2889574"/>
                  <a:pt x="443440" y="2894654"/>
                  <a:pt x="500375" y="2895924"/>
                </a:cubicBezTo>
                <a:cubicBezTo>
                  <a:pt x="595265" y="2898464"/>
                  <a:pt x="1652617" y="2899734"/>
                  <a:pt x="1747507" y="2901004"/>
                </a:cubicBezTo>
                <a:cubicBezTo>
                  <a:pt x="1761063" y="2901004"/>
                  <a:pt x="1774619" y="2901004"/>
                  <a:pt x="1788175" y="2901004"/>
                </a:cubicBezTo>
                <a:cubicBezTo>
                  <a:pt x="1853243" y="2901004"/>
                  <a:pt x="1921022" y="2899734"/>
                  <a:pt x="1986089" y="2899734"/>
                </a:cubicBezTo>
                <a:cubicBezTo>
                  <a:pt x="2062002" y="2899734"/>
                  <a:pt x="2135203" y="2901004"/>
                  <a:pt x="2211115" y="2901004"/>
                </a:cubicBezTo>
                <a:cubicBezTo>
                  <a:pt x="2322273" y="2901004"/>
                  <a:pt x="2436142" y="2901004"/>
                  <a:pt x="2547299" y="2901004"/>
                </a:cubicBezTo>
                <a:cubicBezTo>
                  <a:pt x="2650323" y="2901004"/>
                  <a:pt x="2753347" y="2902274"/>
                  <a:pt x="2856371" y="2903544"/>
                </a:cubicBezTo>
                <a:cubicBezTo>
                  <a:pt x="2902461" y="2903544"/>
                  <a:pt x="2951262" y="2904814"/>
                  <a:pt x="2997351" y="2904814"/>
                </a:cubicBezTo>
                <a:cubicBezTo>
                  <a:pt x="3146465" y="2903544"/>
                  <a:pt x="3292868" y="2897194"/>
                  <a:pt x="3435124" y="2897194"/>
                </a:cubicBezTo>
                <a:cubicBezTo>
                  <a:pt x="3438935" y="2897194"/>
                  <a:pt x="3444015" y="2894654"/>
                  <a:pt x="3447824" y="2892114"/>
                </a:cubicBezTo>
                <a:cubicBezTo>
                  <a:pt x="3452905" y="2888304"/>
                  <a:pt x="3455445" y="2881954"/>
                  <a:pt x="3457985" y="2879414"/>
                </a:cubicBezTo>
                <a:cubicBezTo>
                  <a:pt x="3459255" y="2812135"/>
                  <a:pt x="3460524" y="2718346"/>
                  <a:pt x="3461795" y="2624556"/>
                </a:cubicBezTo>
                <a:cubicBezTo>
                  <a:pt x="3463065" y="2479406"/>
                  <a:pt x="3473224" y="1085962"/>
                  <a:pt x="3474495" y="940811"/>
                </a:cubicBezTo>
                <a:cubicBezTo>
                  <a:pt x="3474495" y="853721"/>
                  <a:pt x="3475765" y="766631"/>
                  <a:pt x="3477035" y="679540"/>
                </a:cubicBezTo>
                <a:cubicBezTo>
                  <a:pt x="3478305" y="585751"/>
                  <a:pt x="3479574" y="491961"/>
                  <a:pt x="3482115" y="398172"/>
                </a:cubicBezTo>
                <a:cubicBezTo>
                  <a:pt x="3483385" y="342345"/>
                  <a:pt x="3483385" y="284285"/>
                  <a:pt x="3488465" y="228458"/>
                </a:cubicBezTo>
                <a:cubicBezTo>
                  <a:pt x="3493545" y="161465"/>
                  <a:pt x="3496085" y="96706"/>
                  <a:pt x="3494815" y="43744"/>
                </a:cubicBezTo>
                <a:cubicBezTo>
                  <a:pt x="3494815" y="37394"/>
                  <a:pt x="3491005" y="29774"/>
                  <a:pt x="3484655" y="27234"/>
                </a:cubicBezTo>
                <a:close/>
              </a:path>
            </a:pathLst>
          </a:custGeom>
          <a:solidFill>
            <a:srgbClr val="EAFAFF"/>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6400" dirty="0">
                <a:latin typeface="Nunito Sans"/>
                <a:ea typeface="Nunito Sans"/>
                <a:cs typeface="Nunito Sans"/>
                <a:sym typeface="Nunito Sans"/>
              </a:rPr>
              <a:t>Construct the climate graph you are provided and answer the questions!</a:t>
            </a:r>
            <a:endParaRPr sz="6400" dirty="0">
              <a:latin typeface="Nunito Sans"/>
              <a:ea typeface="Nunito Sans"/>
              <a:cs typeface="Nunito Sans"/>
              <a:sym typeface="Nunito Sans"/>
            </a:endParaRPr>
          </a:p>
        </p:txBody>
      </p:sp>
      <p:sp>
        <p:nvSpPr>
          <p:cNvPr id="546" name="Google Shape;546;p42"/>
          <p:cNvSpPr/>
          <p:nvPr/>
        </p:nvSpPr>
        <p:spPr>
          <a:xfrm rot="-5400000">
            <a:off x="12882324" y="2812901"/>
            <a:ext cx="9528967" cy="466121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3">
              <a:alphaModFix/>
            </a:blip>
            <a:stretch>
              <a:fillRect/>
            </a:stretch>
          </a:blipFill>
          <a:ln>
            <a:noFill/>
          </a:ln>
        </p:spPr>
        <p:txBody>
          <a:bodyPr/>
          <a:lstStyle/>
          <a:p>
            <a:endParaRPr lang="en-US"/>
          </a:p>
        </p:txBody>
      </p:sp>
      <p:sp>
        <p:nvSpPr>
          <p:cNvPr id="547" name="Google Shape;547;p42"/>
          <p:cNvSpPr/>
          <p:nvPr/>
        </p:nvSpPr>
        <p:spPr>
          <a:xfrm rot="5400000">
            <a:off x="-4742787" y="2423155"/>
            <a:ext cx="10022042" cy="5483331"/>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3">
              <a:alphaModFix/>
            </a:blip>
            <a:stretch>
              <a:fillRect/>
            </a:stretch>
          </a:blipFill>
          <a:ln>
            <a:noFill/>
          </a:ln>
        </p:spPr>
        <p:txBody>
          <a:bodyPr/>
          <a:lstStyle/>
          <a:p>
            <a:endParaRPr lang="en-US"/>
          </a:p>
        </p:txBody>
      </p:sp>
      <p:sp>
        <p:nvSpPr>
          <p:cNvPr id="548" name="Google Shape;548;p42"/>
          <p:cNvSpPr/>
          <p:nvPr/>
        </p:nvSpPr>
        <p:spPr>
          <a:xfrm>
            <a:off x="7272320" y="8750083"/>
            <a:ext cx="4786687" cy="1645424"/>
          </a:xfrm>
          <a:custGeom>
            <a:avLst/>
            <a:gdLst/>
            <a:ahLst/>
            <a:cxnLst/>
            <a:rect l="l" t="t" r="r" b="b"/>
            <a:pathLst>
              <a:path w="4786687" h="1645424" extrusionOk="0">
                <a:moveTo>
                  <a:pt x="0" y="0"/>
                </a:moveTo>
                <a:lnTo>
                  <a:pt x="4786687" y="0"/>
                </a:lnTo>
                <a:lnTo>
                  <a:pt x="4786687" y="1645423"/>
                </a:lnTo>
                <a:lnTo>
                  <a:pt x="0" y="1645423"/>
                </a:lnTo>
                <a:lnTo>
                  <a:pt x="0" y="0"/>
                </a:lnTo>
                <a:close/>
              </a:path>
            </a:pathLst>
          </a:custGeom>
          <a:blipFill rotWithShape="1">
            <a:blip r:embed="rId4">
              <a:alphaModFix/>
            </a:blip>
            <a:stretch>
              <a:fillRect/>
            </a:stretch>
          </a:blipFill>
          <a:ln>
            <a:noFill/>
          </a:ln>
        </p:spPr>
        <p:txBody>
          <a:bodyPr/>
          <a:lstStyle/>
          <a:p>
            <a:endParaRPr lang="en-US"/>
          </a:p>
        </p:txBody>
      </p:sp>
      <p:sp>
        <p:nvSpPr>
          <p:cNvPr id="549" name="Google Shape;549;p42"/>
          <p:cNvSpPr txBox="1"/>
          <p:nvPr/>
        </p:nvSpPr>
        <p:spPr>
          <a:xfrm>
            <a:off x="635125" y="309475"/>
            <a:ext cx="168396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a:solidFill>
                  <a:srgbClr val="FFFFFF"/>
                </a:solidFill>
                <a:latin typeface="Yeseva One"/>
                <a:ea typeface="Yeseva One"/>
                <a:cs typeface="Yeseva One"/>
                <a:sym typeface="Yeseva One"/>
              </a:rPr>
              <a:t>ACTIVITY</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4707</Words>
  <Application>Microsoft Macintosh PowerPoint</Application>
  <PresentationFormat>Custom</PresentationFormat>
  <Paragraphs>427</Paragraphs>
  <Slides>81</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Impact</vt:lpstr>
      <vt:lpstr>Yeseva One</vt:lpstr>
      <vt:lpstr>Arial</vt:lpstr>
      <vt:lpstr>Calibri</vt:lpstr>
      <vt:lpstr>Nunito Sans</vt:lpstr>
      <vt:lpstr>Poppins</vt:lpstr>
      <vt:lpstr>Nunito</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Lorraine Chaffer</cp:lastModifiedBy>
  <cp:revision>6</cp:revision>
  <dcterms:modified xsi:type="dcterms:W3CDTF">2026-02-10T12:40:39Z</dcterms:modified>
</cp:coreProperties>
</file>
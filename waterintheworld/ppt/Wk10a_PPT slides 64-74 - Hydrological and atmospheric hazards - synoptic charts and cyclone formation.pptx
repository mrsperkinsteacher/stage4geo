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trictFirstAndLastChars="0" embedTrueTypeFonts="1" saveSubsetFonts="1" autoCompressPictures="0">
  <p:sldMasterIdLst>
    <p:sldMasterId id="2147483659" r:id="rId1"/>
  </p:sldMasterIdLst>
  <p:notesMasterIdLst>
    <p:notesMasterId r:id="rId83"/>
  </p:notesMasterIdLst>
  <p:sldIdLst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</p:sldIdLst>
  <p:sldSz cx="18288000" cy="10287000"/>
  <p:notesSz cx="6858000" cy="9144000"/>
  <p:embeddedFontLst>
    <p:embeddedFont>
      <p:font typeface="Comic Sans MS" panose="030F0902030302020204" pitchFamily="66" charset="0"/>
      <p:regular r:id="rId84"/>
    </p:embeddedFont>
    <p:embeddedFont>
      <p:font typeface="Impact" panose="020B0806030902050204" pitchFamily="34" charset="0"/>
      <p:regular r:id="rId85"/>
    </p:embeddedFont>
    <p:embeddedFont>
      <p:font typeface="Nunito" pitchFamily="2" charset="77"/>
      <p:regular r:id="rId86"/>
      <p:bold r:id="rId87"/>
      <p:italic r:id="rId88"/>
      <p:boldItalic r:id="rId89"/>
    </p:embeddedFont>
    <p:embeddedFont>
      <p:font typeface="Nunito Sans" pitchFamily="2" charset="77"/>
      <p:regular r:id="rId90"/>
      <p:bold r:id="rId91"/>
      <p:italic r:id="rId92"/>
      <p:boldItalic r:id="rId93"/>
    </p:embeddedFont>
    <p:embeddedFont>
      <p:font typeface="Poppins" pitchFamily="2" charset="77"/>
      <p:regular r:id="rId94"/>
      <p:bold r:id="rId95"/>
      <p:italic r:id="rId96"/>
      <p:boldItalic r:id="rId97"/>
    </p:embeddedFont>
    <p:embeddedFont>
      <p:font typeface="Yeseva One"/>
      <p:regular r:id="rId98"/>
    </p:embeddedFont>
  </p:embeddedFontLst>
  <p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p:defaultTextStyle>
  <p:extLst>
    <p:ext uri="{EFAFB233-063F-42B5-8137-9DF3F51BA10A}">
      <ns3:sldGuideLst>
        <ns3:guide id="1" orient="horz" pos="2160">
          <ns3:clr>
            <ns2:srgbClr val="000000"/>
          </ns3:clr>
        </ns3:guide>
        <ns3:guide id="2" pos="2880">
          <ns3:clr>
            <ns2:srgbClr val="000000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624FBE-0219-4BFE-B597-DF52CD3AB8CC}">
  <a:tblStyle styleId="{B9624FBE-0219-4BFE-B597-DF52CD3AB8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68" Type="http://schemas.openxmlformats.org/officeDocument/2006/relationships/slide" Target="slides/slide67.xml" /><ns0:Relationship Id="rId84" Type="http://schemas.openxmlformats.org/officeDocument/2006/relationships/font" Target="fonts/font1.fntdata" /><ns0:Relationship Id="rId89" Type="http://schemas.openxmlformats.org/officeDocument/2006/relationships/font" Target="fonts/font6.fntdata" /><ns0:Relationship Id="rId74" Type="http://schemas.openxmlformats.org/officeDocument/2006/relationships/slide" Target="slides/slide73.xml" /><ns0:Relationship Id="rId102" Type="http://schemas.openxmlformats.org/officeDocument/2006/relationships/tableStyles" Target="tableStyles.xml" /><ns0:Relationship Id="rId90" Type="http://schemas.openxmlformats.org/officeDocument/2006/relationships/font" Target="fonts/font7.fntdata" /><ns0:Relationship Id="rId95" Type="http://schemas.openxmlformats.org/officeDocument/2006/relationships/font" Target="fonts/font12.fntdata" /><ns0:Relationship Id="rId69" Type="http://schemas.openxmlformats.org/officeDocument/2006/relationships/slide" Target="slides/slide68.xml" /><ns0:Relationship Id="rId85" Type="http://schemas.openxmlformats.org/officeDocument/2006/relationships/font" Target="fonts/font2.fntdata" /><ns0:Relationship Id="rId67" Type="http://schemas.openxmlformats.org/officeDocument/2006/relationships/slide" Target="slides/slide66.xml" /><ns0:Relationship Id="rId70" Type="http://schemas.openxmlformats.org/officeDocument/2006/relationships/slide" Target="slides/slide69.xml" /><ns0:Relationship Id="rId75" Type="http://schemas.openxmlformats.org/officeDocument/2006/relationships/slide" Target="slides/slide74.xml" /><ns0:Relationship Id="rId83" Type="http://schemas.openxmlformats.org/officeDocument/2006/relationships/notesMaster" Target="notesMasters/notesMaster1.xml" /><ns0:Relationship Id="rId88" Type="http://schemas.openxmlformats.org/officeDocument/2006/relationships/font" Target="fonts/font5.fntdata" /><ns0:Relationship Id="rId91" Type="http://schemas.openxmlformats.org/officeDocument/2006/relationships/font" Target="fonts/font8.fntdata" /><ns0:Relationship Id="rId96" Type="http://schemas.openxmlformats.org/officeDocument/2006/relationships/font" Target="fonts/font13.fntdata" /><ns0:Relationship Id="rId1" Type="http://schemas.openxmlformats.org/officeDocument/2006/relationships/slideMaster" Target="slideMasters/slideMaster1.xml" /><ns0:Relationship Id="rId65" Type="http://schemas.openxmlformats.org/officeDocument/2006/relationships/slide" Target="slides/slide64.xml" /><ns0:Relationship Id="rId73" Type="http://schemas.openxmlformats.org/officeDocument/2006/relationships/slide" Target="slides/slide72.xml" /><ns0:Relationship Id="rId86" Type="http://schemas.openxmlformats.org/officeDocument/2006/relationships/font" Target="fonts/font3.fntdata" /><ns0:Relationship Id="rId94" Type="http://schemas.openxmlformats.org/officeDocument/2006/relationships/font" Target="fonts/font11.fntdata" /><ns0:Relationship Id="rId99" Type="http://schemas.openxmlformats.org/officeDocument/2006/relationships/presProps" Target="presProps.xml" /><ns0:Relationship Id="rId101" Type="http://schemas.openxmlformats.org/officeDocument/2006/relationships/theme" Target="theme/theme1.xml" /><ns0:Relationship Id="rId97" Type="http://schemas.openxmlformats.org/officeDocument/2006/relationships/font" Target="fonts/font14.fntdata" /><ns0:Relationship Id="rId71" Type="http://schemas.openxmlformats.org/officeDocument/2006/relationships/slide" Target="slides/slide70.xml" /><ns0:Relationship Id="rId92" Type="http://schemas.openxmlformats.org/officeDocument/2006/relationships/font" Target="fonts/font9.fntdata" /><ns0:Relationship Id="rId66" Type="http://schemas.openxmlformats.org/officeDocument/2006/relationships/slide" Target="slides/slide65.xml" /><ns0:Relationship Id="rId87" Type="http://schemas.openxmlformats.org/officeDocument/2006/relationships/font" Target="fonts/font4.fntdata" /><ns0:Relationship Id="rId100" Type="http://schemas.openxmlformats.org/officeDocument/2006/relationships/viewProps" Target="viewProps.xml" /><ns0:Relationship Id="rId72" Type="http://schemas.openxmlformats.org/officeDocument/2006/relationships/slide" Target="slides/slide71.xml" /><ns0:Relationship Id="rId93" Type="http://schemas.openxmlformats.org/officeDocument/2006/relationships/font" Target="fonts/font10.fntdata" /><ns0:Relationship Id="rId98" Type="http://schemas.openxmlformats.org/officeDocument/2006/relationships/font" Target="fonts/font15.fntdata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a6c093811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g3a6c093811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a6c093811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g3a6c093811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afd49be8f4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g3afd49be8f4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afd49be8f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g3afd49be8f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afd49be8f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add the cause of different directions is because of the Coriolis effect (the Earth’s rotation). </a:t>
            </a:r>
            <a:endParaRPr/>
          </a:p>
        </p:txBody>
      </p:sp>
      <p:sp>
        <p:nvSpPr>
          <p:cNvPr id="1077" name="Google Shape;1077;g3afd49be8f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a6c0938113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g3a6c0938113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afd49be8f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g3afd49be8f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a6c0938113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g3a6c0938113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a6c093811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g3a6c093811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hyperlink" Target="https://creativecommons.org/licenses/by-sa/3.0/?ref=openverse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mons.wikimedia.org/wiki/File:Low_pressure_system_over_Iceland.jpg" TargetMode="External"/><Relationship Id="rId5" Type="http://schemas.openxmlformats.org/officeDocument/2006/relationships/hyperlink" Target="https://commons.wikimedia.org/w/index.php?curid=124440531" TargetMode="External"/><Relationship Id="rId4" Type="http://schemas.openxmlformats.org/officeDocument/2006/relationships/image" Target="../media/image55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57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C4ED"/>
        </a:solidFill>
        <a:effectLst/>
      </p:bgPr>
    </p:bg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7"/>
          <p:cNvSpPr/>
          <p:nvPr/>
        </p:nvSpPr>
        <p:spPr>
          <a:xfrm rot="-85926" flipH="1">
            <a:off x="2604906" y="3134495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9"/>
                </a:lnTo>
                <a:lnTo>
                  <a:pt x="2884699" y="1842329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2" t="-337" r="-140494" b="-34902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9" name="Google Shape;959;p77"/>
          <p:cNvSpPr txBox="1"/>
          <p:nvPr/>
        </p:nvSpPr>
        <p:spPr>
          <a:xfrm>
            <a:off x="0" y="135525"/>
            <a:ext cx="17983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What are hydrological and atmospheric hazards?</a:t>
            </a:r>
            <a:endParaRPr sz="5600" b="1"/>
          </a:p>
        </p:txBody>
      </p:sp>
      <p:sp>
        <p:nvSpPr>
          <p:cNvPr id="960" name="Google Shape;960;p77"/>
          <p:cNvSpPr txBox="1"/>
          <p:nvPr/>
        </p:nvSpPr>
        <p:spPr>
          <a:xfrm>
            <a:off x="12285875" y="7646115"/>
            <a:ext cx="284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Answer</a:t>
            </a:r>
            <a:endParaRPr/>
          </a:p>
        </p:txBody>
      </p:sp>
      <p:sp>
        <p:nvSpPr>
          <p:cNvPr id="961" name="Google Shape;961;p77"/>
          <p:cNvSpPr/>
          <p:nvPr/>
        </p:nvSpPr>
        <p:spPr>
          <a:xfrm>
            <a:off x="16813212" y="9532266"/>
            <a:ext cx="3249526" cy="1364801"/>
          </a:xfrm>
          <a:custGeom>
            <a:avLst/>
            <a:gdLst/>
            <a:ahLst/>
            <a:cxnLst/>
            <a:rect l="l" t="t" r="r" b="b"/>
            <a:pathLst>
              <a:path w="3249526" h="1364801" extrusionOk="0">
                <a:moveTo>
                  <a:pt x="0" y="0"/>
                </a:moveTo>
                <a:lnTo>
                  <a:pt x="3249526" y="0"/>
                </a:lnTo>
                <a:lnTo>
                  <a:pt x="3249526" y="1364801"/>
                </a:lnTo>
                <a:lnTo>
                  <a:pt x="0" y="1364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2" name="Google Shape;962;p77"/>
          <p:cNvSpPr/>
          <p:nvPr/>
        </p:nvSpPr>
        <p:spPr>
          <a:xfrm rot="-82333" flipH="1">
            <a:off x="16831503" y="1505603"/>
            <a:ext cx="2439385" cy="1557927"/>
          </a:xfrm>
          <a:custGeom>
            <a:avLst/>
            <a:gdLst/>
            <a:ahLst/>
            <a:cxnLst/>
            <a:rect l="l" t="t" r="r" b="b"/>
            <a:pathLst>
              <a:path w="2439385" h="1557927" extrusionOk="0">
                <a:moveTo>
                  <a:pt x="2439385" y="0"/>
                </a:moveTo>
                <a:lnTo>
                  <a:pt x="0" y="0"/>
                </a:lnTo>
                <a:lnTo>
                  <a:pt x="0" y="1557926"/>
                </a:lnTo>
                <a:lnTo>
                  <a:pt x="2439385" y="1557926"/>
                </a:lnTo>
                <a:lnTo>
                  <a:pt x="243938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2" t="-337" r="-140494" b="-34902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3" name="Google Shape;963;p77"/>
          <p:cNvSpPr/>
          <p:nvPr/>
        </p:nvSpPr>
        <p:spPr>
          <a:xfrm rot="-85926" flipH="1">
            <a:off x="-987122" y="1364909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8"/>
                </a:lnTo>
                <a:lnTo>
                  <a:pt x="2884699" y="1842328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2" t="-337" r="-140494" b="-34902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64" name="Google Shape;964;p77"/>
          <p:cNvGrpSpPr/>
          <p:nvPr/>
        </p:nvGrpSpPr>
        <p:grpSpPr>
          <a:xfrm>
            <a:off x="11644575" y="1328350"/>
            <a:ext cx="6343829" cy="8653884"/>
            <a:chOff x="-2" y="-38243"/>
            <a:chExt cx="1440863" cy="1552043"/>
          </a:xfrm>
        </p:grpSpPr>
        <p:sp>
          <p:nvSpPr>
            <p:cNvPr id="965" name="Google Shape;965;p77"/>
            <p:cNvSpPr/>
            <p:nvPr/>
          </p:nvSpPr>
          <p:spPr>
            <a:xfrm>
              <a:off x="-2" y="-38243"/>
              <a:ext cx="1440863" cy="1551498"/>
            </a:xfrm>
            <a:custGeom>
              <a:avLst/>
              <a:gdLst/>
              <a:ahLst/>
              <a:cxnLst/>
              <a:rect l="l" t="t" r="r" b="b"/>
              <a:pathLst>
                <a:path w="1309875" h="1513657" extrusionOk="0">
                  <a:moveTo>
                    <a:pt x="0" y="0"/>
                  </a:moveTo>
                  <a:lnTo>
                    <a:pt x="1309875" y="0"/>
                  </a:lnTo>
                  <a:lnTo>
                    <a:pt x="1309875" y="1513657"/>
                  </a:lnTo>
                  <a:lnTo>
                    <a:pt x="0" y="1513657"/>
                  </a:lnTo>
                  <a:close/>
                </a:path>
              </a:pathLst>
            </a:custGeom>
            <a:solidFill>
              <a:srgbClr val="4684A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6" name="Google Shape;966;p77"/>
            <p:cNvSpPr txBox="1"/>
            <p:nvPr/>
          </p:nvSpPr>
          <p:spPr>
            <a:xfrm>
              <a:off x="46452" y="-38099"/>
              <a:ext cx="1393200" cy="155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lang="en-US" sz="3400" b="1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Atmospheric hazards</a:t>
              </a:r>
              <a:r>
                <a:rPr lang="en-US" sz="34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 originate in the atmosphere due to extreme meteorological processes. For example tropical cyclones, severe storms, cold snaps and blizzards. </a:t>
              </a:r>
              <a:endParaRPr sz="3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endParaRPr sz="3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400"/>
                </a:spcAft>
                <a:buNone/>
              </a:pPr>
              <a:r>
                <a:rPr lang="en-US" sz="34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They are often driven by atmospheric instability, pressure systems, convection and uplift, oscillations (e.g. El Nino) and temperature extremes.</a:t>
              </a:r>
              <a:endParaRPr sz="3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67" name="Google Shape;967;p77"/>
          <p:cNvGrpSpPr/>
          <p:nvPr/>
        </p:nvGrpSpPr>
        <p:grpSpPr>
          <a:xfrm>
            <a:off x="571775" y="2781300"/>
            <a:ext cx="4000537" cy="5944280"/>
            <a:chOff x="-132124" y="-181291"/>
            <a:chExt cx="1261800" cy="1692900"/>
          </a:xfrm>
        </p:grpSpPr>
        <p:sp>
          <p:nvSpPr>
            <p:cNvPr id="968" name="Google Shape;968;p77"/>
            <p:cNvSpPr/>
            <p:nvPr/>
          </p:nvSpPr>
          <p:spPr>
            <a:xfrm>
              <a:off x="-131604" y="-180166"/>
              <a:ext cx="1260755" cy="1691512"/>
            </a:xfrm>
            <a:custGeom>
              <a:avLst/>
              <a:gdLst/>
              <a:ahLst/>
              <a:cxnLst/>
              <a:rect l="l" t="t" r="r" b="b"/>
              <a:pathLst>
                <a:path w="1309875" h="1513657" extrusionOk="0">
                  <a:moveTo>
                    <a:pt x="0" y="0"/>
                  </a:moveTo>
                  <a:lnTo>
                    <a:pt x="1309875" y="0"/>
                  </a:lnTo>
                  <a:lnTo>
                    <a:pt x="1309875" y="1513657"/>
                  </a:lnTo>
                  <a:lnTo>
                    <a:pt x="0" y="1513657"/>
                  </a:lnTo>
                  <a:close/>
                </a:path>
              </a:pathLst>
            </a:custGeom>
            <a:solidFill>
              <a:srgbClr val="4684A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9" name="Google Shape;969;p77"/>
            <p:cNvSpPr txBox="1"/>
            <p:nvPr/>
          </p:nvSpPr>
          <p:spPr>
            <a:xfrm>
              <a:off x="-132124" y="-181291"/>
              <a:ext cx="1261800" cy="169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Natural processes within the </a:t>
              </a:r>
              <a:r>
                <a:rPr lang="en-US" sz="3000" b="1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water cycle</a:t>
              </a:r>
              <a:r>
                <a:rPr lang="en-US" sz="30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 and </a:t>
              </a:r>
              <a:r>
                <a:rPr lang="en-US" sz="3000" b="1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atmosphere</a:t>
              </a:r>
              <a:r>
                <a:rPr lang="en-US" sz="30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 that become dangerous to people and environments. </a:t>
              </a:r>
              <a:endParaRPr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sz="30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Complete a VENN diagram comparing atmospheric and hydrological hazards.</a:t>
              </a:r>
              <a:endParaRPr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970" name="Google Shape;970;p77"/>
          <p:cNvSpPr/>
          <p:nvPr/>
        </p:nvSpPr>
        <p:spPr>
          <a:xfrm>
            <a:off x="-1394521" y="9581837"/>
            <a:ext cx="3013491" cy="1265666"/>
          </a:xfrm>
          <a:custGeom>
            <a:avLst/>
            <a:gdLst/>
            <a:ahLst/>
            <a:cxnLst/>
            <a:rect l="l" t="t" r="r" b="b"/>
            <a:pathLst>
              <a:path w="3013491" h="1265666" extrusionOk="0">
                <a:moveTo>
                  <a:pt x="0" y="0"/>
                </a:moveTo>
                <a:lnTo>
                  <a:pt x="3013491" y="0"/>
                </a:lnTo>
                <a:lnTo>
                  <a:pt x="3013491" y="1265666"/>
                </a:lnTo>
                <a:lnTo>
                  <a:pt x="0" y="1265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71" name="Google Shape;971;p77"/>
          <p:cNvGrpSpPr/>
          <p:nvPr/>
        </p:nvGrpSpPr>
        <p:grpSpPr>
          <a:xfrm>
            <a:off x="5091375" y="1328350"/>
            <a:ext cx="5767162" cy="8653884"/>
            <a:chOff x="-443188" y="-38243"/>
            <a:chExt cx="1770371" cy="1552043"/>
          </a:xfrm>
        </p:grpSpPr>
        <p:sp>
          <p:nvSpPr>
            <p:cNvPr id="972" name="Google Shape;972;p77"/>
            <p:cNvSpPr/>
            <p:nvPr/>
          </p:nvSpPr>
          <p:spPr>
            <a:xfrm>
              <a:off x="-443188" y="-38243"/>
              <a:ext cx="1770371" cy="1551498"/>
            </a:xfrm>
            <a:custGeom>
              <a:avLst/>
              <a:gdLst/>
              <a:ahLst/>
              <a:cxnLst/>
              <a:rect l="l" t="t" r="r" b="b"/>
              <a:pathLst>
                <a:path w="1328609" h="1513657" extrusionOk="0">
                  <a:moveTo>
                    <a:pt x="0" y="0"/>
                  </a:moveTo>
                  <a:lnTo>
                    <a:pt x="1328609" y="0"/>
                  </a:lnTo>
                  <a:lnTo>
                    <a:pt x="1328609" y="1513657"/>
                  </a:lnTo>
                  <a:lnTo>
                    <a:pt x="0" y="1513657"/>
                  </a:lnTo>
                  <a:close/>
                </a:path>
              </a:pathLst>
            </a:custGeom>
            <a:solidFill>
              <a:srgbClr val="4684A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3" name="Google Shape;973;p77"/>
            <p:cNvSpPr txBox="1"/>
            <p:nvPr/>
          </p:nvSpPr>
          <p:spPr>
            <a:xfrm>
              <a:off x="-376743" y="-38099"/>
              <a:ext cx="1703700" cy="155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SzPts val="1100"/>
                <a:buNone/>
              </a:pPr>
              <a:r>
                <a:rPr lang="en-US" sz="3500" b="1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Hydrological hazards</a:t>
              </a:r>
              <a:r>
                <a:rPr lang="en-US" sz="35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 are linked to the movement, distribution, and behaviour of water on Earth. For example, floods, storm surges, landslides and avalanches.</a:t>
              </a:r>
              <a:endParaRPr sz="3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SzPts val="1100"/>
                <a:buNone/>
              </a:pPr>
              <a:endParaRPr sz="3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400"/>
                </a:spcAft>
                <a:buSzPts val="1100"/>
                <a:buNone/>
              </a:pPr>
              <a:r>
                <a:rPr lang="en-US" sz="35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They are driven by prolonged rainfall, rapid snow melt, saturated soils and land use changes.</a:t>
              </a:r>
              <a:endParaRPr sz="3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8AC5"/>
        </a:solidFill>
        <a:effectLst/>
      </p:bgPr>
    </p:bg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78"/>
          <p:cNvGrpSpPr/>
          <p:nvPr/>
        </p:nvGrpSpPr>
        <p:grpSpPr>
          <a:xfrm>
            <a:off x="-670377" y="-3138701"/>
            <a:ext cx="18480989" cy="4727752"/>
            <a:chOff x="0" y="0"/>
            <a:chExt cx="24641318" cy="6303670"/>
          </a:xfrm>
        </p:grpSpPr>
        <p:sp>
          <p:nvSpPr>
            <p:cNvPr id="979" name="Google Shape;979;p78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0" name="Google Shape;980;p78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1" name="Google Shape;981;p78"/>
          <p:cNvSpPr txBox="1"/>
          <p:nvPr/>
        </p:nvSpPr>
        <p:spPr>
          <a:xfrm>
            <a:off x="1074350" y="1233638"/>
            <a:ext cx="16035900" cy="7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We are going to study tropical cyclones as a hazard. To understand these, we need to understand pressure systems first. </a:t>
            </a:r>
            <a:endParaRPr dirty="0"/>
          </a:p>
        </p:txBody>
      </p:sp>
      <p:grpSp>
        <p:nvGrpSpPr>
          <p:cNvPr id="982" name="Google Shape;982;p78"/>
          <p:cNvGrpSpPr/>
          <p:nvPr/>
        </p:nvGrpSpPr>
        <p:grpSpPr>
          <a:xfrm rot="10800000">
            <a:off x="-148189" y="8821244"/>
            <a:ext cx="18480989" cy="4727752"/>
            <a:chOff x="0" y="0"/>
            <a:chExt cx="24641318" cy="6303670"/>
          </a:xfrm>
        </p:grpSpPr>
        <p:sp>
          <p:nvSpPr>
            <p:cNvPr id="983" name="Google Shape;983;p78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4" name="Google Shape;984;p78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85" name="Google Shape;985;p78"/>
          <p:cNvGrpSpPr/>
          <p:nvPr/>
        </p:nvGrpSpPr>
        <p:grpSpPr>
          <a:xfrm rot="5400000">
            <a:off x="10047481" y="2490629"/>
            <a:ext cx="18480989" cy="4727752"/>
            <a:chOff x="0" y="0"/>
            <a:chExt cx="24641318" cy="6303670"/>
          </a:xfrm>
        </p:grpSpPr>
        <p:sp>
          <p:nvSpPr>
            <p:cNvPr id="986" name="Google Shape;986;p78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7" name="Google Shape;987;p78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88" name="Google Shape;988;p78"/>
          <p:cNvGrpSpPr/>
          <p:nvPr/>
        </p:nvGrpSpPr>
        <p:grpSpPr>
          <a:xfrm rot="-5400000">
            <a:off x="-10026361" y="3138199"/>
            <a:ext cx="18480989" cy="4727752"/>
            <a:chOff x="0" y="0"/>
            <a:chExt cx="24641318" cy="6303670"/>
          </a:xfrm>
        </p:grpSpPr>
        <p:sp>
          <p:nvSpPr>
            <p:cNvPr id="989" name="Google Shape;989;p78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0" name="Google Shape;990;p78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8AC5"/>
        </a:solidFill>
        <a:effectLst/>
      </p:bgPr>
    </p:bg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5" name="Google Shape;995;p79"/>
          <p:cNvGrpSpPr/>
          <p:nvPr/>
        </p:nvGrpSpPr>
        <p:grpSpPr>
          <a:xfrm>
            <a:off x="-705652" y="-3707388"/>
            <a:ext cx="18480989" cy="4727753"/>
            <a:chOff x="0" y="0"/>
            <a:chExt cx="24641318" cy="6303670"/>
          </a:xfrm>
        </p:grpSpPr>
        <p:sp>
          <p:nvSpPr>
            <p:cNvPr id="996" name="Google Shape;996;p79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7" name="Google Shape;997;p79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98" name="Google Shape;998;p79"/>
          <p:cNvSpPr/>
          <p:nvPr/>
        </p:nvSpPr>
        <p:spPr>
          <a:xfrm>
            <a:off x="9007202" y="1899421"/>
            <a:ext cx="9077821" cy="7324032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9" name="Google Shape;999;p79"/>
          <p:cNvSpPr/>
          <p:nvPr/>
        </p:nvSpPr>
        <p:spPr>
          <a:xfrm>
            <a:off x="122884" y="2185175"/>
            <a:ext cx="8884318" cy="6578666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dirty="0">
                <a:latin typeface="Nunito"/>
                <a:ea typeface="Nunito"/>
                <a:cs typeface="Nunito"/>
                <a:sym typeface="Nunito"/>
              </a:rPr>
              <a:t>The atmosphere is constantly moving. This movement is what creates our weather! </a:t>
            </a:r>
            <a:endParaRPr sz="39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dirty="0">
                <a:latin typeface="Nunito"/>
                <a:ea typeface="Nunito"/>
                <a:cs typeface="Nunito"/>
                <a:sym typeface="Nunito"/>
              </a:rPr>
              <a:t>Air moves because air flows from areas of high pressure flow towards areas of low pressure in the atmosphere.</a:t>
            </a:r>
            <a:endParaRPr sz="39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0" name="Google Shape;1000;p79"/>
          <p:cNvSpPr txBox="1"/>
          <p:nvPr/>
        </p:nvSpPr>
        <p:spPr>
          <a:xfrm>
            <a:off x="1886149" y="427706"/>
            <a:ext cx="144693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The atmosphere… </a:t>
            </a:r>
            <a:endParaRPr dirty="0"/>
          </a:p>
        </p:txBody>
      </p:sp>
      <p:grpSp>
        <p:nvGrpSpPr>
          <p:cNvPr id="1001" name="Google Shape;1001;p79"/>
          <p:cNvGrpSpPr/>
          <p:nvPr/>
        </p:nvGrpSpPr>
        <p:grpSpPr>
          <a:xfrm rot="10800000">
            <a:off x="-148189" y="9065544"/>
            <a:ext cx="18480989" cy="4727752"/>
            <a:chOff x="0" y="0"/>
            <a:chExt cx="24641318" cy="6303670"/>
          </a:xfrm>
        </p:grpSpPr>
        <p:sp>
          <p:nvSpPr>
            <p:cNvPr id="1002" name="Google Shape;1002;p79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3" name="Google Shape;1003;p79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4" name="Google Shape;1004;p79"/>
          <p:cNvGrpSpPr/>
          <p:nvPr/>
        </p:nvGrpSpPr>
        <p:grpSpPr>
          <a:xfrm rot="5400000">
            <a:off x="10400256" y="2490629"/>
            <a:ext cx="18480989" cy="4727752"/>
            <a:chOff x="0" y="0"/>
            <a:chExt cx="24641318" cy="6303670"/>
          </a:xfrm>
        </p:grpSpPr>
        <p:sp>
          <p:nvSpPr>
            <p:cNvPr id="1005" name="Google Shape;1005;p79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6" name="Google Shape;1006;p79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7" name="Google Shape;1007;p79"/>
          <p:cNvGrpSpPr/>
          <p:nvPr/>
        </p:nvGrpSpPr>
        <p:grpSpPr>
          <a:xfrm rot="-5400000">
            <a:off x="-10700071" y="3138191"/>
            <a:ext cx="18480989" cy="4727753"/>
            <a:chOff x="0" y="0"/>
            <a:chExt cx="24641318" cy="6303670"/>
          </a:xfrm>
        </p:grpSpPr>
        <p:sp>
          <p:nvSpPr>
            <p:cNvPr id="1008" name="Google Shape;1008;p79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9" name="Google Shape;1009;p79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10" name="Google Shape;1010;p79"/>
          <p:cNvPicPr preferRelativeResize="0"/>
          <p:nvPr/>
        </p:nvPicPr>
        <p:blipFill rotWithShape="1">
          <a:blip r:embed="rId4">
            <a:alphaModFix/>
          </a:blip>
          <a:srcRect t="10013" b="20055"/>
          <a:stretch/>
        </p:blipFill>
        <p:spPr>
          <a:xfrm>
            <a:off x="9120799" y="3336475"/>
            <a:ext cx="8262850" cy="3614055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79"/>
          <p:cNvSpPr txBox="1"/>
          <p:nvPr/>
        </p:nvSpPr>
        <p:spPr>
          <a:xfrm>
            <a:off x="9120800" y="6950525"/>
            <a:ext cx="82629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SOURCE: https://www.abc.net.au/science/articles/2013/01/31/3679358.htm</a:t>
            </a:r>
            <a:endParaRPr sz="19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8AC5"/>
        </a:solidFill>
        <a:effectLst/>
      </p:bgPr>
    </p:bg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" name="Google Shape;1016;p80"/>
          <p:cNvGrpSpPr/>
          <p:nvPr/>
        </p:nvGrpSpPr>
        <p:grpSpPr>
          <a:xfrm>
            <a:off x="-705652" y="-3738426"/>
            <a:ext cx="18480989" cy="4727753"/>
            <a:chOff x="0" y="0"/>
            <a:chExt cx="24641318" cy="6303670"/>
          </a:xfrm>
        </p:grpSpPr>
        <p:sp>
          <p:nvSpPr>
            <p:cNvPr id="1017" name="Google Shape;1017;p80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8" name="Google Shape;1018;p80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9" name="Google Shape;1019;p80"/>
          <p:cNvSpPr/>
          <p:nvPr/>
        </p:nvSpPr>
        <p:spPr>
          <a:xfrm>
            <a:off x="9365380" y="1818763"/>
            <a:ext cx="9077821" cy="7324032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0" name="Google Shape;1020;p80"/>
          <p:cNvSpPr/>
          <p:nvPr/>
        </p:nvSpPr>
        <p:spPr>
          <a:xfrm>
            <a:off x="236475" y="1738100"/>
            <a:ext cx="9077821" cy="7589852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>
                <a:latin typeface="Nunito"/>
                <a:ea typeface="Nunito"/>
                <a:cs typeface="Nunito"/>
                <a:sym typeface="Nunito"/>
              </a:rPr>
              <a:t>Low pressure systems</a:t>
            </a:r>
            <a:r>
              <a:rPr lang="en-US" sz="3900">
                <a:latin typeface="Nunito"/>
                <a:ea typeface="Nunito"/>
                <a:cs typeface="Nunito"/>
                <a:sym typeface="Nunito"/>
              </a:rPr>
              <a:t>: When air is warmed, it becomes lighter and rises.  As the rising air cools, the evaporated water condenses and forms clouds. Rain can occur. </a:t>
            </a:r>
            <a:endParaRPr sz="39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>
                <a:latin typeface="Nunito"/>
                <a:ea typeface="Nunito"/>
                <a:cs typeface="Nunito"/>
                <a:sym typeface="Nunito"/>
              </a:rPr>
              <a:t>High pressure system</a:t>
            </a:r>
            <a:r>
              <a:rPr lang="en-US" sz="3900">
                <a:latin typeface="Nunito"/>
                <a:ea typeface="Nunito"/>
                <a:cs typeface="Nunito"/>
                <a:sym typeface="Nunito"/>
              </a:rPr>
              <a:t>: When air is cooled, it becomes denser and sinks towards the ground. The sinking air usually discourages cloud formation, leading to clear and stable weather.</a:t>
            </a:r>
            <a:endParaRPr sz="3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1" name="Google Shape;1021;p80"/>
          <p:cNvSpPr txBox="1"/>
          <p:nvPr/>
        </p:nvSpPr>
        <p:spPr>
          <a:xfrm>
            <a:off x="1857653" y="429806"/>
            <a:ext cx="144693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Pressure systems </a:t>
            </a:r>
            <a:endParaRPr/>
          </a:p>
        </p:txBody>
      </p:sp>
      <p:grpSp>
        <p:nvGrpSpPr>
          <p:cNvPr id="1022" name="Google Shape;1022;p80"/>
          <p:cNvGrpSpPr/>
          <p:nvPr/>
        </p:nvGrpSpPr>
        <p:grpSpPr>
          <a:xfrm rot="10800000">
            <a:off x="-148189" y="9065544"/>
            <a:ext cx="18480989" cy="4727752"/>
            <a:chOff x="0" y="0"/>
            <a:chExt cx="24641318" cy="6303670"/>
          </a:xfrm>
        </p:grpSpPr>
        <p:sp>
          <p:nvSpPr>
            <p:cNvPr id="1023" name="Google Shape;1023;p80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" name="Google Shape;1024;p80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5" name="Google Shape;1025;p80"/>
          <p:cNvGrpSpPr/>
          <p:nvPr/>
        </p:nvGrpSpPr>
        <p:grpSpPr>
          <a:xfrm rot="5400000">
            <a:off x="10400256" y="2490629"/>
            <a:ext cx="18480989" cy="4727752"/>
            <a:chOff x="0" y="0"/>
            <a:chExt cx="24641318" cy="6303670"/>
          </a:xfrm>
        </p:grpSpPr>
        <p:sp>
          <p:nvSpPr>
            <p:cNvPr id="1026" name="Google Shape;1026;p80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" name="Google Shape;1027;p80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8" name="Google Shape;1028;p80"/>
          <p:cNvGrpSpPr/>
          <p:nvPr/>
        </p:nvGrpSpPr>
        <p:grpSpPr>
          <a:xfrm rot="-5400000">
            <a:off x="-10823513" y="2758989"/>
            <a:ext cx="18648635" cy="5114601"/>
            <a:chOff x="0" y="-3"/>
            <a:chExt cx="24864846" cy="6819469"/>
          </a:xfrm>
        </p:grpSpPr>
        <p:sp>
          <p:nvSpPr>
            <p:cNvPr id="1029" name="Google Shape;1029;p80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0" name="Google Shape;1030;p80"/>
            <p:cNvSpPr/>
            <p:nvPr/>
          </p:nvSpPr>
          <p:spPr>
            <a:xfrm rot="-10524880" flipH="1">
              <a:off x="12745305" y="466373"/>
              <a:ext cx="11903287" cy="5886716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31" name="Google Shape;1031;p80"/>
          <p:cNvPicPr preferRelativeResize="0"/>
          <p:nvPr/>
        </p:nvPicPr>
        <p:blipFill rotWithShape="1">
          <a:blip r:embed="rId4">
            <a:alphaModFix/>
          </a:blip>
          <a:srcRect t="10013" b="20055"/>
          <a:stretch/>
        </p:blipFill>
        <p:spPr>
          <a:xfrm>
            <a:off x="9698960" y="3286118"/>
            <a:ext cx="8262850" cy="3614055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80"/>
          <p:cNvSpPr txBox="1"/>
          <p:nvPr/>
        </p:nvSpPr>
        <p:spPr>
          <a:xfrm>
            <a:off x="9531323" y="6999389"/>
            <a:ext cx="82629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SOURCE: https://</a:t>
            </a:r>
            <a:r>
              <a:rPr lang="en-US" sz="1900" dirty="0" err="1"/>
              <a:t>www.abc.net.au</a:t>
            </a:r>
            <a:r>
              <a:rPr lang="en-US" sz="1900" dirty="0"/>
              <a:t>/science/articles/2013/01/31/3679358.htm</a:t>
            </a:r>
            <a:endParaRPr sz="1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8AC5"/>
        </a:solidFill>
        <a:effectLst/>
      </p:bgPr>
    </p:bg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Google Shape;1037;p81"/>
          <p:cNvGrpSpPr/>
          <p:nvPr/>
        </p:nvGrpSpPr>
        <p:grpSpPr>
          <a:xfrm>
            <a:off x="-705652" y="-3738426"/>
            <a:ext cx="18480989" cy="4727753"/>
            <a:chOff x="0" y="0"/>
            <a:chExt cx="24641318" cy="6303670"/>
          </a:xfrm>
        </p:grpSpPr>
        <p:sp>
          <p:nvSpPr>
            <p:cNvPr id="1038" name="Google Shape;1038;p81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Google Shape;1039;p81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0" name="Google Shape;1040;p81"/>
          <p:cNvSpPr/>
          <p:nvPr/>
        </p:nvSpPr>
        <p:spPr>
          <a:xfrm>
            <a:off x="8983226" y="1968230"/>
            <a:ext cx="6924047" cy="6841359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1" name="Google Shape;1041;p81"/>
          <p:cNvSpPr/>
          <p:nvPr/>
        </p:nvSpPr>
        <p:spPr>
          <a:xfrm>
            <a:off x="723525" y="1981150"/>
            <a:ext cx="7586286" cy="6841359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Nunito"/>
                <a:ea typeface="Nunito"/>
                <a:cs typeface="Nunito"/>
                <a:sym typeface="Nunito"/>
              </a:rPr>
              <a:t>Because air moves around in a </a:t>
            </a:r>
            <a:r>
              <a:rPr lang="en-US" sz="4000" b="1" dirty="0">
                <a:latin typeface="Nunito"/>
                <a:ea typeface="Nunito"/>
                <a:cs typeface="Nunito"/>
                <a:sym typeface="Nunito"/>
              </a:rPr>
              <a:t>cycle</a:t>
            </a:r>
            <a:r>
              <a:rPr lang="en-US" sz="4000" dirty="0">
                <a:latin typeface="Nunito"/>
                <a:ea typeface="Nunito"/>
                <a:cs typeface="Nunito"/>
                <a:sym typeface="Nunito"/>
              </a:rPr>
              <a:t>, we call pressure systems cyclones or anticyclones (depending on their direction). </a:t>
            </a:r>
            <a:endParaRPr sz="40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-US" sz="4000" b="1" dirty="0">
                <a:latin typeface="Nunito"/>
                <a:ea typeface="Nunito"/>
                <a:cs typeface="Nunito"/>
                <a:sym typeface="Nunito"/>
              </a:rPr>
              <a:t>tropical cyclones that become hazards are</a:t>
            </a:r>
            <a:r>
              <a:rPr lang="en-US" sz="4000" dirty="0">
                <a:latin typeface="Nunito"/>
                <a:ea typeface="Nunito"/>
                <a:cs typeface="Nunito"/>
                <a:sym typeface="Nunito"/>
              </a:rPr>
              <a:t> essentially just extremely intense low-pressure systems</a:t>
            </a:r>
            <a:endParaRPr sz="4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2" name="Google Shape;1042;p81"/>
          <p:cNvSpPr txBox="1"/>
          <p:nvPr/>
        </p:nvSpPr>
        <p:spPr>
          <a:xfrm>
            <a:off x="1857653" y="429806"/>
            <a:ext cx="144693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Pressure systems </a:t>
            </a:r>
            <a:endParaRPr dirty="0"/>
          </a:p>
        </p:txBody>
      </p:sp>
      <p:grpSp>
        <p:nvGrpSpPr>
          <p:cNvPr id="1043" name="Google Shape;1043;p81"/>
          <p:cNvGrpSpPr/>
          <p:nvPr/>
        </p:nvGrpSpPr>
        <p:grpSpPr>
          <a:xfrm rot="10800000">
            <a:off x="-148189" y="9065544"/>
            <a:ext cx="18480989" cy="4727752"/>
            <a:chOff x="0" y="0"/>
            <a:chExt cx="24641318" cy="6303670"/>
          </a:xfrm>
        </p:grpSpPr>
        <p:sp>
          <p:nvSpPr>
            <p:cNvPr id="1044" name="Google Shape;1044;p81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Google Shape;1045;p81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6" name="Google Shape;1046;p81"/>
          <p:cNvGrpSpPr/>
          <p:nvPr/>
        </p:nvGrpSpPr>
        <p:grpSpPr>
          <a:xfrm rot="5400000">
            <a:off x="10400256" y="2490629"/>
            <a:ext cx="18480989" cy="4727752"/>
            <a:chOff x="0" y="0"/>
            <a:chExt cx="24641318" cy="6303670"/>
          </a:xfrm>
        </p:grpSpPr>
        <p:sp>
          <p:nvSpPr>
            <p:cNvPr id="1047" name="Google Shape;1047;p81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Google Shape;1048;p81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9" name="Google Shape;1049;p81"/>
          <p:cNvGrpSpPr/>
          <p:nvPr/>
        </p:nvGrpSpPr>
        <p:grpSpPr>
          <a:xfrm rot="-5400000">
            <a:off x="-10696636" y="3031849"/>
            <a:ext cx="18480989" cy="4727753"/>
            <a:chOff x="0" y="0"/>
            <a:chExt cx="24641318" cy="6303670"/>
          </a:xfrm>
        </p:grpSpPr>
        <p:sp>
          <p:nvSpPr>
            <p:cNvPr id="1050" name="Google Shape;1050;p81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Google Shape;1051;p81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52" name="Google Shape;105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0275" y="2062097"/>
            <a:ext cx="6817875" cy="59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81"/>
          <p:cNvSpPr txBox="1"/>
          <p:nvPr/>
        </p:nvSpPr>
        <p:spPr>
          <a:xfrm>
            <a:off x="9041024" y="8061043"/>
            <a:ext cx="6745800" cy="61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Surfer Today: https://www.surfertoday.com/surfing/what-causes-a-low-pressure-system-to-form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8AC5"/>
        </a:solidFill>
        <a:effectLst/>
      </p:bgPr>
    </p:bg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8" name="Google Shape;1058;p82"/>
          <p:cNvGrpSpPr/>
          <p:nvPr/>
        </p:nvGrpSpPr>
        <p:grpSpPr>
          <a:xfrm>
            <a:off x="-705652" y="-3738426"/>
            <a:ext cx="18480989" cy="4727753"/>
            <a:chOff x="0" y="0"/>
            <a:chExt cx="24641318" cy="6303670"/>
          </a:xfrm>
        </p:grpSpPr>
        <p:sp>
          <p:nvSpPr>
            <p:cNvPr id="1059" name="Google Shape;1059;p82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0" name="Google Shape;1060;p82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1" name="Google Shape;1061;p82"/>
          <p:cNvSpPr/>
          <p:nvPr/>
        </p:nvSpPr>
        <p:spPr>
          <a:xfrm>
            <a:off x="9000206" y="1738102"/>
            <a:ext cx="7545750" cy="6570612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2" name="Google Shape;1062;p82"/>
          <p:cNvSpPr/>
          <p:nvPr/>
        </p:nvSpPr>
        <p:spPr>
          <a:xfrm>
            <a:off x="1557600" y="1738101"/>
            <a:ext cx="6924047" cy="6841359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Nunito"/>
                <a:ea typeface="Nunito"/>
                <a:cs typeface="Nunito"/>
                <a:sym typeface="Nunito"/>
              </a:rPr>
              <a:t>This is what these pressure systems look on satellite images.</a:t>
            </a:r>
            <a:endParaRPr sz="40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3" name="Google Shape;1063;p82"/>
          <p:cNvSpPr txBox="1"/>
          <p:nvPr/>
        </p:nvSpPr>
        <p:spPr>
          <a:xfrm>
            <a:off x="1778700" y="83119"/>
            <a:ext cx="144693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Pressure systems </a:t>
            </a:r>
            <a:endParaRPr dirty="0"/>
          </a:p>
        </p:txBody>
      </p:sp>
      <p:grpSp>
        <p:nvGrpSpPr>
          <p:cNvPr id="1064" name="Google Shape;1064;p82"/>
          <p:cNvGrpSpPr/>
          <p:nvPr/>
        </p:nvGrpSpPr>
        <p:grpSpPr>
          <a:xfrm rot="10800000">
            <a:off x="-148189" y="9065544"/>
            <a:ext cx="18480989" cy="4727752"/>
            <a:chOff x="0" y="0"/>
            <a:chExt cx="24641318" cy="6303670"/>
          </a:xfrm>
        </p:grpSpPr>
        <p:sp>
          <p:nvSpPr>
            <p:cNvPr id="1065" name="Google Shape;1065;p82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6" name="Google Shape;1066;p82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7" name="Google Shape;1067;p82"/>
          <p:cNvGrpSpPr/>
          <p:nvPr/>
        </p:nvGrpSpPr>
        <p:grpSpPr>
          <a:xfrm rot="5400000">
            <a:off x="10400256" y="2490629"/>
            <a:ext cx="18480989" cy="4727752"/>
            <a:chOff x="0" y="0"/>
            <a:chExt cx="24641318" cy="6303670"/>
          </a:xfrm>
        </p:grpSpPr>
        <p:sp>
          <p:nvSpPr>
            <p:cNvPr id="1068" name="Google Shape;1068;p82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9" name="Google Shape;1069;p82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70" name="Google Shape;1070;p82"/>
          <p:cNvGrpSpPr/>
          <p:nvPr/>
        </p:nvGrpSpPr>
        <p:grpSpPr>
          <a:xfrm rot="-5400000">
            <a:off x="-10696636" y="3031849"/>
            <a:ext cx="18480989" cy="4727753"/>
            <a:chOff x="0" y="0"/>
            <a:chExt cx="24641318" cy="6303670"/>
          </a:xfrm>
        </p:grpSpPr>
        <p:sp>
          <p:nvSpPr>
            <p:cNvPr id="1071" name="Google Shape;1071;p82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2" name="Google Shape;1072;p82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73" name="Google Shape;107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0206" y="1719606"/>
            <a:ext cx="7545750" cy="657061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82"/>
          <p:cNvSpPr txBox="1"/>
          <p:nvPr/>
        </p:nvSpPr>
        <p:spPr>
          <a:xfrm>
            <a:off x="9131525" y="8448125"/>
            <a:ext cx="81123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dirty="0">
                <a:solidFill>
                  <a:srgbClr val="232323"/>
                </a:solidFill>
                <a:highlight>
                  <a:srgbClr val="FFFFFF"/>
                </a:highlight>
              </a:rPr>
              <a:t>"</a:t>
            </a:r>
            <a:r>
              <a:rPr lang="en-US" sz="1850" u="sng" dirty="0">
                <a:solidFill>
                  <a:srgbClr val="AD1F8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Low-pressure-system-over-iceland-coriolis-force-overlay</a:t>
            </a:r>
            <a:r>
              <a:rPr lang="en-US" sz="1850" dirty="0">
                <a:solidFill>
                  <a:srgbClr val="232323"/>
                </a:solidFill>
                <a:highlight>
                  <a:srgbClr val="FFFFFF"/>
                </a:highlight>
              </a:rPr>
              <a:t>" by </a:t>
            </a:r>
            <a:r>
              <a:rPr lang="en-US" sz="1850" u="sng" dirty="0">
                <a:solidFill>
                  <a:srgbClr val="AD1F85"/>
                </a:solidFill>
                <a:highlight>
                  <a:srgbClr val="FFFFFF"/>
                </a:highlight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File:Low pressure system over Iceland.jpg: NASA/GSFC, MODIS Rapid Response Team, Jacques Descloitres File:Coriolis effect10.svg: Of this SVG version, Roland Geider (Ogre), of the original PNG, (Cleontuni) derivative work: MikeRun</a:t>
            </a:r>
            <a:r>
              <a:rPr lang="en-US" sz="1850" dirty="0">
                <a:solidFill>
                  <a:srgbClr val="232323"/>
                </a:solidFill>
                <a:highlight>
                  <a:srgbClr val="FFFFFF"/>
                </a:highlight>
              </a:rPr>
              <a:t> is licensed under </a:t>
            </a:r>
            <a:r>
              <a:rPr lang="en-US" sz="1850" u="sng" dirty="0">
                <a:solidFill>
                  <a:srgbClr val="AD1F85"/>
                </a:solidFill>
                <a:highlight>
                  <a:srgbClr val="FFFFFF"/>
                </a:highlight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 3.0</a:t>
            </a:r>
            <a:r>
              <a:rPr lang="en-US" sz="1850" dirty="0">
                <a:solidFill>
                  <a:srgbClr val="232323"/>
                </a:solidFill>
                <a:highlight>
                  <a:srgbClr val="FFFFFF"/>
                </a:highlight>
              </a:rPr>
              <a:t>.</a:t>
            </a:r>
            <a:endParaRPr sz="2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8AC5"/>
        </a:solidFill>
        <a:effectLst/>
      </p:bgPr>
    </p:bg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9" name="Google Shape;1079;p83"/>
          <p:cNvGrpSpPr/>
          <p:nvPr/>
        </p:nvGrpSpPr>
        <p:grpSpPr>
          <a:xfrm>
            <a:off x="-705652" y="-3738426"/>
            <a:ext cx="18480989" cy="4727753"/>
            <a:chOff x="0" y="0"/>
            <a:chExt cx="24641318" cy="6303670"/>
          </a:xfrm>
        </p:grpSpPr>
        <p:sp>
          <p:nvSpPr>
            <p:cNvPr id="1080" name="Google Shape;1080;p83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1" name="Google Shape;1081;p83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82" name="Google Shape;1082;p83"/>
          <p:cNvSpPr/>
          <p:nvPr/>
        </p:nvSpPr>
        <p:spPr>
          <a:xfrm>
            <a:off x="9000200" y="1738100"/>
            <a:ext cx="9077821" cy="7324032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83" name="Google Shape;1083;p83"/>
          <p:cNvSpPr/>
          <p:nvPr/>
        </p:nvSpPr>
        <p:spPr>
          <a:xfrm>
            <a:off x="499250" y="1738100"/>
            <a:ext cx="9347043" cy="7324032"/>
          </a:xfrm>
          <a:custGeom>
            <a:avLst/>
            <a:gdLst/>
            <a:ahLst/>
            <a:cxnLst/>
            <a:rect l="l" t="t" r="r" b="b"/>
            <a:pathLst>
              <a:path w="3365272" h="2798102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3470"/>
                  <a:pt x="16510" y="275864"/>
                  <a:pt x="17780" y="396110"/>
                </a:cubicBezTo>
                <a:cubicBezTo>
                  <a:pt x="19050" y="518503"/>
                  <a:pt x="17780" y="640896"/>
                  <a:pt x="16510" y="765437"/>
                </a:cubicBezTo>
                <a:cubicBezTo>
                  <a:pt x="15240" y="892125"/>
                  <a:pt x="2540" y="2221273"/>
                  <a:pt x="2540" y="2347961"/>
                </a:cubicBezTo>
                <a:cubicBezTo>
                  <a:pt x="2540" y="2472501"/>
                  <a:pt x="1270" y="2597042"/>
                  <a:pt x="0" y="2721583"/>
                </a:cubicBezTo>
                <a:cubicBezTo>
                  <a:pt x="0" y="2743492"/>
                  <a:pt x="3810" y="2753652"/>
                  <a:pt x="15240" y="2758732"/>
                </a:cubicBezTo>
                <a:cubicBezTo>
                  <a:pt x="22860" y="2762542"/>
                  <a:pt x="31750" y="2765082"/>
                  <a:pt x="40640" y="2766352"/>
                </a:cubicBezTo>
                <a:cubicBezTo>
                  <a:pt x="121014" y="2771432"/>
                  <a:pt x="220069" y="2775242"/>
                  <a:pt x="319123" y="2780322"/>
                </a:cubicBezTo>
                <a:cubicBezTo>
                  <a:pt x="373864" y="2782862"/>
                  <a:pt x="428605" y="2787942"/>
                  <a:pt x="483346" y="2789212"/>
                </a:cubicBezTo>
                <a:cubicBezTo>
                  <a:pt x="574580" y="2791752"/>
                  <a:pt x="1591194" y="2793022"/>
                  <a:pt x="1682429" y="2794292"/>
                </a:cubicBezTo>
                <a:cubicBezTo>
                  <a:pt x="1695462" y="2794292"/>
                  <a:pt x="1708496" y="2794292"/>
                  <a:pt x="1721529" y="2794292"/>
                </a:cubicBezTo>
                <a:cubicBezTo>
                  <a:pt x="1784090" y="2794292"/>
                  <a:pt x="1849258" y="2793022"/>
                  <a:pt x="1911818" y="2793022"/>
                </a:cubicBezTo>
                <a:cubicBezTo>
                  <a:pt x="1984806" y="2793022"/>
                  <a:pt x="2055187" y="2794292"/>
                  <a:pt x="2128175" y="2794292"/>
                </a:cubicBezTo>
                <a:cubicBezTo>
                  <a:pt x="2235049" y="2794292"/>
                  <a:pt x="2344531" y="2794292"/>
                  <a:pt x="2451406" y="2794292"/>
                </a:cubicBezTo>
                <a:cubicBezTo>
                  <a:pt x="2550460" y="2794292"/>
                  <a:pt x="2649515" y="2795562"/>
                  <a:pt x="2748570" y="2796832"/>
                </a:cubicBezTo>
                <a:cubicBezTo>
                  <a:pt x="2792884" y="2796832"/>
                  <a:pt x="2839805" y="2798102"/>
                  <a:pt x="2884118" y="2798102"/>
                </a:cubicBezTo>
                <a:cubicBezTo>
                  <a:pt x="3027487" y="2796832"/>
                  <a:pt x="3168249" y="2790482"/>
                  <a:pt x="3305258" y="2790482"/>
                </a:cubicBezTo>
                <a:cubicBezTo>
                  <a:pt x="3309068" y="2790482"/>
                  <a:pt x="3314148" y="2787942"/>
                  <a:pt x="3317958" y="2785402"/>
                </a:cubicBezTo>
                <a:cubicBezTo>
                  <a:pt x="3323038" y="2781592"/>
                  <a:pt x="3325578" y="2775242"/>
                  <a:pt x="3328118" y="2772702"/>
                </a:cubicBezTo>
                <a:cubicBezTo>
                  <a:pt x="3329388" y="2706552"/>
                  <a:pt x="3330658" y="2616367"/>
                  <a:pt x="3331928" y="2526183"/>
                </a:cubicBezTo>
                <a:cubicBezTo>
                  <a:pt x="3333198" y="2386611"/>
                  <a:pt x="3343358" y="1046727"/>
                  <a:pt x="3344628" y="907155"/>
                </a:cubicBezTo>
                <a:cubicBezTo>
                  <a:pt x="3344628" y="823413"/>
                  <a:pt x="3345898" y="739670"/>
                  <a:pt x="3347168" y="655927"/>
                </a:cubicBezTo>
                <a:cubicBezTo>
                  <a:pt x="3348438" y="565742"/>
                  <a:pt x="3349708" y="475558"/>
                  <a:pt x="3352248" y="385373"/>
                </a:cubicBezTo>
                <a:cubicBezTo>
                  <a:pt x="3353518" y="331692"/>
                  <a:pt x="3353518" y="275863"/>
                  <a:pt x="3358598" y="222182"/>
                </a:cubicBezTo>
                <a:cubicBezTo>
                  <a:pt x="3363678" y="157765"/>
                  <a:pt x="3366218" y="95494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latin typeface="Nunito"/>
                <a:ea typeface="Nunito"/>
                <a:cs typeface="Nunito"/>
                <a:sym typeface="Nunito"/>
              </a:rPr>
              <a:t>High and low pressure systems rotate in different directions in the Northern and Southern Hemispheres</a:t>
            </a:r>
            <a:endParaRPr sz="34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latin typeface="Nunito"/>
                <a:ea typeface="Nunito"/>
                <a:cs typeface="Nunito"/>
                <a:sym typeface="Nunito"/>
              </a:rPr>
              <a:t>In the Southern Hemisphere, air moves </a:t>
            </a:r>
            <a:r>
              <a:rPr lang="en-US" sz="3400" b="1" dirty="0">
                <a:latin typeface="Nunito"/>
                <a:ea typeface="Nunito"/>
                <a:cs typeface="Nunito"/>
                <a:sym typeface="Nunito"/>
              </a:rPr>
              <a:t>clockwise around low-pressure systems</a:t>
            </a:r>
            <a:r>
              <a:rPr lang="en-US" sz="3400" dirty="0"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lang="en-US" sz="3400" b="1" dirty="0">
                <a:latin typeface="Nunito"/>
                <a:ea typeface="Nunito"/>
                <a:cs typeface="Nunito"/>
                <a:sym typeface="Nunito"/>
              </a:rPr>
              <a:t>anticlockwise around high-pressure systems</a:t>
            </a:r>
            <a:r>
              <a:rPr lang="en-US" sz="3400" dirty="0">
                <a:latin typeface="Nunito"/>
                <a:ea typeface="Nunito"/>
                <a:cs typeface="Nunito"/>
                <a:sym typeface="Nunito"/>
              </a:rPr>
              <a:t> ( opposite in the Northern Hemisphere). Just image an S (the ‘high’ part turns anti-clockwise!)</a:t>
            </a:r>
            <a:endParaRPr sz="34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84" name="Google Shape;1084;p83"/>
          <p:cNvSpPr txBox="1"/>
          <p:nvPr/>
        </p:nvSpPr>
        <p:spPr>
          <a:xfrm>
            <a:off x="1857653" y="429806"/>
            <a:ext cx="144693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Pressure systems </a:t>
            </a:r>
            <a:endParaRPr/>
          </a:p>
        </p:txBody>
      </p:sp>
      <p:grpSp>
        <p:nvGrpSpPr>
          <p:cNvPr id="1085" name="Google Shape;1085;p83"/>
          <p:cNvGrpSpPr/>
          <p:nvPr/>
        </p:nvGrpSpPr>
        <p:grpSpPr>
          <a:xfrm rot="10800000">
            <a:off x="-148189" y="9065544"/>
            <a:ext cx="18480989" cy="4727752"/>
            <a:chOff x="0" y="0"/>
            <a:chExt cx="24641318" cy="6303670"/>
          </a:xfrm>
        </p:grpSpPr>
        <p:sp>
          <p:nvSpPr>
            <p:cNvPr id="1086" name="Google Shape;1086;p83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7" name="Google Shape;1087;p83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88" name="Google Shape;1088;p83"/>
          <p:cNvGrpSpPr/>
          <p:nvPr/>
        </p:nvGrpSpPr>
        <p:grpSpPr>
          <a:xfrm rot="5400000">
            <a:off x="10400256" y="2490629"/>
            <a:ext cx="18480989" cy="4727752"/>
            <a:chOff x="0" y="0"/>
            <a:chExt cx="24641318" cy="6303670"/>
          </a:xfrm>
        </p:grpSpPr>
        <p:sp>
          <p:nvSpPr>
            <p:cNvPr id="1089" name="Google Shape;1089;p83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0" name="Google Shape;1090;p83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91" name="Google Shape;1091;p83"/>
          <p:cNvGrpSpPr/>
          <p:nvPr/>
        </p:nvGrpSpPr>
        <p:grpSpPr>
          <a:xfrm rot="-5400000">
            <a:off x="-10696636" y="3031849"/>
            <a:ext cx="18480989" cy="4727753"/>
            <a:chOff x="0" y="0"/>
            <a:chExt cx="24641318" cy="6303670"/>
          </a:xfrm>
        </p:grpSpPr>
        <p:sp>
          <p:nvSpPr>
            <p:cNvPr id="1092" name="Google Shape;1092;p83"/>
            <p:cNvSpPr/>
            <p:nvPr/>
          </p:nvSpPr>
          <p:spPr>
            <a:xfrm rot="10800000">
              <a:off x="0" y="0"/>
              <a:ext cx="12746392" cy="6303670"/>
            </a:xfrm>
            <a:custGeom>
              <a:avLst/>
              <a:gdLst/>
              <a:ahLst/>
              <a:cxnLst/>
              <a:rect l="l" t="t" r="r" b="b"/>
              <a:pathLst>
                <a:path w="12746392" h="6303670" extrusionOk="0">
                  <a:moveTo>
                    <a:pt x="0" y="0"/>
                  </a:moveTo>
                  <a:lnTo>
                    <a:pt x="12746392" y="0"/>
                  </a:lnTo>
                  <a:lnTo>
                    <a:pt x="12746392" y="6303670"/>
                  </a:lnTo>
                  <a:lnTo>
                    <a:pt x="0" y="63036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3" name="Google Shape;1093;p83"/>
            <p:cNvSpPr/>
            <p:nvPr/>
          </p:nvSpPr>
          <p:spPr>
            <a:xfrm rot="10800000" flipH="1">
              <a:off x="12746392" y="210544"/>
              <a:ext cx="11894926" cy="5882581"/>
            </a:xfrm>
            <a:custGeom>
              <a:avLst/>
              <a:gdLst/>
              <a:ahLst/>
              <a:cxnLst/>
              <a:rect l="l" t="t" r="r" b="b"/>
              <a:pathLst>
                <a:path w="11894926" h="5882581" extrusionOk="0">
                  <a:moveTo>
                    <a:pt x="11894926" y="0"/>
                  </a:moveTo>
                  <a:lnTo>
                    <a:pt x="0" y="0"/>
                  </a:lnTo>
                  <a:lnTo>
                    <a:pt x="0" y="5882582"/>
                  </a:lnTo>
                  <a:lnTo>
                    <a:pt x="11894926" y="5882582"/>
                  </a:lnTo>
                  <a:lnTo>
                    <a:pt x="11894926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94" name="Google Shape;1094;p83" title="Screenshot 2025-12-12 at 10.53.46 am.png"/>
          <p:cNvPicPr preferRelativeResize="0"/>
          <p:nvPr/>
        </p:nvPicPr>
        <p:blipFill rotWithShape="1">
          <a:blip r:embed="rId4">
            <a:alphaModFix/>
          </a:blip>
          <a:srcRect l="4652"/>
          <a:stretch/>
        </p:blipFill>
        <p:spPr>
          <a:xfrm>
            <a:off x="9663025" y="2801325"/>
            <a:ext cx="8112300" cy="4960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83"/>
          <p:cNvSpPr txBox="1"/>
          <p:nvPr/>
        </p:nvSpPr>
        <p:spPr>
          <a:xfrm>
            <a:off x="9663025" y="8003000"/>
            <a:ext cx="7572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232323"/>
                </a:solidFill>
                <a:highlight>
                  <a:srgbClr val="FFFFFF"/>
                </a:highlight>
              </a:rPr>
              <a:t>Source: Pilot Institute- https://pilotinstitute.com/high-vs-low-pressure-systems-explained/</a:t>
            </a:r>
            <a:endParaRPr sz="2200"/>
          </a:p>
        </p:txBody>
      </p:sp>
      <p:sp>
        <p:nvSpPr>
          <p:cNvPr id="1096" name="Google Shape;1096;p83"/>
          <p:cNvSpPr txBox="1"/>
          <p:nvPr/>
        </p:nvSpPr>
        <p:spPr>
          <a:xfrm>
            <a:off x="5741475" y="6302525"/>
            <a:ext cx="16884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83"/>
          <p:cNvSpPr/>
          <p:nvPr/>
        </p:nvSpPr>
        <p:spPr>
          <a:xfrm>
            <a:off x="6048547" y="7948325"/>
            <a:ext cx="435700" cy="436775"/>
          </a:xfrm>
          <a:custGeom>
            <a:avLst/>
            <a:gdLst/>
            <a:ahLst/>
            <a:cxnLst/>
            <a:rect l="l" t="t" r="r" b="b"/>
            <a:pathLst>
              <a:path w="17428" h="17471" extrusionOk="0">
                <a:moveTo>
                  <a:pt x="3976" y="0"/>
                </a:moveTo>
                <a:cubicBezTo>
                  <a:pt x="7886" y="0"/>
                  <a:pt x="12324" y="987"/>
                  <a:pt x="15089" y="3752"/>
                </a:cubicBezTo>
                <a:cubicBezTo>
                  <a:pt x="17655" y="6318"/>
                  <a:pt x="18190" y="11514"/>
                  <a:pt x="16243" y="14576"/>
                </a:cubicBezTo>
                <a:cubicBezTo>
                  <a:pt x="14107" y="17934"/>
                  <a:pt x="7822" y="18212"/>
                  <a:pt x="4409" y="16164"/>
                </a:cubicBezTo>
                <a:cubicBezTo>
                  <a:pt x="1452" y="14389"/>
                  <a:pt x="-911" y="9842"/>
                  <a:pt x="368" y="6639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98" name="Google Shape;1098;p83"/>
          <p:cNvSpPr/>
          <p:nvPr/>
        </p:nvSpPr>
        <p:spPr>
          <a:xfrm>
            <a:off x="5918525" y="8003000"/>
            <a:ext cx="193500" cy="140100"/>
          </a:xfrm>
          <a:prstGeom prst="triangle">
            <a:avLst>
              <a:gd name="adj" fmla="val 4441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83"/>
          <p:cNvSpPr/>
          <p:nvPr/>
        </p:nvSpPr>
        <p:spPr>
          <a:xfrm rot="6642071">
            <a:off x="6459001" y="7690865"/>
            <a:ext cx="124755" cy="125983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83"/>
          <p:cNvSpPr/>
          <p:nvPr/>
        </p:nvSpPr>
        <p:spPr>
          <a:xfrm>
            <a:off x="6252032" y="7349833"/>
            <a:ext cx="398925" cy="352825"/>
          </a:xfrm>
          <a:custGeom>
            <a:avLst/>
            <a:gdLst/>
            <a:ahLst/>
            <a:cxnLst/>
            <a:rect l="l" t="t" r="r" b="b"/>
            <a:pathLst>
              <a:path w="15957" h="14113" extrusionOk="0">
                <a:moveTo>
                  <a:pt x="15958" y="7897"/>
                </a:moveTo>
                <a:cubicBezTo>
                  <a:pt x="15958" y="2510"/>
                  <a:pt x="5480" y="-2214"/>
                  <a:pt x="1273" y="1150"/>
                </a:cubicBezTo>
                <a:cubicBezTo>
                  <a:pt x="-2532" y="4193"/>
                  <a:pt x="3148" y="14114"/>
                  <a:pt x="8020" y="1411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C4ED"/>
        </a:solidFill>
        <a:effectLst/>
      </p:bgPr>
    </p:bg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84"/>
          <p:cNvSpPr/>
          <p:nvPr/>
        </p:nvSpPr>
        <p:spPr>
          <a:xfrm>
            <a:off x="1768925" y="2867025"/>
            <a:ext cx="15043771" cy="5272237"/>
          </a:xfrm>
          <a:custGeom>
            <a:avLst/>
            <a:gdLst/>
            <a:ahLst/>
            <a:cxnLst/>
            <a:rect l="l" t="t" r="r" b="b"/>
            <a:pathLst>
              <a:path w="3625005" h="2904814" extrusionOk="0">
                <a:moveTo>
                  <a:pt x="3614521" y="27234"/>
                </a:moveTo>
                <a:cubicBezTo>
                  <a:pt x="3605631" y="23424"/>
                  <a:pt x="3596741" y="20884"/>
                  <a:pt x="3587851" y="20884"/>
                </a:cubicBezTo>
                <a:cubicBezTo>
                  <a:pt x="3561181" y="19614"/>
                  <a:pt x="3507586" y="19614"/>
                  <a:pt x="3448458" y="17074"/>
                </a:cubicBezTo>
                <a:cubicBezTo>
                  <a:pt x="3313309" y="11994"/>
                  <a:pt x="3180975" y="5644"/>
                  <a:pt x="3045825" y="3104"/>
                </a:cubicBezTo>
                <a:cubicBezTo>
                  <a:pt x="2936016" y="564"/>
                  <a:pt x="2829023" y="3104"/>
                  <a:pt x="2719214" y="1834"/>
                </a:cubicBezTo>
                <a:cubicBezTo>
                  <a:pt x="2671348" y="1834"/>
                  <a:pt x="2623483" y="-706"/>
                  <a:pt x="2575617" y="1834"/>
                </a:cubicBezTo>
                <a:cubicBezTo>
                  <a:pt x="2460177" y="9454"/>
                  <a:pt x="2344737" y="10724"/>
                  <a:pt x="2226482" y="8184"/>
                </a:cubicBezTo>
                <a:cubicBezTo>
                  <a:pt x="2167353" y="6914"/>
                  <a:pt x="2108226" y="6914"/>
                  <a:pt x="2049098" y="6914"/>
                </a:cubicBezTo>
                <a:cubicBezTo>
                  <a:pt x="1942104" y="6914"/>
                  <a:pt x="1835111" y="6914"/>
                  <a:pt x="1728118" y="5644"/>
                </a:cubicBezTo>
                <a:cubicBezTo>
                  <a:pt x="1615493" y="4374"/>
                  <a:pt x="506141" y="1834"/>
                  <a:pt x="396332" y="564"/>
                </a:cubicBezTo>
                <a:cubicBezTo>
                  <a:pt x="306233" y="-706"/>
                  <a:pt x="218949" y="564"/>
                  <a:pt x="128849" y="564"/>
                </a:cubicBezTo>
                <a:cubicBezTo>
                  <a:pt x="66905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6999"/>
                  <a:pt x="16510" y="284285"/>
                  <a:pt x="17780" y="409337"/>
                </a:cubicBezTo>
                <a:cubicBezTo>
                  <a:pt x="19050" y="536623"/>
                  <a:pt x="17780" y="663909"/>
                  <a:pt x="16510" y="793428"/>
                </a:cubicBezTo>
                <a:cubicBezTo>
                  <a:pt x="15240" y="925180"/>
                  <a:pt x="2540" y="2307458"/>
                  <a:pt x="2540" y="2439210"/>
                </a:cubicBezTo>
                <a:cubicBezTo>
                  <a:pt x="2540" y="2568729"/>
                  <a:pt x="1270" y="2698248"/>
                  <a:pt x="0" y="2827767"/>
                </a:cubicBezTo>
                <a:cubicBezTo>
                  <a:pt x="0" y="2850204"/>
                  <a:pt x="3810" y="2860364"/>
                  <a:pt x="15240" y="2865444"/>
                </a:cubicBezTo>
                <a:cubicBezTo>
                  <a:pt x="22860" y="2869254"/>
                  <a:pt x="31750" y="2871794"/>
                  <a:pt x="40640" y="2873064"/>
                </a:cubicBezTo>
                <a:cubicBezTo>
                  <a:pt x="126033" y="2878144"/>
                  <a:pt x="233027" y="2881954"/>
                  <a:pt x="340020" y="2887034"/>
                </a:cubicBezTo>
                <a:cubicBezTo>
                  <a:pt x="399148" y="2889574"/>
                  <a:pt x="458276" y="2894654"/>
                  <a:pt x="517404" y="2895924"/>
                </a:cubicBezTo>
                <a:cubicBezTo>
                  <a:pt x="615950" y="2898464"/>
                  <a:pt x="1714040" y="2899734"/>
                  <a:pt x="1812586" y="2901004"/>
                </a:cubicBezTo>
                <a:cubicBezTo>
                  <a:pt x="1826664" y="2901004"/>
                  <a:pt x="1840742" y="2901004"/>
                  <a:pt x="1854820" y="2901004"/>
                </a:cubicBezTo>
                <a:cubicBezTo>
                  <a:pt x="1922395" y="2901004"/>
                  <a:pt x="1992786" y="2899734"/>
                  <a:pt x="2060360" y="2899734"/>
                </a:cubicBezTo>
                <a:cubicBezTo>
                  <a:pt x="2139197" y="2899734"/>
                  <a:pt x="2215219" y="2901004"/>
                  <a:pt x="2294056" y="2901004"/>
                </a:cubicBezTo>
                <a:cubicBezTo>
                  <a:pt x="2409496" y="2901004"/>
                  <a:pt x="2527752" y="2901004"/>
                  <a:pt x="2643192" y="2901004"/>
                </a:cubicBezTo>
                <a:cubicBezTo>
                  <a:pt x="2750185" y="2901004"/>
                  <a:pt x="2857179" y="2902274"/>
                  <a:pt x="2964172" y="2903544"/>
                </a:cubicBezTo>
                <a:cubicBezTo>
                  <a:pt x="3012038" y="2903544"/>
                  <a:pt x="3062719" y="2904814"/>
                  <a:pt x="3110584" y="2904814"/>
                </a:cubicBezTo>
                <a:cubicBezTo>
                  <a:pt x="3265443" y="2903544"/>
                  <a:pt x="3417486" y="2897194"/>
                  <a:pt x="3564991" y="2897194"/>
                </a:cubicBezTo>
                <a:cubicBezTo>
                  <a:pt x="3568801" y="2897194"/>
                  <a:pt x="3573881" y="2894654"/>
                  <a:pt x="3577691" y="2892114"/>
                </a:cubicBezTo>
                <a:cubicBezTo>
                  <a:pt x="3582771" y="2888304"/>
                  <a:pt x="3585311" y="2881954"/>
                  <a:pt x="3587851" y="2879414"/>
                </a:cubicBezTo>
                <a:cubicBezTo>
                  <a:pt x="3589121" y="2812135"/>
                  <a:pt x="3590391" y="2718346"/>
                  <a:pt x="3591661" y="2624556"/>
                </a:cubicBezTo>
                <a:cubicBezTo>
                  <a:pt x="3592931" y="2479406"/>
                  <a:pt x="3603091" y="1085962"/>
                  <a:pt x="3604361" y="940811"/>
                </a:cubicBezTo>
                <a:cubicBezTo>
                  <a:pt x="3604361" y="853721"/>
                  <a:pt x="3605631" y="766631"/>
                  <a:pt x="3606901" y="679540"/>
                </a:cubicBezTo>
                <a:cubicBezTo>
                  <a:pt x="3608171" y="585751"/>
                  <a:pt x="3609441" y="491961"/>
                  <a:pt x="3611981" y="398172"/>
                </a:cubicBezTo>
                <a:cubicBezTo>
                  <a:pt x="3613251" y="342345"/>
                  <a:pt x="3613251" y="284285"/>
                  <a:pt x="3618331" y="228458"/>
                </a:cubicBezTo>
                <a:cubicBezTo>
                  <a:pt x="3623411" y="161465"/>
                  <a:pt x="3625951" y="96706"/>
                  <a:pt x="3624681" y="43744"/>
                </a:cubicBezTo>
                <a:cubicBezTo>
                  <a:pt x="3624681" y="37394"/>
                  <a:pt x="3620871" y="29774"/>
                  <a:pt x="3614521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84"/>
          <p:cNvSpPr/>
          <p:nvPr/>
        </p:nvSpPr>
        <p:spPr>
          <a:xfrm>
            <a:off x="-119699" y="7896588"/>
            <a:ext cx="4586747" cy="3102309"/>
          </a:xfrm>
          <a:custGeom>
            <a:avLst/>
            <a:gdLst/>
            <a:ahLst/>
            <a:cxnLst/>
            <a:rect l="l" t="t" r="r" b="b"/>
            <a:pathLst>
              <a:path w="4586747" h="3102309" extrusionOk="0">
                <a:moveTo>
                  <a:pt x="0" y="0"/>
                </a:moveTo>
                <a:lnTo>
                  <a:pt x="4586747" y="0"/>
                </a:lnTo>
                <a:lnTo>
                  <a:pt x="4586747" y="3102309"/>
                </a:lnTo>
                <a:lnTo>
                  <a:pt x="0" y="31023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7" name="Google Shape;1107;p84"/>
          <p:cNvSpPr/>
          <p:nvPr/>
        </p:nvSpPr>
        <p:spPr>
          <a:xfrm>
            <a:off x="2685573" y="8735846"/>
            <a:ext cx="4586747" cy="3102309"/>
          </a:xfrm>
          <a:custGeom>
            <a:avLst/>
            <a:gdLst/>
            <a:ahLst/>
            <a:cxnLst/>
            <a:rect l="l" t="t" r="r" b="b"/>
            <a:pathLst>
              <a:path w="4586747" h="3102309" extrusionOk="0">
                <a:moveTo>
                  <a:pt x="0" y="0"/>
                </a:moveTo>
                <a:lnTo>
                  <a:pt x="4586747" y="0"/>
                </a:lnTo>
                <a:lnTo>
                  <a:pt x="4586747" y="3102308"/>
                </a:lnTo>
                <a:lnTo>
                  <a:pt x="0" y="3102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" name="Google Shape;1108;p84"/>
          <p:cNvSpPr/>
          <p:nvPr/>
        </p:nvSpPr>
        <p:spPr>
          <a:xfrm>
            <a:off x="7272320" y="8750083"/>
            <a:ext cx="4786687" cy="1645424"/>
          </a:xfrm>
          <a:custGeom>
            <a:avLst/>
            <a:gdLst/>
            <a:ahLst/>
            <a:cxnLst/>
            <a:rect l="l" t="t" r="r" b="b"/>
            <a:pathLst>
              <a:path w="4786687" h="1645424" extrusionOk="0">
                <a:moveTo>
                  <a:pt x="0" y="0"/>
                </a:moveTo>
                <a:lnTo>
                  <a:pt x="4786687" y="0"/>
                </a:lnTo>
                <a:lnTo>
                  <a:pt x="4786687" y="1645423"/>
                </a:lnTo>
                <a:lnTo>
                  <a:pt x="0" y="1645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9" name="Google Shape;1109;p84"/>
          <p:cNvSpPr txBox="1"/>
          <p:nvPr/>
        </p:nvSpPr>
        <p:spPr>
          <a:xfrm>
            <a:off x="192905" y="316350"/>
            <a:ext cx="17902200" cy="23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It is this information that we look for on weather maps!</a:t>
            </a:r>
            <a:endParaRPr sz="400"/>
          </a:p>
        </p:txBody>
      </p:sp>
      <p:grpSp>
        <p:nvGrpSpPr>
          <p:cNvPr id="1110" name="Google Shape;1110;p84"/>
          <p:cNvGrpSpPr/>
          <p:nvPr/>
        </p:nvGrpSpPr>
        <p:grpSpPr>
          <a:xfrm>
            <a:off x="1746199" y="3606522"/>
            <a:ext cx="14963137" cy="2720928"/>
            <a:chOff x="-11662093" y="9525"/>
            <a:chExt cx="19282393" cy="3627904"/>
          </a:xfrm>
        </p:grpSpPr>
        <p:sp>
          <p:nvSpPr>
            <p:cNvPr id="1111" name="Google Shape;1111;p84"/>
            <p:cNvSpPr txBox="1"/>
            <p:nvPr/>
          </p:nvSpPr>
          <p:spPr>
            <a:xfrm>
              <a:off x="0" y="9525"/>
              <a:ext cx="7620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6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84"/>
            <p:cNvSpPr txBox="1"/>
            <p:nvPr/>
          </p:nvSpPr>
          <p:spPr>
            <a:xfrm>
              <a:off x="-11662093" y="792829"/>
              <a:ext cx="19066500" cy="28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300" b="1">
                  <a:solidFill>
                    <a:srgbClr val="2B6CB6"/>
                  </a:solidFill>
                  <a:latin typeface="Poppins"/>
                  <a:ea typeface="Poppins"/>
                  <a:cs typeface="Poppins"/>
                  <a:sym typeface="Poppins"/>
                </a:rPr>
                <a:t>Read the worksheet on synoptic charts and answer the questions.</a:t>
              </a:r>
              <a:endParaRPr sz="6300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9DD6"/>
        </a:solidFill>
        <a:effectLst/>
      </p:bgPr>
    </p:bg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5"/>
          <p:cNvSpPr/>
          <p:nvPr/>
        </p:nvSpPr>
        <p:spPr>
          <a:xfrm>
            <a:off x="1818046" y="6609167"/>
            <a:ext cx="2198602" cy="923413"/>
          </a:xfrm>
          <a:custGeom>
            <a:avLst/>
            <a:gdLst/>
            <a:ahLst/>
            <a:cxnLst/>
            <a:rect l="l" t="t" r="r" b="b"/>
            <a:pathLst>
              <a:path w="2198602" h="923413" extrusionOk="0">
                <a:moveTo>
                  <a:pt x="0" y="0"/>
                </a:moveTo>
                <a:lnTo>
                  <a:pt x="2198602" y="0"/>
                </a:lnTo>
                <a:lnTo>
                  <a:pt x="2198602" y="923413"/>
                </a:lnTo>
                <a:lnTo>
                  <a:pt x="0" y="923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118" name="Google Shape;1118;p85"/>
          <p:cNvGrpSpPr/>
          <p:nvPr/>
        </p:nvGrpSpPr>
        <p:grpSpPr>
          <a:xfrm>
            <a:off x="1028696" y="1881528"/>
            <a:ext cx="16230711" cy="7079100"/>
            <a:chOff x="-1" y="-46320"/>
            <a:chExt cx="4274727" cy="1864442"/>
          </a:xfrm>
        </p:grpSpPr>
        <p:sp>
          <p:nvSpPr>
            <p:cNvPr id="1119" name="Google Shape;1119;p85"/>
            <p:cNvSpPr/>
            <p:nvPr/>
          </p:nvSpPr>
          <p:spPr>
            <a:xfrm>
              <a:off x="0" y="0"/>
              <a:ext cx="4274726" cy="1818122"/>
            </a:xfrm>
            <a:custGeom>
              <a:avLst/>
              <a:gdLst/>
              <a:ahLst/>
              <a:cxnLst/>
              <a:rect l="l" t="t" r="r" b="b"/>
              <a:pathLst>
                <a:path w="4274726" h="1818122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818122"/>
                  </a:lnTo>
                  <a:lnTo>
                    <a:pt x="0" y="1818122"/>
                  </a:lnTo>
                  <a:close/>
                </a:path>
              </a:pathLst>
            </a:custGeom>
            <a:solidFill>
              <a:srgbClr val="77CFF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0" name="Google Shape;1120;p85"/>
            <p:cNvSpPr txBox="1"/>
            <p:nvPr/>
          </p:nvSpPr>
          <p:spPr>
            <a:xfrm>
              <a:off x="-1" y="-46320"/>
              <a:ext cx="4274700" cy="179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lang="en-US" sz="40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A tropical cyclone is an </a:t>
              </a:r>
              <a:r>
                <a:rPr lang="en-US" sz="4000" b="1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intense</a:t>
              </a:r>
              <a:r>
                <a:rPr lang="en-US" sz="40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low-pressure system forming over warm tropical oceans.</a:t>
              </a:r>
              <a:endParaRPr sz="4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lang="en-US" sz="40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They form over very warm ocean water (above 26.5°C), which provides energy through evaporation. Warm, moist air rises, creating a low-pressure system, and as this air cools and condenses, heat is released that strengthens the system. </a:t>
              </a:r>
              <a:endParaRPr sz="4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121" name="Google Shape;1121;p85"/>
          <p:cNvSpPr/>
          <p:nvPr/>
        </p:nvSpPr>
        <p:spPr>
          <a:xfrm>
            <a:off x="0" y="7607403"/>
            <a:ext cx="3868185" cy="2679597"/>
          </a:xfrm>
          <a:custGeom>
            <a:avLst/>
            <a:gdLst/>
            <a:ahLst/>
            <a:cxnLst/>
            <a:rect l="l" t="t" r="r" b="b"/>
            <a:pathLst>
              <a:path w="3868185" h="2679597" extrusionOk="0">
                <a:moveTo>
                  <a:pt x="0" y="0"/>
                </a:moveTo>
                <a:lnTo>
                  <a:pt x="3868185" y="0"/>
                </a:lnTo>
                <a:lnTo>
                  <a:pt x="3868185" y="2679597"/>
                </a:lnTo>
                <a:lnTo>
                  <a:pt x="0" y="2679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2" name="Google Shape;1122;p85"/>
          <p:cNvSpPr/>
          <p:nvPr/>
        </p:nvSpPr>
        <p:spPr>
          <a:xfrm>
            <a:off x="13452630" y="6426047"/>
            <a:ext cx="5238750" cy="4114800"/>
          </a:xfrm>
          <a:custGeom>
            <a:avLst/>
            <a:gdLst/>
            <a:ahLst/>
            <a:cxnLst/>
            <a:rect l="l" t="t" r="r" b="b"/>
            <a:pathLst>
              <a:path w="5238750" h="4114800" extrusionOk="0">
                <a:moveTo>
                  <a:pt x="0" y="0"/>
                </a:moveTo>
                <a:lnTo>
                  <a:pt x="5238750" y="0"/>
                </a:lnTo>
                <a:lnTo>
                  <a:pt x="5238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3" name="Google Shape;1123;p85"/>
          <p:cNvSpPr/>
          <p:nvPr/>
        </p:nvSpPr>
        <p:spPr>
          <a:xfrm>
            <a:off x="0" y="52650"/>
            <a:ext cx="2538943" cy="2502013"/>
          </a:xfrm>
          <a:custGeom>
            <a:avLst/>
            <a:gdLst/>
            <a:ahLst/>
            <a:cxnLst/>
            <a:rect l="l" t="t" r="r" b="b"/>
            <a:pathLst>
              <a:path w="2538943" h="2502013" extrusionOk="0">
                <a:moveTo>
                  <a:pt x="0" y="0"/>
                </a:moveTo>
                <a:lnTo>
                  <a:pt x="2538943" y="0"/>
                </a:lnTo>
                <a:lnTo>
                  <a:pt x="2538943" y="2502013"/>
                </a:lnTo>
                <a:lnTo>
                  <a:pt x="0" y="2502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4" name="Google Shape;1124;p85"/>
          <p:cNvSpPr txBox="1"/>
          <p:nvPr/>
        </p:nvSpPr>
        <p:spPr>
          <a:xfrm>
            <a:off x="2538950" y="450025"/>
            <a:ext cx="148329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How do tropical cyclones form?</a:t>
            </a:r>
            <a:endParaRPr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9DD6"/>
        </a:solidFill>
        <a:effectLst/>
      </p:bgPr>
    </p:bg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6"/>
          <p:cNvSpPr/>
          <p:nvPr/>
        </p:nvSpPr>
        <p:spPr>
          <a:xfrm>
            <a:off x="1818046" y="6609167"/>
            <a:ext cx="2198602" cy="923413"/>
          </a:xfrm>
          <a:custGeom>
            <a:avLst/>
            <a:gdLst/>
            <a:ahLst/>
            <a:cxnLst/>
            <a:rect l="l" t="t" r="r" b="b"/>
            <a:pathLst>
              <a:path w="2198602" h="923413" extrusionOk="0">
                <a:moveTo>
                  <a:pt x="0" y="0"/>
                </a:moveTo>
                <a:lnTo>
                  <a:pt x="2198602" y="0"/>
                </a:lnTo>
                <a:lnTo>
                  <a:pt x="2198602" y="923413"/>
                </a:lnTo>
                <a:lnTo>
                  <a:pt x="0" y="923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130" name="Google Shape;1130;p86"/>
          <p:cNvGrpSpPr/>
          <p:nvPr/>
        </p:nvGrpSpPr>
        <p:grpSpPr>
          <a:xfrm>
            <a:off x="1141150" y="2078575"/>
            <a:ext cx="16230707" cy="6903328"/>
            <a:chOff x="0" y="0"/>
            <a:chExt cx="4274726" cy="1818148"/>
          </a:xfrm>
        </p:grpSpPr>
        <p:sp>
          <p:nvSpPr>
            <p:cNvPr id="1131" name="Google Shape;1131;p86"/>
            <p:cNvSpPr/>
            <p:nvPr/>
          </p:nvSpPr>
          <p:spPr>
            <a:xfrm>
              <a:off x="0" y="0"/>
              <a:ext cx="4274726" cy="1818122"/>
            </a:xfrm>
            <a:custGeom>
              <a:avLst/>
              <a:gdLst/>
              <a:ahLst/>
              <a:cxnLst/>
              <a:rect l="l" t="t" r="r" b="b"/>
              <a:pathLst>
                <a:path w="4274726" h="1818122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818122"/>
                  </a:lnTo>
                  <a:lnTo>
                    <a:pt x="0" y="1818122"/>
                  </a:lnTo>
                  <a:close/>
                </a:path>
              </a:pathLst>
            </a:custGeom>
            <a:solidFill>
              <a:srgbClr val="77CFF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2" name="Google Shape;1132;p86"/>
            <p:cNvSpPr txBox="1"/>
            <p:nvPr/>
          </p:nvSpPr>
          <p:spPr>
            <a:xfrm>
              <a:off x="0" y="19048"/>
              <a:ext cx="1784400" cy="179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Tropical cyclones produce very strong winds, intense rainfall, and storm surges along coastlines. </a:t>
              </a:r>
              <a:endParaRPr sz="4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133" name="Google Shape;1133;p86"/>
          <p:cNvSpPr/>
          <p:nvPr/>
        </p:nvSpPr>
        <p:spPr>
          <a:xfrm>
            <a:off x="0" y="7607403"/>
            <a:ext cx="3868185" cy="2679597"/>
          </a:xfrm>
          <a:custGeom>
            <a:avLst/>
            <a:gdLst/>
            <a:ahLst/>
            <a:cxnLst/>
            <a:rect l="l" t="t" r="r" b="b"/>
            <a:pathLst>
              <a:path w="3868185" h="2679597" extrusionOk="0">
                <a:moveTo>
                  <a:pt x="0" y="0"/>
                </a:moveTo>
                <a:lnTo>
                  <a:pt x="3868185" y="0"/>
                </a:lnTo>
                <a:lnTo>
                  <a:pt x="3868185" y="2679597"/>
                </a:lnTo>
                <a:lnTo>
                  <a:pt x="0" y="2679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4" name="Google Shape;1134;p86"/>
          <p:cNvSpPr/>
          <p:nvPr/>
        </p:nvSpPr>
        <p:spPr>
          <a:xfrm>
            <a:off x="13452630" y="6426047"/>
            <a:ext cx="5238750" cy="4114800"/>
          </a:xfrm>
          <a:custGeom>
            <a:avLst/>
            <a:gdLst/>
            <a:ahLst/>
            <a:cxnLst/>
            <a:rect l="l" t="t" r="r" b="b"/>
            <a:pathLst>
              <a:path w="5238750" h="4114800" extrusionOk="0">
                <a:moveTo>
                  <a:pt x="0" y="0"/>
                </a:moveTo>
                <a:lnTo>
                  <a:pt x="5238750" y="0"/>
                </a:lnTo>
                <a:lnTo>
                  <a:pt x="5238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5" name="Google Shape;1135;p86"/>
          <p:cNvSpPr/>
          <p:nvPr/>
        </p:nvSpPr>
        <p:spPr>
          <a:xfrm>
            <a:off x="-285910" y="64186"/>
            <a:ext cx="2538943" cy="2502013"/>
          </a:xfrm>
          <a:custGeom>
            <a:avLst/>
            <a:gdLst/>
            <a:ahLst/>
            <a:cxnLst/>
            <a:rect l="l" t="t" r="r" b="b"/>
            <a:pathLst>
              <a:path w="2538943" h="2502013" extrusionOk="0">
                <a:moveTo>
                  <a:pt x="0" y="0"/>
                </a:moveTo>
                <a:lnTo>
                  <a:pt x="2538943" y="0"/>
                </a:lnTo>
                <a:lnTo>
                  <a:pt x="2538943" y="2502013"/>
                </a:lnTo>
                <a:lnTo>
                  <a:pt x="0" y="2502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6" name="Google Shape;1136;p86"/>
          <p:cNvSpPr txBox="1"/>
          <p:nvPr/>
        </p:nvSpPr>
        <p:spPr>
          <a:xfrm>
            <a:off x="2197769" y="562293"/>
            <a:ext cx="15879934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Why are tropical cyclones natural hazards?</a:t>
            </a:r>
            <a:endParaRPr sz="2000" dirty="0"/>
          </a:p>
        </p:txBody>
      </p:sp>
      <p:pic>
        <p:nvPicPr>
          <p:cNvPr id="1137" name="Google Shape;1137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89325" y="2273300"/>
            <a:ext cx="9182100" cy="61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9DD6"/>
        </a:solidFill>
        <a:effectLst/>
      </p:bgPr>
    </p:bg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7"/>
          <p:cNvSpPr/>
          <p:nvPr/>
        </p:nvSpPr>
        <p:spPr>
          <a:xfrm>
            <a:off x="1818046" y="6609167"/>
            <a:ext cx="2198602" cy="923413"/>
          </a:xfrm>
          <a:custGeom>
            <a:avLst/>
            <a:gdLst/>
            <a:ahLst/>
            <a:cxnLst/>
            <a:rect l="l" t="t" r="r" b="b"/>
            <a:pathLst>
              <a:path w="2198602" h="923413" extrusionOk="0">
                <a:moveTo>
                  <a:pt x="0" y="0"/>
                </a:moveTo>
                <a:lnTo>
                  <a:pt x="2198602" y="0"/>
                </a:lnTo>
                <a:lnTo>
                  <a:pt x="2198602" y="923413"/>
                </a:lnTo>
                <a:lnTo>
                  <a:pt x="0" y="923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143" name="Google Shape;1143;p87"/>
          <p:cNvGrpSpPr/>
          <p:nvPr/>
        </p:nvGrpSpPr>
        <p:grpSpPr>
          <a:xfrm>
            <a:off x="1397669" y="1864895"/>
            <a:ext cx="16230707" cy="6903227"/>
            <a:chOff x="0" y="0"/>
            <a:chExt cx="4274726" cy="1818122"/>
          </a:xfrm>
        </p:grpSpPr>
        <p:sp>
          <p:nvSpPr>
            <p:cNvPr id="1144" name="Google Shape;1144;p87"/>
            <p:cNvSpPr/>
            <p:nvPr/>
          </p:nvSpPr>
          <p:spPr>
            <a:xfrm>
              <a:off x="0" y="0"/>
              <a:ext cx="4274726" cy="1818122"/>
            </a:xfrm>
            <a:custGeom>
              <a:avLst/>
              <a:gdLst/>
              <a:ahLst/>
              <a:cxnLst/>
              <a:rect l="l" t="t" r="r" b="b"/>
              <a:pathLst>
                <a:path w="4274726" h="1818122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818122"/>
                  </a:lnTo>
                  <a:lnTo>
                    <a:pt x="0" y="1818122"/>
                  </a:lnTo>
                  <a:close/>
                </a:path>
              </a:pathLst>
            </a:custGeom>
            <a:solidFill>
              <a:srgbClr val="77CFF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5" name="Google Shape;1145;p87"/>
            <p:cNvSpPr txBox="1"/>
            <p:nvPr/>
          </p:nvSpPr>
          <p:spPr>
            <a:xfrm>
              <a:off x="117069" y="19019"/>
              <a:ext cx="2265600" cy="179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endParaRPr sz="4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40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These effects can lead to many environmental, social and economic impacts, such as; coastal flooding, river flooding, landslides, and widespread damage to homes, infrastructure, agriculture and ecosystems, as well as long-term economic and social impacts.</a:t>
              </a:r>
              <a:endParaRPr sz="4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146" name="Google Shape;1146;p87"/>
          <p:cNvSpPr/>
          <p:nvPr/>
        </p:nvSpPr>
        <p:spPr>
          <a:xfrm>
            <a:off x="-314174" y="7861250"/>
            <a:ext cx="3868185" cy="2679597"/>
          </a:xfrm>
          <a:custGeom>
            <a:avLst/>
            <a:gdLst/>
            <a:ahLst/>
            <a:cxnLst/>
            <a:rect l="l" t="t" r="r" b="b"/>
            <a:pathLst>
              <a:path w="3868185" h="2679597" extrusionOk="0">
                <a:moveTo>
                  <a:pt x="0" y="0"/>
                </a:moveTo>
                <a:lnTo>
                  <a:pt x="3868185" y="0"/>
                </a:lnTo>
                <a:lnTo>
                  <a:pt x="3868185" y="2679597"/>
                </a:lnTo>
                <a:lnTo>
                  <a:pt x="0" y="2679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7" name="Google Shape;1147;p87"/>
          <p:cNvSpPr/>
          <p:nvPr/>
        </p:nvSpPr>
        <p:spPr>
          <a:xfrm>
            <a:off x="13452630" y="6426047"/>
            <a:ext cx="5238750" cy="4114800"/>
          </a:xfrm>
          <a:custGeom>
            <a:avLst/>
            <a:gdLst/>
            <a:ahLst/>
            <a:cxnLst/>
            <a:rect l="l" t="t" r="r" b="b"/>
            <a:pathLst>
              <a:path w="5238750" h="4114800" extrusionOk="0">
                <a:moveTo>
                  <a:pt x="0" y="0"/>
                </a:moveTo>
                <a:lnTo>
                  <a:pt x="5238750" y="0"/>
                </a:lnTo>
                <a:lnTo>
                  <a:pt x="5238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8" name="Google Shape;1148;p87"/>
          <p:cNvSpPr/>
          <p:nvPr/>
        </p:nvSpPr>
        <p:spPr>
          <a:xfrm>
            <a:off x="0" y="52650"/>
            <a:ext cx="2538943" cy="2502013"/>
          </a:xfrm>
          <a:custGeom>
            <a:avLst/>
            <a:gdLst/>
            <a:ahLst/>
            <a:cxnLst/>
            <a:rect l="l" t="t" r="r" b="b"/>
            <a:pathLst>
              <a:path w="2538943" h="2502013" extrusionOk="0">
                <a:moveTo>
                  <a:pt x="0" y="0"/>
                </a:moveTo>
                <a:lnTo>
                  <a:pt x="2538943" y="0"/>
                </a:lnTo>
                <a:lnTo>
                  <a:pt x="2538943" y="2502013"/>
                </a:lnTo>
                <a:lnTo>
                  <a:pt x="0" y="2502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9" name="Google Shape;1149;p87"/>
          <p:cNvSpPr txBox="1"/>
          <p:nvPr/>
        </p:nvSpPr>
        <p:spPr>
          <a:xfrm>
            <a:off x="2374232" y="441708"/>
            <a:ext cx="15671387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What are the impacts of tropical cyclones?</a:t>
            </a:r>
            <a:endParaRPr sz="2000" dirty="0"/>
          </a:p>
        </p:txBody>
      </p:sp>
      <p:sp>
        <p:nvSpPr>
          <p:cNvPr id="1150" name="Google Shape;1150;p87"/>
          <p:cNvSpPr txBox="1"/>
          <p:nvPr/>
        </p:nvSpPr>
        <p:spPr>
          <a:xfrm>
            <a:off x="10371675" y="3534825"/>
            <a:ext cx="62229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r>
              <a:rPr lang="en-US" sz="40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Select and research ONE impact of cyclones and create an informative poster that explains its causes and effects. </a:t>
            </a:r>
            <a:endParaRPr sz="40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4707</Words>
  <Application>Microsoft Macintosh PowerPoint</Application>
  <PresentationFormat>Custom</PresentationFormat>
  <Paragraphs>427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Impact</vt:lpstr>
      <vt:lpstr>Yeseva One</vt:lpstr>
      <vt:lpstr>Arial</vt:lpstr>
      <vt:lpstr>Calibri</vt:lpstr>
      <vt:lpstr>Nunito Sans</vt:lpstr>
      <vt:lpstr>Poppins</vt:lpstr>
      <vt:lpstr>Nunito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Lorraine Chaffer</cp:lastModifiedBy>
  <cp:revision>6</cp:revision>
  <dcterms:modified xsi:type="dcterms:W3CDTF">2026-02-10T12:40:39Z</dcterms:modified>
</cp:coreProperties>
</file>
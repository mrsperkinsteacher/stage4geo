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ns2="http://schemas.openxmlformats.org/drawingml/2006/main" xmlns:ns3="http://schemas.microsoft.com/office/powerpoint/2012/main" xmlns:p="http://schemas.openxmlformats.org/presentationml/2006/main" xmlns:r="http://schemas.openxmlformats.org/officeDocument/2006/relationships" strictFirstAndLastChars="0" embedTrueTypeFonts="1" saveSubsetFonts="1" autoCompressPictures="0">
  <p:sldMasterIdLst>
    <p:sldMasterId id="2147483659" r:id="rId1"/>
  </p:sldMasterIdLst>
  <p:notesMasterIdLst>
    <p:notesMasterId r:id="rId83"/>
  </p:notesMasterIdLst>
  <p:sldIdLst>
    <p:sldId id="332" r:id="rId77"/>
    <p:sldId id="333" r:id="rId78"/>
    <p:sldId id="334" r:id="rId79"/>
  </p:sldIdLst>
  <p:sldSz cx="18288000" cy="10287000"/>
  <p:notesSz cx="6858000" cy="9144000"/>
  <p:embeddedFontLst>
    <p:embeddedFont>
      <p:font typeface="Comic Sans MS" panose="030F0902030302020204" pitchFamily="66" charset="0"/>
      <p:regular r:id="rId84"/>
    </p:embeddedFont>
    <p:embeddedFont>
      <p:font typeface="Impact" panose="020B0806030902050204" pitchFamily="34" charset="0"/>
      <p:regular r:id="rId85"/>
    </p:embeddedFont>
    <p:embeddedFont>
      <p:font typeface="Nunito" pitchFamily="2" charset="77"/>
      <p:regular r:id="rId86"/>
      <p:bold r:id="rId87"/>
      <p:italic r:id="rId88"/>
      <p:boldItalic r:id="rId89"/>
    </p:embeddedFont>
    <p:embeddedFont>
      <p:font typeface="Nunito Sans" pitchFamily="2" charset="77"/>
      <p:regular r:id="rId90"/>
      <p:bold r:id="rId91"/>
      <p:italic r:id="rId92"/>
      <p:boldItalic r:id="rId93"/>
    </p:embeddedFont>
    <p:embeddedFont>
      <p:font typeface="Poppins" pitchFamily="2" charset="77"/>
      <p:regular r:id="rId94"/>
      <p:bold r:id="rId95"/>
      <p:italic r:id="rId96"/>
      <p:boldItalic r:id="rId97"/>
    </p:embeddedFont>
    <p:embeddedFont>
      <p:font typeface="Yeseva One"/>
      <p:regular r:id="rId98"/>
    </p:embeddedFont>
  </p:embeddedFontLst>
  <p:defaultTextStyle>
    <ns2:defPPr marR="0" lvl="0" algn="l" rtl="0">
      <ns2:lnSpc>
        <ns2:spcPct val="100000"/>
      </ns2:lnSpc>
      <ns2:spcBef>
        <ns2:spcPts val="0"/>
      </ns2:spcBef>
      <ns2:spcAft>
        <ns2:spcPts val="0"/>
      </ns2:spcAft>
    </ns2:defPPr>
    <ns2:lvl1pPr marR="0" lvl="0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1pPr>
    <ns2:lvl2pPr marR="0" lvl="1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2pPr>
    <ns2:lvl3pPr marR="0" lvl="2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3pPr>
    <ns2:lvl4pPr marR="0" lvl="3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4pPr>
    <ns2:lvl5pPr marR="0" lvl="4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5pPr>
    <ns2:lvl6pPr marR="0" lvl="5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6pPr>
    <ns2:lvl7pPr marR="0" lvl="6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7pPr>
    <ns2:lvl8pPr marR="0" lvl="7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8pPr>
    <ns2:lvl9pPr marR="0" lvl="8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9pPr>
  </p:defaultTextStyle>
  <p:extLst>
    <p:ext uri="{EFAFB233-063F-42B5-8137-9DF3F51BA10A}">
      <ns3:sldGuideLst>
        <ns3:guide id="1" orient="horz" pos="2160">
          <ns3:clr>
            <ns2:srgbClr val="000000"/>
          </ns3:clr>
        </ns3:guide>
        <ns3:guide id="2" pos="2880">
          <ns3:clr>
            <ns2:srgbClr val="000000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9624FBE-0219-4BFE-B597-DF52CD3AB8CC}">
  <a:tblStyle styleId="{B9624FBE-0219-4BFE-B597-DF52CD3AB8C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80" d="100"/>
          <a:sy n="80" d="100"/>
        </p:scale>
        <p:origin x="824" y="2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ns0:Relationships xmlns:ns0="http://schemas.openxmlformats.org/package/2006/relationships"><ns0:Relationship Id="rId84" Type="http://schemas.openxmlformats.org/officeDocument/2006/relationships/font" Target="fonts/font1.fntdata" /><ns0:Relationship Id="rId89" Type="http://schemas.openxmlformats.org/officeDocument/2006/relationships/font" Target="fonts/font6.fntdata" /><ns0:Relationship Id="rId79" Type="http://schemas.openxmlformats.org/officeDocument/2006/relationships/slide" Target="slides/slide78.xml" /><ns0:Relationship Id="rId102" Type="http://schemas.openxmlformats.org/officeDocument/2006/relationships/tableStyles" Target="tableStyles.xml" /><ns0:Relationship Id="rId90" Type="http://schemas.openxmlformats.org/officeDocument/2006/relationships/font" Target="fonts/font7.fntdata" /><ns0:Relationship Id="rId95" Type="http://schemas.openxmlformats.org/officeDocument/2006/relationships/font" Target="fonts/font12.fntdata" /><ns0:Relationship Id="rId85" Type="http://schemas.openxmlformats.org/officeDocument/2006/relationships/font" Target="fonts/font2.fntdata" /><ns0:Relationship Id="rId83" Type="http://schemas.openxmlformats.org/officeDocument/2006/relationships/notesMaster" Target="notesMasters/notesMaster1.xml" /><ns0:Relationship Id="rId88" Type="http://schemas.openxmlformats.org/officeDocument/2006/relationships/font" Target="fonts/font5.fntdata" /><ns0:Relationship Id="rId91" Type="http://schemas.openxmlformats.org/officeDocument/2006/relationships/font" Target="fonts/font8.fntdata" /><ns0:Relationship Id="rId96" Type="http://schemas.openxmlformats.org/officeDocument/2006/relationships/font" Target="fonts/font13.fntdata" /><ns0:Relationship Id="rId1" Type="http://schemas.openxmlformats.org/officeDocument/2006/relationships/slideMaster" Target="slideMasters/slideMaster1.xml" /><ns0:Relationship Id="rId78" Type="http://schemas.openxmlformats.org/officeDocument/2006/relationships/slide" Target="slides/slide77.xml" /><ns0:Relationship Id="rId86" Type="http://schemas.openxmlformats.org/officeDocument/2006/relationships/font" Target="fonts/font3.fntdata" /><ns0:Relationship Id="rId94" Type="http://schemas.openxmlformats.org/officeDocument/2006/relationships/font" Target="fonts/font11.fntdata" /><ns0:Relationship Id="rId99" Type="http://schemas.openxmlformats.org/officeDocument/2006/relationships/presProps" Target="presProps.xml" /><ns0:Relationship Id="rId101" Type="http://schemas.openxmlformats.org/officeDocument/2006/relationships/theme" Target="theme/theme1.xml" /><ns0:Relationship Id="rId97" Type="http://schemas.openxmlformats.org/officeDocument/2006/relationships/font" Target="fonts/font14.fntdata" /><ns0:Relationship Id="rId92" Type="http://schemas.openxmlformats.org/officeDocument/2006/relationships/font" Target="fonts/font9.fntdata" /><ns0:Relationship Id="rId87" Type="http://schemas.openxmlformats.org/officeDocument/2006/relationships/font" Target="fonts/font4.fntdata" /><ns0:Relationship Id="rId77" Type="http://schemas.openxmlformats.org/officeDocument/2006/relationships/slide" Target="slides/slide76.xml" /><ns0:Relationship Id="rId100" Type="http://schemas.openxmlformats.org/officeDocument/2006/relationships/viewProps" Target="viewProps.xml" /><ns0:Relationship Id="rId93" Type="http://schemas.openxmlformats.org/officeDocument/2006/relationships/font" Target="fonts/font10.fntdata" /><ns0:Relationship Id="rId98" Type="http://schemas.openxmlformats.org/officeDocument/2006/relationships/font" Target="fonts/font15.fntdata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6" name="Google Shape;1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3a6c0938113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-US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Tropical cyclones are forming more often during the cyclone season = </a:t>
            </a:r>
            <a:r>
              <a:rPr lang="en-US" sz="1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Frequency</a:t>
            </a:r>
            <a:br>
              <a:rPr lang="en-US" sz="1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1000"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-US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Flooding from a cyclone affects multiple states and large river catchments = </a:t>
            </a:r>
            <a:r>
              <a:rPr lang="en-US" sz="1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Extent</a:t>
            </a:r>
            <a:br>
              <a:rPr lang="en-US" sz="1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1000"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-US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 cyclone causes stronger winds, heavier rainfall and greater damage to home =</a:t>
            </a:r>
            <a:r>
              <a:rPr lang="en-US" sz="1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Severity</a:t>
            </a:r>
            <a:br>
              <a:rPr lang="en-US" sz="1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1000"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-US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Storm surge flooding reaches further inland than in previous events =</a:t>
            </a:r>
            <a:r>
              <a:rPr lang="en-US" sz="1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Extent</a:t>
            </a:r>
            <a:br>
              <a:rPr lang="en-US" sz="1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1000"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-US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Cyclones are reaching higher categories more quickly before landfall = </a:t>
            </a:r>
            <a:r>
              <a:rPr lang="en-US" sz="1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Severity</a:t>
            </a:r>
            <a:br>
              <a:rPr lang="en-US" sz="1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1000"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-US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 region experiences tropical cyclones almost every year = </a:t>
            </a:r>
            <a:r>
              <a:rPr lang="en-US" sz="1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Frequency</a:t>
            </a:r>
            <a:br>
              <a:rPr lang="en-US" sz="1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1000"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75" name="Google Shape;1175;g3a6c093811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3a6c0938113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3" name="Google Shape;1193;g3a6c0938113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C4ED"/>
        </a:solidFill>
        <a:effectLst/>
      </p:bgPr>
    </p:bg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89"/>
          <p:cNvSpPr/>
          <p:nvPr/>
        </p:nvSpPr>
        <p:spPr>
          <a:xfrm>
            <a:off x="1033146" y="3495760"/>
            <a:ext cx="8287317" cy="4376786"/>
          </a:xfrm>
          <a:custGeom>
            <a:avLst/>
            <a:gdLst/>
            <a:ahLst/>
            <a:cxnLst/>
            <a:rect l="l" t="t" r="r" b="b"/>
            <a:pathLst>
              <a:path w="3365272" h="2904814" extrusionOk="0">
                <a:moveTo>
                  <a:pt x="3354788" y="27234"/>
                </a:moveTo>
                <a:cubicBezTo>
                  <a:pt x="3345898" y="23424"/>
                  <a:pt x="3337008" y="20884"/>
                  <a:pt x="3328118" y="20884"/>
                </a:cubicBezTo>
                <a:cubicBezTo>
                  <a:pt x="3301448" y="19614"/>
                  <a:pt x="3251664" y="19614"/>
                  <a:pt x="3196923" y="17074"/>
                </a:cubicBezTo>
                <a:cubicBezTo>
                  <a:pt x="3071801" y="11994"/>
                  <a:pt x="2949286" y="5644"/>
                  <a:pt x="2824164" y="3104"/>
                </a:cubicBezTo>
                <a:cubicBezTo>
                  <a:pt x="2722503" y="564"/>
                  <a:pt x="2623448" y="3104"/>
                  <a:pt x="2521787" y="1834"/>
                </a:cubicBezTo>
                <a:cubicBezTo>
                  <a:pt x="2477473" y="1834"/>
                  <a:pt x="2433159" y="-706"/>
                  <a:pt x="2388845" y="1834"/>
                </a:cubicBezTo>
                <a:cubicBezTo>
                  <a:pt x="2281970" y="9454"/>
                  <a:pt x="2175096" y="10724"/>
                  <a:pt x="2065614" y="8184"/>
                </a:cubicBezTo>
                <a:cubicBezTo>
                  <a:pt x="2010873" y="6914"/>
                  <a:pt x="1956133" y="6914"/>
                  <a:pt x="1901392" y="6914"/>
                </a:cubicBezTo>
                <a:cubicBezTo>
                  <a:pt x="1802337" y="6914"/>
                  <a:pt x="1703282" y="6914"/>
                  <a:pt x="1604228" y="5644"/>
                </a:cubicBezTo>
                <a:cubicBezTo>
                  <a:pt x="1499960" y="4374"/>
                  <a:pt x="472919" y="1834"/>
                  <a:pt x="371258" y="564"/>
                </a:cubicBezTo>
                <a:cubicBezTo>
                  <a:pt x="287843" y="-706"/>
                  <a:pt x="207035" y="564"/>
                  <a:pt x="123621" y="564"/>
                </a:cubicBezTo>
                <a:cubicBezTo>
                  <a:pt x="66273" y="564"/>
                  <a:pt x="33020" y="3104"/>
                  <a:pt x="5080" y="4374"/>
                </a:cubicBezTo>
                <a:cubicBezTo>
                  <a:pt x="3810" y="4374"/>
                  <a:pt x="2540" y="6914"/>
                  <a:pt x="0" y="8184"/>
                </a:cubicBezTo>
                <a:cubicBezTo>
                  <a:pt x="1270" y="20884"/>
                  <a:pt x="3810" y="33584"/>
                  <a:pt x="5080" y="46284"/>
                </a:cubicBezTo>
                <a:cubicBezTo>
                  <a:pt x="15240" y="156999"/>
                  <a:pt x="16510" y="284285"/>
                  <a:pt x="17780" y="409337"/>
                </a:cubicBezTo>
                <a:cubicBezTo>
                  <a:pt x="19050" y="536623"/>
                  <a:pt x="17780" y="663909"/>
                  <a:pt x="16510" y="793428"/>
                </a:cubicBezTo>
                <a:cubicBezTo>
                  <a:pt x="15240" y="925180"/>
                  <a:pt x="2540" y="2307458"/>
                  <a:pt x="2540" y="2439210"/>
                </a:cubicBezTo>
                <a:cubicBezTo>
                  <a:pt x="2540" y="2568729"/>
                  <a:pt x="1270" y="2698248"/>
                  <a:pt x="0" y="2827767"/>
                </a:cubicBezTo>
                <a:cubicBezTo>
                  <a:pt x="0" y="2850204"/>
                  <a:pt x="3810" y="2860364"/>
                  <a:pt x="15240" y="2865444"/>
                </a:cubicBezTo>
                <a:cubicBezTo>
                  <a:pt x="22860" y="2869254"/>
                  <a:pt x="31750" y="2871794"/>
                  <a:pt x="40640" y="2873064"/>
                </a:cubicBezTo>
                <a:cubicBezTo>
                  <a:pt x="121014" y="2878144"/>
                  <a:pt x="220069" y="2881954"/>
                  <a:pt x="319123" y="2887034"/>
                </a:cubicBezTo>
                <a:cubicBezTo>
                  <a:pt x="373864" y="2889574"/>
                  <a:pt x="428605" y="2894654"/>
                  <a:pt x="483346" y="2895924"/>
                </a:cubicBezTo>
                <a:cubicBezTo>
                  <a:pt x="574580" y="2898464"/>
                  <a:pt x="1591194" y="2899734"/>
                  <a:pt x="1682429" y="2901004"/>
                </a:cubicBezTo>
                <a:cubicBezTo>
                  <a:pt x="1695462" y="2901004"/>
                  <a:pt x="1708496" y="2901004"/>
                  <a:pt x="1721529" y="2901004"/>
                </a:cubicBezTo>
                <a:cubicBezTo>
                  <a:pt x="1784090" y="2901004"/>
                  <a:pt x="1849258" y="2899734"/>
                  <a:pt x="1911818" y="2899734"/>
                </a:cubicBezTo>
                <a:cubicBezTo>
                  <a:pt x="1984806" y="2899734"/>
                  <a:pt x="2055187" y="2901004"/>
                  <a:pt x="2128175" y="2901004"/>
                </a:cubicBezTo>
                <a:cubicBezTo>
                  <a:pt x="2235049" y="2901004"/>
                  <a:pt x="2344531" y="2901004"/>
                  <a:pt x="2451406" y="2901004"/>
                </a:cubicBezTo>
                <a:cubicBezTo>
                  <a:pt x="2550460" y="2901004"/>
                  <a:pt x="2649515" y="2902274"/>
                  <a:pt x="2748570" y="2903544"/>
                </a:cubicBezTo>
                <a:cubicBezTo>
                  <a:pt x="2792884" y="2903544"/>
                  <a:pt x="2839805" y="2904814"/>
                  <a:pt x="2884118" y="2904814"/>
                </a:cubicBezTo>
                <a:cubicBezTo>
                  <a:pt x="3027487" y="2903544"/>
                  <a:pt x="3168249" y="2897194"/>
                  <a:pt x="3305258" y="2897194"/>
                </a:cubicBezTo>
                <a:cubicBezTo>
                  <a:pt x="3309068" y="2897194"/>
                  <a:pt x="3314148" y="2894654"/>
                  <a:pt x="3317958" y="2892114"/>
                </a:cubicBezTo>
                <a:cubicBezTo>
                  <a:pt x="3323038" y="2888304"/>
                  <a:pt x="3325578" y="2881954"/>
                  <a:pt x="3328118" y="2879414"/>
                </a:cubicBezTo>
                <a:cubicBezTo>
                  <a:pt x="3329388" y="2812135"/>
                  <a:pt x="3330658" y="2718346"/>
                  <a:pt x="3331928" y="2624556"/>
                </a:cubicBezTo>
                <a:cubicBezTo>
                  <a:pt x="3333198" y="2479406"/>
                  <a:pt x="3343358" y="1085962"/>
                  <a:pt x="3344628" y="940811"/>
                </a:cubicBezTo>
                <a:cubicBezTo>
                  <a:pt x="3344628" y="853721"/>
                  <a:pt x="3345898" y="766631"/>
                  <a:pt x="3347168" y="679540"/>
                </a:cubicBezTo>
                <a:cubicBezTo>
                  <a:pt x="3348438" y="585751"/>
                  <a:pt x="3349708" y="491961"/>
                  <a:pt x="3352248" y="398172"/>
                </a:cubicBezTo>
                <a:cubicBezTo>
                  <a:pt x="3353518" y="342345"/>
                  <a:pt x="3353518" y="284285"/>
                  <a:pt x="3358598" y="228458"/>
                </a:cubicBezTo>
                <a:cubicBezTo>
                  <a:pt x="3363678" y="161465"/>
                  <a:pt x="3366218" y="96706"/>
                  <a:pt x="3364948" y="43744"/>
                </a:cubicBezTo>
                <a:cubicBezTo>
                  <a:pt x="3364948" y="37394"/>
                  <a:pt x="3361138" y="29774"/>
                  <a:pt x="3354788" y="27234"/>
                </a:cubicBezTo>
                <a:close/>
              </a:path>
            </a:pathLst>
          </a:custGeom>
          <a:solidFill>
            <a:srgbClr val="EAFA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Frequency</a:t>
            </a:r>
            <a:r>
              <a:rPr lang="en-US" sz="35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= how often hazards occur</a:t>
            </a:r>
            <a:br>
              <a:rPr lang="en-US" sz="35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35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Extent</a:t>
            </a:r>
            <a:r>
              <a:rPr lang="en-US" sz="35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= how widespread the hazard is</a:t>
            </a:r>
            <a:br>
              <a:rPr lang="en-US" sz="35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35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Severity</a:t>
            </a:r>
            <a:r>
              <a:rPr lang="en-US" sz="35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= how damaging the hazard is</a:t>
            </a:r>
            <a:endParaRPr sz="3500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69" name="Google Shape;1169;p89"/>
          <p:cNvSpPr/>
          <p:nvPr/>
        </p:nvSpPr>
        <p:spPr>
          <a:xfrm>
            <a:off x="10822280" y="3495760"/>
            <a:ext cx="5684137" cy="4376786"/>
          </a:xfrm>
          <a:custGeom>
            <a:avLst/>
            <a:gdLst/>
            <a:ahLst/>
            <a:cxnLst/>
            <a:rect l="l" t="t" r="r" b="b"/>
            <a:pathLst>
              <a:path w="5684137" h="4376786" extrusionOk="0">
                <a:moveTo>
                  <a:pt x="0" y="0"/>
                </a:moveTo>
                <a:lnTo>
                  <a:pt x="5684137" y="0"/>
                </a:lnTo>
                <a:lnTo>
                  <a:pt x="5684137" y="4376786"/>
                </a:lnTo>
                <a:lnTo>
                  <a:pt x="0" y="43767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0" name="Google Shape;1170;p89"/>
          <p:cNvSpPr/>
          <p:nvPr/>
        </p:nvSpPr>
        <p:spPr>
          <a:xfrm>
            <a:off x="15834155" y="409496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 extrusionOk="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1" name="Google Shape;1171;p89"/>
          <p:cNvSpPr txBox="1"/>
          <p:nvPr/>
        </p:nvSpPr>
        <p:spPr>
          <a:xfrm>
            <a:off x="1177525" y="1428671"/>
            <a:ext cx="6923400" cy="13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99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The what?</a:t>
            </a:r>
            <a:endParaRPr/>
          </a:p>
        </p:txBody>
      </p:sp>
      <p:sp>
        <p:nvSpPr>
          <p:cNvPr id="1172" name="Google Shape;1172;p89"/>
          <p:cNvSpPr txBox="1"/>
          <p:nvPr/>
        </p:nvSpPr>
        <p:spPr>
          <a:xfrm>
            <a:off x="1781583" y="3606522"/>
            <a:ext cx="5715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6277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C4ED"/>
        </a:solidFill>
        <a:effectLst/>
      </p:bgPr>
    </p:bg>
    <p:spTree>
      <p:nvGrpSpPr>
        <p:cNvPr id="1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90"/>
          <p:cNvSpPr/>
          <p:nvPr/>
        </p:nvSpPr>
        <p:spPr>
          <a:xfrm rot="-85926" flipH="1">
            <a:off x="3366781" y="2172845"/>
            <a:ext cx="2885600" cy="1842905"/>
          </a:xfrm>
          <a:custGeom>
            <a:avLst/>
            <a:gdLst/>
            <a:ahLst/>
            <a:cxnLst/>
            <a:rect l="l" t="t" r="r" b="b"/>
            <a:pathLst>
              <a:path w="2884699" h="1842329" extrusionOk="0">
                <a:moveTo>
                  <a:pt x="2884699" y="0"/>
                </a:moveTo>
                <a:lnTo>
                  <a:pt x="0" y="0"/>
                </a:lnTo>
                <a:lnTo>
                  <a:pt x="0" y="1842329"/>
                </a:lnTo>
                <a:lnTo>
                  <a:pt x="2884699" y="1842329"/>
                </a:lnTo>
                <a:lnTo>
                  <a:pt x="288469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408988" t="-337" r="-140488" b="-34900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8" name="Google Shape;1178;p90"/>
          <p:cNvSpPr txBox="1"/>
          <p:nvPr/>
        </p:nvSpPr>
        <p:spPr>
          <a:xfrm>
            <a:off x="1900052" y="303086"/>
            <a:ext cx="14487900" cy="13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99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Syllabus</a:t>
            </a:r>
            <a:endParaRPr/>
          </a:p>
        </p:txBody>
      </p:sp>
      <p:sp>
        <p:nvSpPr>
          <p:cNvPr id="1179" name="Google Shape;1179;p90"/>
          <p:cNvSpPr/>
          <p:nvPr/>
        </p:nvSpPr>
        <p:spPr>
          <a:xfrm>
            <a:off x="15634537" y="-307284"/>
            <a:ext cx="3249526" cy="1364801"/>
          </a:xfrm>
          <a:custGeom>
            <a:avLst/>
            <a:gdLst/>
            <a:ahLst/>
            <a:cxnLst/>
            <a:rect l="l" t="t" r="r" b="b"/>
            <a:pathLst>
              <a:path w="3249526" h="1364801" extrusionOk="0">
                <a:moveTo>
                  <a:pt x="0" y="0"/>
                </a:moveTo>
                <a:lnTo>
                  <a:pt x="3249526" y="0"/>
                </a:lnTo>
                <a:lnTo>
                  <a:pt x="3249526" y="1364801"/>
                </a:lnTo>
                <a:lnTo>
                  <a:pt x="0" y="13648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0" name="Google Shape;1180;p90"/>
          <p:cNvSpPr/>
          <p:nvPr/>
        </p:nvSpPr>
        <p:spPr>
          <a:xfrm rot="-85926" flipH="1">
            <a:off x="12139414" y="35772"/>
            <a:ext cx="2885600" cy="1842905"/>
          </a:xfrm>
          <a:custGeom>
            <a:avLst/>
            <a:gdLst/>
            <a:ahLst/>
            <a:cxnLst/>
            <a:rect l="l" t="t" r="r" b="b"/>
            <a:pathLst>
              <a:path w="2884699" h="1842329" extrusionOk="0">
                <a:moveTo>
                  <a:pt x="2884699" y="0"/>
                </a:moveTo>
                <a:lnTo>
                  <a:pt x="0" y="0"/>
                </a:lnTo>
                <a:lnTo>
                  <a:pt x="0" y="1842328"/>
                </a:lnTo>
                <a:lnTo>
                  <a:pt x="2884699" y="1842328"/>
                </a:lnTo>
                <a:lnTo>
                  <a:pt x="288469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408988" t="-337" r="-140488" b="-34900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1" name="Google Shape;1181;p90"/>
          <p:cNvSpPr/>
          <p:nvPr/>
        </p:nvSpPr>
        <p:spPr>
          <a:xfrm rot="-85926" flipH="1">
            <a:off x="16831592" y="1506867"/>
            <a:ext cx="2440147" cy="1558414"/>
          </a:xfrm>
          <a:custGeom>
            <a:avLst/>
            <a:gdLst/>
            <a:ahLst/>
            <a:cxnLst/>
            <a:rect l="l" t="t" r="r" b="b"/>
            <a:pathLst>
              <a:path w="2439385" h="1557927" extrusionOk="0">
                <a:moveTo>
                  <a:pt x="2439385" y="0"/>
                </a:moveTo>
                <a:lnTo>
                  <a:pt x="0" y="0"/>
                </a:lnTo>
                <a:lnTo>
                  <a:pt x="0" y="1557926"/>
                </a:lnTo>
                <a:lnTo>
                  <a:pt x="2439385" y="1557926"/>
                </a:lnTo>
                <a:lnTo>
                  <a:pt x="2439385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408988" t="-337" r="-140488" b="-34900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2" name="Google Shape;1182;p90"/>
          <p:cNvSpPr/>
          <p:nvPr/>
        </p:nvSpPr>
        <p:spPr>
          <a:xfrm rot="-85926" flipH="1">
            <a:off x="438790" y="35772"/>
            <a:ext cx="2885600" cy="1842905"/>
          </a:xfrm>
          <a:custGeom>
            <a:avLst/>
            <a:gdLst/>
            <a:ahLst/>
            <a:cxnLst/>
            <a:rect l="l" t="t" r="r" b="b"/>
            <a:pathLst>
              <a:path w="2884699" h="1842329" extrusionOk="0">
                <a:moveTo>
                  <a:pt x="2884699" y="0"/>
                </a:moveTo>
                <a:lnTo>
                  <a:pt x="0" y="0"/>
                </a:lnTo>
                <a:lnTo>
                  <a:pt x="0" y="1842328"/>
                </a:lnTo>
                <a:lnTo>
                  <a:pt x="2884699" y="1842328"/>
                </a:lnTo>
                <a:lnTo>
                  <a:pt x="288469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408988" t="-337" r="-140488" b="-34900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3" name="Google Shape;1183;p90"/>
          <p:cNvSpPr/>
          <p:nvPr/>
        </p:nvSpPr>
        <p:spPr>
          <a:xfrm>
            <a:off x="-2289596" y="6088199"/>
            <a:ext cx="3013491" cy="1265666"/>
          </a:xfrm>
          <a:custGeom>
            <a:avLst/>
            <a:gdLst/>
            <a:ahLst/>
            <a:cxnLst/>
            <a:rect l="l" t="t" r="r" b="b"/>
            <a:pathLst>
              <a:path w="3013491" h="1265666" extrusionOk="0">
                <a:moveTo>
                  <a:pt x="0" y="0"/>
                </a:moveTo>
                <a:lnTo>
                  <a:pt x="3013491" y="0"/>
                </a:lnTo>
                <a:lnTo>
                  <a:pt x="3013491" y="1265666"/>
                </a:lnTo>
                <a:lnTo>
                  <a:pt x="0" y="12656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4" name="Google Shape;1184;p90"/>
          <p:cNvSpPr/>
          <p:nvPr/>
        </p:nvSpPr>
        <p:spPr>
          <a:xfrm>
            <a:off x="1029375" y="1831925"/>
            <a:ext cx="16902079" cy="1067519"/>
          </a:xfrm>
          <a:custGeom>
            <a:avLst/>
            <a:gdLst/>
            <a:ahLst/>
            <a:cxnLst/>
            <a:rect l="l" t="t" r="r" b="b"/>
            <a:pathLst>
              <a:path w="3365272" h="2904814" extrusionOk="0">
                <a:moveTo>
                  <a:pt x="3354788" y="27234"/>
                </a:moveTo>
                <a:cubicBezTo>
                  <a:pt x="3345898" y="23424"/>
                  <a:pt x="3337008" y="20884"/>
                  <a:pt x="3328118" y="20884"/>
                </a:cubicBezTo>
                <a:cubicBezTo>
                  <a:pt x="3301448" y="19614"/>
                  <a:pt x="3251664" y="19614"/>
                  <a:pt x="3196923" y="17074"/>
                </a:cubicBezTo>
                <a:cubicBezTo>
                  <a:pt x="3071801" y="11994"/>
                  <a:pt x="2949286" y="5644"/>
                  <a:pt x="2824164" y="3104"/>
                </a:cubicBezTo>
                <a:cubicBezTo>
                  <a:pt x="2722503" y="564"/>
                  <a:pt x="2623448" y="3104"/>
                  <a:pt x="2521787" y="1834"/>
                </a:cubicBezTo>
                <a:cubicBezTo>
                  <a:pt x="2477473" y="1834"/>
                  <a:pt x="2433159" y="-706"/>
                  <a:pt x="2388845" y="1834"/>
                </a:cubicBezTo>
                <a:cubicBezTo>
                  <a:pt x="2281970" y="9454"/>
                  <a:pt x="2175096" y="10724"/>
                  <a:pt x="2065614" y="8184"/>
                </a:cubicBezTo>
                <a:cubicBezTo>
                  <a:pt x="2010873" y="6914"/>
                  <a:pt x="1956133" y="6914"/>
                  <a:pt x="1901392" y="6914"/>
                </a:cubicBezTo>
                <a:cubicBezTo>
                  <a:pt x="1802337" y="6914"/>
                  <a:pt x="1703282" y="6914"/>
                  <a:pt x="1604228" y="5644"/>
                </a:cubicBezTo>
                <a:cubicBezTo>
                  <a:pt x="1499960" y="4374"/>
                  <a:pt x="472919" y="1834"/>
                  <a:pt x="371258" y="564"/>
                </a:cubicBezTo>
                <a:cubicBezTo>
                  <a:pt x="287843" y="-706"/>
                  <a:pt x="207035" y="564"/>
                  <a:pt x="123621" y="564"/>
                </a:cubicBezTo>
                <a:cubicBezTo>
                  <a:pt x="66273" y="564"/>
                  <a:pt x="33020" y="3104"/>
                  <a:pt x="5080" y="4374"/>
                </a:cubicBezTo>
                <a:cubicBezTo>
                  <a:pt x="3810" y="4374"/>
                  <a:pt x="2540" y="6914"/>
                  <a:pt x="0" y="8184"/>
                </a:cubicBezTo>
                <a:cubicBezTo>
                  <a:pt x="1270" y="20884"/>
                  <a:pt x="3810" y="33584"/>
                  <a:pt x="5080" y="46284"/>
                </a:cubicBezTo>
                <a:cubicBezTo>
                  <a:pt x="15240" y="156999"/>
                  <a:pt x="16510" y="284285"/>
                  <a:pt x="17780" y="409337"/>
                </a:cubicBezTo>
                <a:cubicBezTo>
                  <a:pt x="19050" y="536623"/>
                  <a:pt x="17780" y="663909"/>
                  <a:pt x="16510" y="793428"/>
                </a:cubicBezTo>
                <a:cubicBezTo>
                  <a:pt x="15240" y="925180"/>
                  <a:pt x="2540" y="2307458"/>
                  <a:pt x="2540" y="2439210"/>
                </a:cubicBezTo>
                <a:cubicBezTo>
                  <a:pt x="2540" y="2568729"/>
                  <a:pt x="1270" y="2698248"/>
                  <a:pt x="0" y="2827767"/>
                </a:cubicBezTo>
                <a:cubicBezTo>
                  <a:pt x="0" y="2850204"/>
                  <a:pt x="3810" y="2860364"/>
                  <a:pt x="15240" y="2865444"/>
                </a:cubicBezTo>
                <a:cubicBezTo>
                  <a:pt x="22860" y="2869254"/>
                  <a:pt x="31750" y="2871794"/>
                  <a:pt x="40640" y="2873064"/>
                </a:cubicBezTo>
                <a:cubicBezTo>
                  <a:pt x="121014" y="2878144"/>
                  <a:pt x="220069" y="2881954"/>
                  <a:pt x="319123" y="2887034"/>
                </a:cubicBezTo>
                <a:cubicBezTo>
                  <a:pt x="373864" y="2889574"/>
                  <a:pt x="428605" y="2894654"/>
                  <a:pt x="483346" y="2895924"/>
                </a:cubicBezTo>
                <a:cubicBezTo>
                  <a:pt x="574580" y="2898464"/>
                  <a:pt x="1591194" y="2899734"/>
                  <a:pt x="1682429" y="2901004"/>
                </a:cubicBezTo>
                <a:cubicBezTo>
                  <a:pt x="1695462" y="2901004"/>
                  <a:pt x="1708496" y="2901004"/>
                  <a:pt x="1721529" y="2901004"/>
                </a:cubicBezTo>
                <a:cubicBezTo>
                  <a:pt x="1784090" y="2901004"/>
                  <a:pt x="1849258" y="2899734"/>
                  <a:pt x="1911818" y="2899734"/>
                </a:cubicBezTo>
                <a:cubicBezTo>
                  <a:pt x="1984806" y="2899734"/>
                  <a:pt x="2055187" y="2901004"/>
                  <a:pt x="2128175" y="2901004"/>
                </a:cubicBezTo>
                <a:cubicBezTo>
                  <a:pt x="2235049" y="2901004"/>
                  <a:pt x="2344531" y="2901004"/>
                  <a:pt x="2451406" y="2901004"/>
                </a:cubicBezTo>
                <a:cubicBezTo>
                  <a:pt x="2550460" y="2901004"/>
                  <a:pt x="2649515" y="2902274"/>
                  <a:pt x="2748570" y="2903544"/>
                </a:cubicBezTo>
                <a:cubicBezTo>
                  <a:pt x="2792884" y="2903544"/>
                  <a:pt x="2839805" y="2904814"/>
                  <a:pt x="2884118" y="2904814"/>
                </a:cubicBezTo>
                <a:cubicBezTo>
                  <a:pt x="3027487" y="2903544"/>
                  <a:pt x="3168249" y="2897194"/>
                  <a:pt x="3305258" y="2897194"/>
                </a:cubicBezTo>
                <a:cubicBezTo>
                  <a:pt x="3309068" y="2897194"/>
                  <a:pt x="3314148" y="2894654"/>
                  <a:pt x="3317958" y="2892114"/>
                </a:cubicBezTo>
                <a:cubicBezTo>
                  <a:pt x="3323038" y="2888304"/>
                  <a:pt x="3325578" y="2881954"/>
                  <a:pt x="3328118" y="2879414"/>
                </a:cubicBezTo>
                <a:cubicBezTo>
                  <a:pt x="3329388" y="2812135"/>
                  <a:pt x="3330658" y="2718346"/>
                  <a:pt x="3331928" y="2624556"/>
                </a:cubicBezTo>
                <a:cubicBezTo>
                  <a:pt x="3333198" y="2479406"/>
                  <a:pt x="3343358" y="1085962"/>
                  <a:pt x="3344628" y="940811"/>
                </a:cubicBezTo>
                <a:cubicBezTo>
                  <a:pt x="3344628" y="853721"/>
                  <a:pt x="3345898" y="766631"/>
                  <a:pt x="3347168" y="679540"/>
                </a:cubicBezTo>
                <a:cubicBezTo>
                  <a:pt x="3348438" y="585751"/>
                  <a:pt x="3349708" y="491961"/>
                  <a:pt x="3352248" y="398172"/>
                </a:cubicBezTo>
                <a:cubicBezTo>
                  <a:pt x="3353518" y="342345"/>
                  <a:pt x="3353518" y="284285"/>
                  <a:pt x="3358598" y="228458"/>
                </a:cubicBezTo>
                <a:cubicBezTo>
                  <a:pt x="3363678" y="161465"/>
                  <a:pt x="3366218" y="96706"/>
                  <a:pt x="3364948" y="43744"/>
                </a:cubicBezTo>
                <a:cubicBezTo>
                  <a:pt x="3364948" y="37394"/>
                  <a:pt x="3361138" y="29774"/>
                  <a:pt x="3354788" y="27234"/>
                </a:cubicBezTo>
                <a:close/>
              </a:path>
            </a:pathLst>
          </a:custGeom>
          <a:solidFill>
            <a:srgbClr val="EAFA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Are the following examples of frequency, extent or severity?</a:t>
            </a:r>
            <a:endParaRPr sz="35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85" name="Google Shape;1185;p90"/>
          <p:cNvSpPr/>
          <p:nvPr/>
        </p:nvSpPr>
        <p:spPr>
          <a:xfrm>
            <a:off x="1693325" y="3675300"/>
            <a:ext cx="4191000" cy="2412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latin typeface="Nunito"/>
                <a:ea typeface="Nunito"/>
                <a:cs typeface="Nunito"/>
                <a:sym typeface="Nunito"/>
              </a:rPr>
              <a:t>Tropical cyclones are forming more often during the cyclone season.</a:t>
            </a:r>
            <a:endParaRPr sz="35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86" name="Google Shape;1186;p90"/>
          <p:cNvSpPr/>
          <p:nvPr/>
        </p:nvSpPr>
        <p:spPr>
          <a:xfrm>
            <a:off x="6756400" y="3675300"/>
            <a:ext cx="4191000" cy="2589900"/>
          </a:xfrm>
          <a:prstGeom prst="roundRect">
            <a:avLst>
              <a:gd name="adj" fmla="val 16667"/>
            </a:avLst>
          </a:prstGeom>
          <a:solidFill>
            <a:srgbClr val="EAFA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latin typeface="Nunito"/>
                <a:ea typeface="Nunito"/>
                <a:cs typeface="Nunito"/>
                <a:sym typeface="Nunito"/>
              </a:rPr>
              <a:t>Flooding from a cyclone affects multiple states and large river catchments</a:t>
            </a:r>
            <a:endParaRPr sz="35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87" name="Google Shape;1187;p90"/>
          <p:cNvSpPr/>
          <p:nvPr/>
        </p:nvSpPr>
        <p:spPr>
          <a:xfrm>
            <a:off x="11428850" y="3586800"/>
            <a:ext cx="4191000" cy="25899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latin typeface="Nunito"/>
                <a:ea typeface="Nunito"/>
                <a:cs typeface="Nunito"/>
                <a:sym typeface="Nunito"/>
              </a:rPr>
              <a:t>A cyclone causes stronger winds, heavier rainfall and greater damage to homes.</a:t>
            </a:r>
            <a:endParaRPr sz="35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88" name="Google Shape;1188;p90"/>
          <p:cNvSpPr/>
          <p:nvPr/>
        </p:nvSpPr>
        <p:spPr>
          <a:xfrm>
            <a:off x="1569400" y="6956525"/>
            <a:ext cx="4191000" cy="258990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latin typeface="Nunito"/>
                <a:ea typeface="Nunito"/>
                <a:cs typeface="Nunito"/>
                <a:sym typeface="Nunito"/>
              </a:rPr>
              <a:t>Storm surge flooding reaches further inland than in previous events.</a:t>
            </a:r>
            <a:endParaRPr sz="35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89" name="Google Shape;1189;p90"/>
          <p:cNvSpPr/>
          <p:nvPr/>
        </p:nvSpPr>
        <p:spPr>
          <a:xfrm>
            <a:off x="6756400" y="7041050"/>
            <a:ext cx="4191000" cy="25899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latin typeface="Nunito"/>
                <a:ea typeface="Nunito"/>
                <a:cs typeface="Nunito"/>
                <a:sym typeface="Nunito"/>
              </a:rPr>
              <a:t>Cyclones are reaching higher categories more quickly before landfall.</a:t>
            </a:r>
            <a:endParaRPr sz="35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90" name="Google Shape;1190;p90"/>
          <p:cNvSpPr/>
          <p:nvPr/>
        </p:nvSpPr>
        <p:spPr>
          <a:xfrm>
            <a:off x="11632050" y="7041050"/>
            <a:ext cx="4191000" cy="2589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latin typeface="Nunito"/>
                <a:ea typeface="Nunito"/>
                <a:cs typeface="Nunito"/>
                <a:sym typeface="Nunito"/>
              </a:rPr>
              <a:t>A region experiences tropical cyclones almost every year.</a:t>
            </a:r>
            <a:endParaRPr sz="35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C4ED"/>
        </a:solidFill>
        <a:effectLst/>
      </p:bgPr>
    </p:bg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91"/>
          <p:cNvSpPr/>
          <p:nvPr/>
        </p:nvSpPr>
        <p:spPr>
          <a:xfrm>
            <a:off x="1092850" y="2466896"/>
            <a:ext cx="10255666" cy="6855361"/>
          </a:xfrm>
          <a:custGeom>
            <a:avLst/>
            <a:gdLst/>
            <a:ahLst/>
            <a:cxnLst/>
            <a:rect l="l" t="t" r="r" b="b"/>
            <a:pathLst>
              <a:path w="3365272" h="2904814" extrusionOk="0">
                <a:moveTo>
                  <a:pt x="3354788" y="27234"/>
                </a:moveTo>
                <a:cubicBezTo>
                  <a:pt x="3345898" y="23424"/>
                  <a:pt x="3337008" y="20884"/>
                  <a:pt x="3328118" y="20884"/>
                </a:cubicBezTo>
                <a:cubicBezTo>
                  <a:pt x="3301448" y="19614"/>
                  <a:pt x="3251664" y="19614"/>
                  <a:pt x="3196923" y="17074"/>
                </a:cubicBezTo>
                <a:cubicBezTo>
                  <a:pt x="3071801" y="11994"/>
                  <a:pt x="2949286" y="5644"/>
                  <a:pt x="2824164" y="3104"/>
                </a:cubicBezTo>
                <a:cubicBezTo>
                  <a:pt x="2722503" y="564"/>
                  <a:pt x="2623448" y="3104"/>
                  <a:pt x="2521787" y="1834"/>
                </a:cubicBezTo>
                <a:cubicBezTo>
                  <a:pt x="2477473" y="1834"/>
                  <a:pt x="2433159" y="-706"/>
                  <a:pt x="2388845" y="1834"/>
                </a:cubicBezTo>
                <a:cubicBezTo>
                  <a:pt x="2281970" y="9454"/>
                  <a:pt x="2175096" y="10724"/>
                  <a:pt x="2065614" y="8184"/>
                </a:cubicBezTo>
                <a:cubicBezTo>
                  <a:pt x="2010873" y="6914"/>
                  <a:pt x="1956133" y="6914"/>
                  <a:pt x="1901392" y="6914"/>
                </a:cubicBezTo>
                <a:cubicBezTo>
                  <a:pt x="1802337" y="6914"/>
                  <a:pt x="1703282" y="6914"/>
                  <a:pt x="1604228" y="5644"/>
                </a:cubicBezTo>
                <a:cubicBezTo>
                  <a:pt x="1499960" y="4374"/>
                  <a:pt x="472919" y="1834"/>
                  <a:pt x="371258" y="564"/>
                </a:cubicBezTo>
                <a:cubicBezTo>
                  <a:pt x="287843" y="-706"/>
                  <a:pt x="207035" y="564"/>
                  <a:pt x="123621" y="564"/>
                </a:cubicBezTo>
                <a:cubicBezTo>
                  <a:pt x="66273" y="564"/>
                  <a:pt x="33020" y="3104"/>
                  <a:pt x="5080" y="4374"/>
                </a:cubicBezTo>
                <a:cubicBezTo>
                  <a:pt x="3810" y="4374"/>
                  <a:pt x="2540" y="6914"/>
                  <a:pt x="0" y="8184"/>
                </a:cubicBezTo>
                <a:cubicBezTo>
                  <a:pt x="1270" y="20884"/>
                  <a:pt x="3810" y="33584"/>
                  <a:pt x="5080" y="46284"/>
                </a:cubicBezTo>
                <a:cubicBezTo>
                  <a:pt x="15240" y="156999"/>
                  <a:pt x="16510" y="284285"/>
                  <a:pt x="17780" y="409337"/>
                </a:cubicBezTo>
                <a:cubicBezTo>
                  <a:pt x="19050" y="536623"/>
                  <a:pt x="17780" y="663909"/>
                  <a:pt x="16510" y="793428"/>
                </a:cubicBezTo>
                <a:cubicBezTo>
                  <a:pt x="15240" y="925180"/>
                  <a:pt x="2540" y="2307458"/>
                  <a:pt x="2540" y="2439210"/>
                </a:cubicBezTo>
                <a:cubicBezTo>
                  <a:pt x="2540" y="2568729"/>
                  <a:pt x="1270" y="2698248"/>
                  <a:pt x="0" y="2827767"/>
                </a:cubicBezTo>
                <a:cubicBezTo>
                  <a:pt x="0" y="2850204"/>
                  <a:pt x="3810" y="2860364"/>
                  <a:pt x="15240" y="2865444"/>
                </a:cubicBezTo>
                <a:cubicBezTo>
                  <a:pt x="22860" y="2869254"/>
                  <a:pt x="31750" y="2871794"/>
                  <a:pt x="40640" y="2873064"/>
                </a:cubicBezTo>
                <a:cubicBezTo>
                  <a:pt x="121014" y="2878144"/>
                  <a:pt x="220069" y="2881954"/>
                  <a:pt x="319123" y="2887034"/>
                </a:cubicBezTo>
                <a:cubicBezTo>
                  <a:pt x="373864" y="2889574"/>
                  <a:pt x="428605" y="2894654"/>
                  <a:pt x="483346" y="2895924"/>
                </a:cubicBezTo>
                <a:cubicBezTo>
                  <a:pt x="574580" y="2898464"/>
                  <a:pt x="1591194" y="2899734"/>
                  <a:pt x="1682429" y="2901004"/>
                </a:cubicBezTo>
                <a:cubicBezTo>
                  <a:pt x="1695462" y="2901004"/>
                  <a:pt x="1708496" y="2901004"/>
                  <a:pt x="1721529" y="2901004"/>
                </a:cubicBezTo>
                <a:cubicBezTo>
                  <a:pt x="1784090" y="2901004"/>
                  <a:pt x="1849258" y="2899734"/>
                  <a:pt x="1911818" y="2899734"/>
                </a:cubicBezTo>
                <a:cubicBezTo>
                  <a:pt x="1984806" y="2899734"/>
                  <a:pt x="2055187" y="2901004"/>
                  <a:pt x="2128175" y="2901004"/>
                </a:cubicBezTo>
                <a:cubicBezTo>
                  <a:pt x="2235049" y="2901004"/>
                  <a:pt x="2344531" y="2901004"/>
                  <a:pt x="2451406" y="2901004"/>
                </a:cubicBezTo>
                <a:cubicBezTo>
                  <a:pt x="2550460" y="2901004"/>
                  <a:pt x="2649515" y="2902274"/>
                  <a:pt x="2748570" y="2903544"/>
                </a:cubicBezTo>
                <a:cubicBezTo>
                  <a:pt x="2792884" y="2903544"/>
                  <a:pt x="2839805" y="2904814"/>
                  <a:pt x="2884118" y="2904814"/>
                </a:cubicBezTo>
                <a:cubicBezTo>
                  <a:pt x="3027487" y="2903544"/>
                  <a:pt x="3168249" y="2897194"/>
                  <a:pt x="3305258" y="2897194"/>
                </a:cubicBezTo>
                <a:cubicBezTo>
                  <a:pt x="3309068" y="2897194"/>
                  <a:pt x="3314148" y="2894654"/>
                  <a:pt x="3317958" y="2892114"/>
                </a:cubicBezTo>
                <a:cubicBezTo>
                  <a:pt x="3323038" y="2888304"/>
                  <a:pt x="3325578" y="2881954"/>
                  <a:pt x="3328118" y="2879414"/>
                </a:cubicBezTo>
                <a:cubicBezTo>
                  <a:pt x="3329388" y="2812135"/>
                  <a:pt x="3330658" y="2718346"/>
                  <a:pt x="3331928" y="2624556"/>
                </a:cubicBezTo>
                <a:cubicBezTo>
                  <a:pt x="3333198" y="2479406"/>
                  <a:pt x="3343358" y="1085962"/>
                  <a:pt x="3344628" y="940811"/>
                </a:cubicBezTo>
                <a:cubicBezTo>
                  <a:pt x="3344628" y="853721"/>
                  <a:pt x="3345898" y="766631"/>
                  <a:pt x="3347168" y="679540"/>
                </a:cubicBezTo>
                <a:cubicBezTo>
                  <a:pt x="3348438" y="585751"/>
                  <a:pt x="3349708" y="491961"/>
                  <a:pt x="3352248" y="398172"/>
                </a:cubicBezTo>
                <a:cubicBezTo>
                  <a:pt x="3353518" y="342345"/>
                  <a:pt x="3353518" y="284285"/>
                  <a:pt x="3358598" y="228458"/>
                </a:cubicBezTo>
                <a:cubicBezTo>
                  <a:pt x="3363678" y="161465"/>
                  <a:pt x="3366218" y="96706"/>
                  <a:pt x="3364948" y="43744"/>
                </a:cubicBezTo>
                <a:cubicBezTo>
                  <a:pt x="3364948" y="37394"/>
                  <a:pt x="3361138" y="29774"/>
                  <a:pt x="3354788" y="27234"/>
                </a:cubicBezTo>
                <a:close/>
              </a:path>
            </a:pathLst>
          </a:custGeom>
          <a:solidFill>
            <a:srgbClr val="EAFA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Natural factors such as climate patterns, ocean temperatures, topography and location affect how often hazards occur and where they happen.</a:t>
            </a:r>
            <a:endParaRPr sz="38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Human-induced factors such as climate change, urbanisation and land-use change can increase the extent and severity of hazards by making them more intense and exposing more people and infrastructure to harm.</a:t>
            </a:r>
            <a:endParaRPr sz="3800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96" name="Google Shape;1196;p91"/>
          <p:cNvSpPr/>
          <p:nvPr/>
        </p:nvSpPr>
        <p:spPr>
          <a:xfrm>
            <a:off x="12207418" y="4472018"/>
            <a:ext cx="5684137" cy="4376786"/>
          </a:xfrm>
          <a:custGeom>
            <a:avLst/>
            <a:gdLst/>
            <a:ahLst/>
            <a:cxnLst/>
            <a:rect l="l" t="t" r="r" b="b"/>
            <a:pathLst>
              <a:path w="5684137" h="4376786" extrusionOk="0">
                <a:moveTo>
                  <a:pt x="0" y="0"/>
                </a:moveTo>
                <a:lnTo>
                  <a:pt x="5684137" y="0"/>
                </a:lnTo>
                <a:lnTo>
                  <a:pt x="5684137" y="4376786"/>
                </a:lnTo>
                <a:lnTo>
                  <a:pt x="0" y="43767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7" name="Google Shape;1197;p91"/>
          <p:cNvSpPr/>
          <p:nvPr/>
        </p:nvSpPr>
        <p:spPr>
          <a:xfrm>
            <a:off x="15834155" y="409496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 extrusionOk="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8" name="Google Shape;1198;p91"/>
          <p:cNvSpPr txBox="1"/>
          <p:nvPr/>
        </p:nvSpPr>
        <p:spPr>
          <a:xfrm>
            <a:off x="1092850" y="679569"/>
            <a:ext cx="16296792" cy="156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9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Factors impacting cyclones</a:t>
            </a:r>
            <a:endParaRPr dirty="0"/>
          </a:p>
        </p:txBody>
      </p:sp>
      <p:sp>
        <p:nvSpPr>
          <p:cNvPr id="1199" name="Google Shape;1199;p91"/>
          <p:cNvSpPr txBox="1"/>
          <p:nvPr/>
        </p:nvSpPr>
        <p:spPr>
          <a:xfrm>
            <a:off x="1781583" y="3606522"/>
            <a:ext cx="5715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6277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4707</Words>
  <Application>Microsoft Macintosh PowerPoint</Application>
  <PresentationFormat>Custom</PresentationFormat>
  <Paragraphs>427</Paragraphs>
  <Slides>81</Slides>
  <Notes>81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90" baseType="lpstr">
      <vt:lpstr>Impact</vt:lpstr>
      <vt:lpstr>Yeseva One</vt:lpstr>
      <vt:lpstr>Arial</vt:lpstr>
      <vt:lpstr>Calibri</vt:lpstr>
      <vt:lpstr>Nunito Sans</vt:lpstr>
      <vt:lpstr>Poppins</vt:lpstr>
      <vt:lpstr>Nunito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Lorraine Chaffer</cp:lastModifiedBy>
  <cp:revision>6</cp:revision>
  <dcterms:modified xsi:type="dcterms:W3CDTF">2026-02-10T12:40:39Z</dcterms:modified>
</cp:coreProperties>
</file>